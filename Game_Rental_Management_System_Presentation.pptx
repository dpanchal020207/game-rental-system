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0" r:id="rId7"/>
    <p:sldId id="270" r:id="rId8"/>
    <p:sldId id="271" r:id="rId9"/>
    <p:sldId id="261" r:id="rId10"/>
    <p:sldId id="272" r:id="rId11"/>
    <p:sldId id="269"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854"/>
    <a:srgbClr val="2A2A2A"/>
    <a:srgbClr val="F3F5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9" d="100"/>
          <a:sy n="89" d="100"/>
        </p:scale>
        <p:origin x="619"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1ED1-F632-4210-90C6-A382D11BFF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9093F6-2451-4A5E-8895-4EC3E060B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84393E-9DA6-4572-AB0D-E821272D17CA}"/>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0F907304-0BB5-4E3E-B418-E1A8AC6611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9EA841-FB26-4EE4-8C2D-C085CFBF374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989375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9A3E4-026B-4CB1-A380-37F3420FB0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AEDC08-5A3B-4AB4-A062-E74C421A2D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60A18A-65B7-452F-A738-E77A084F9A19}"/>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79B243E1-5458-46D9-A67B-A780637E5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BE068-D658-4B4C-A17E-686A9B3CB4B2}"/>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398242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B299-031F-48A8-BCAF-43A16B600F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B18115-7635-4859-89AD-1CD1191A5E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5CBD2AD-50EF-4EAE-B9A9-0CC081A615FC}"/>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C14955E0-A798-4D66-B6B5-B47E57DFDF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BA5E6C-A0BC-4228-8587-85C28392731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68080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8030D-A634-4E14-B537-6C2DDF9C8B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A6739A-C3B5-4B85-A919-A7CD6BBD3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B92946-D213-4049-8922-9AA72ED78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82176B-D7C6-4CCA-8566-55052FB9534B}"/>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6" name="Footer Placeholder 5">
            <a:extLst>
              <a:ext uri="{FF2B5EF4-FFF2-40B4-BE49-F238E27FC236}">
                <a16:creationId xmlns:a16="http://schemas.microsoft.com/office/drawing/2014/main" id="{F2B12D38-CBC9-4791-A7E9-D4C7B4AE03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DDA2C7-3DB6-4C7C-AC1D-75F03A8291DC}"/>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110897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EF71C-C053-4A0C-83AE-58D0FC892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BD2367-03F2-4597-8A19-F933044CB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1BEE887-91FF-42A7-A811-4D714E72C26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8C855A-5380-4709-8552-A43784B1F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50D7BD-723B-4B9D-8B77-7B53A98FB66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4905CA-4923-4694-BBEA-6B3F983DBCC6}"/>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8" name="Footer Placeholder 7">
            <a:extLst>
              <a:ext uri="{FF2B5EF4-FFF2-40B4-BE49-F238E27FC236}">
                <a16:creationId xmlns:a16="http://schemas.microsoft.com/office/drawing/2014/main" id="{6F56430E-C4D3-4F74-A745-D2D0E2DE1F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F6AC7A-415C-4B81-ADFB-77F905E68AB1}"/>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32501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A675-43E4-45A8-A342-E9FFE7DC2B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F83D32-E0A5-486B-A709-8FC6D15E204D}"/>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4" name="Footer Placeholder 3">
            <a:extLst>
              <a:ext uri="{FF2B5EF4-FFF2-40B4-BE49-F238E27FC236}">
                <a16:creationId xmlns:a16="http://schemas.microsoft.com/office/drawing/2014/main" id="{FF531AD2-CD2C-40B2-90DE-D8D6E32394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64FA05-660C-4A55-99C4-2C4DED8BD410}"/>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260344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E30C2D-5DC3-481B-B69C-59A0C136728E}"/>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3" name="Footer Placeholder 2">
            <a:extLst>
              <a:ext uri="{FF2B5EF4-FFF2-40B4-BE49-F238E27FC236}">
                <a16:creationId xmlns:a16="http://schemas.microsoft.com/office/drawing/2014/main" id="{B7FD4A22-48C6-4820-946E-4304DE2ABE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40AF28-0D46-4B18-A061-8FD2143E0735}"/>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44864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F69F8-1412-4128-9880-8AC184057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A33F12-F6A7-48F9-BC16-BC84B3C37D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37F5EA-44B0-4529-8817-68EC7BDAF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C7AF3-A07E-4903-9CA1-5088E7C03C6A}"/>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6" name="Footer Placeholder 5">
            <a:extLst>
              <a:ext uri="{FF2B5EF4-FFF2-40B4-BE49-F238E27FC236}">
                <a16:creationId xmlns:a16="http://schemas.microsoft.com/office/drawing/2014/main" id="{30E8EB96-1803-4AF6-BCBC-E7760E444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692959-7321-4CEF-803F-AEE3C145689A}"/>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84608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01A5-5015-48FA-BAB2-405C704A1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690792-E833-4345-BA65-DC2EB40042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6F9430-3C15-44D8-BC73-9A6363071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42B8691-D324-423E-8FA7-C097CB881996}"/>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6" name="Footer Placeholder 5">
            <a:extLst>
              <a:ext uri="{FF2B5EF4-FFF2-40B4-BE49-F238E27FC236}">
                <a16:creationId xmlns:a16="http://schemas.microsoft.com/office/drawing/2014/main" id="{F97D87CB-27CD-4D3C-8662-A94904AC6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8D1F8-614C-48DB-82A4-96F9D08E5F7F}"/>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3018717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9A92-0D5F-4D2F-9669-22AEAA58C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EF57B0-0EB1-4D5F-99A5-1999DCA22A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CDCC9-5FB0-4470-9912-E22BD6D12F79}"/>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0481787A-C33F-4015-B4D3-33037DCD6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DA280-8F94-40B8-97AB-69CC827DEAD4}"/>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6391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056087-D90A-450B-966B-CDEF83E20D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99D8E4-050E-4605-BBF9-4B8DCF5AE2E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7EB7F-A42F-44D4-A516-FDEE43C5DBDF}"/>
              </a:ext>
            </a:extLst>
          </p:cNvPr>
          <p:cNvSpPr>
            <a:spLocks noGrp="1"/>
          </p:cNvSpPr>
          <p:nvPr>
            <p:ph type="dt" sz="half" idx="10"/>
          </p:nvPr>
        </p:nvSpPr>
        <p:spPr/>
        <p:txBody>
          <a:body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6671F178-0123-4A2C-9AC6-F63343EDA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16EE3-85D5-4F9B-98E6-8E5CD6EE5667}"/>
              </a:ext>
            </a:extLst>
          </p:cNvPr>
          <p:cNvSpPr>
            <a:spLocks noGrp="1"/>
          </p:cNvSpPr>
          <p:nvPr>
            <p:ph type="sldNum" sz="quarter" idx="12"/>
          </p:nvPr>
        </p:nvSpPr>
        <p:spPr/>
        <p:txBody>
          <a:bodyPr/>
          <a:lstStyle/>
          <a:p>
            <a:fld id="{79AE4098-16CC-460A-B51F-6F7D058EC8B6}" type="slidenum">
              <a:rPr lang="en-US" smtClean="0"/>
              <a:t>‹#›</a:t>
            </a:fld>
            <a:endParaRPr lang="en-US"/>
          </a:p>
        </p:txBody>
      </p:sp>
    </p:spTree>
    <p:extLst>
      <p:ext uri="{BB962C8B-B14F-4D97-AF65-F5344CB8AC3E}">
        <p14:creationId xmlns:p14="http://schemas.microsoft.com/office/powerpoint/2010/main" val="174930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78EF5-8928-4823-BA5A-A1110E7A2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AF5535-4259-4BD8-814D-F5D682DBE4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896544-3DC1-4721-AB17-5F8723350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6AFD8A-A5CD-4C67-A3FF-50AE2C37EBEF}" type="datetimeFigureOut">
              <a:rPr lang="en-US" smtClean="0"/>
              <a:t>10/29/2026</a:t>
            </a:fld>
            <a:endParaRPr lang="en-US"/>
          </a:p>
        </p:txBody>
      </p:sp>
      <p:sp>
        <p:nvSpPr>
          <p:cNvPr id="5" name="Footer Placeholder 4">
            <a:extLst>
              <a:ext uri="{FF2B5EF4-FFF2-40B4-BE49-F238E27FC236}">
                <a16:creationId xmlns:a16="http://schemas.microsoft.com/office/drawing/2014/main" id="{11537754-F83D-4798-AD12-B1FAEB0D1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0A5702A-3CD9-490B-9437-A5FEA37A7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E4098-16CC-460A-B51F-6F7D058EC8B6}" type="slidenum">
              <a:rPr lang="en-US" smtClean="0"/>
              <a:t>‹#›</a:t>
            </a:fld>
            <a:endParaRPr lang="en-US"/>
          </a:p>
        </p:txBody>
      </p:sp>
    </p:spTree>
    <p:extLst>
      <p:ext uri="{BB962C8B-B14F-4D97-AF65-F5344CB8AC3E}">
        <p14:creationId xmlns:p14="http://schemas.microsoft.com/office/powerpoint/2010/main" val="2889746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34EC-BC2E-429F-889E-ACBDBD3A948C}"/>
              </a:ext>
            </a:extLst>
          </p:cNvPr>
          <p:cNvSpPr>
            <a:spLocks noGrp="1"/>
          </p:cNvSpPr>
          <p:nvPr>
            <p:ph type="ctrTitle"/>
          </p:nvPr>
        </p:nvSpPr>
        <p:spPr/>
        <p:txBody>
          <a:bodyPr>
            <a:normAutofit fontScale="90000"/>
          </a:bodyPr>
          <a:lstStyle/>
          <a:p>
            <a:r>
              <a:rPr lang="en-US" sz="2400" dirty="0">
                <a:latin typeface="Cambria" panose="02040503050406030204" pitchFamily="18" charset="0"/>
                <a:ea typeface="Cambria" panose="02040503050406030204" pitchFamily="18" charset="0"/>
              </a:rPr>
              <a:t>5</a:t>
            </a:r>
            <a:r>
              <a:rPr lang="en-US" sz="2400" baseline="30000" dirty="0">
                <a:latin typeface="Cambria" panose="02040503050406030204" pitchFamily="18" charset="0"/>
                <a:ea typeface="Cambria" panose="02040503050406030204" pitchFamily="18" charset="0"/>
              </a:rPr>
              <a:t>th</a:t>
            </a:r>
            <a:r>
              <a:rPr lang="en-US" sz="2400" dirty="0">
                <a:latin typeface="Cambria" panose="02040503050406030204" pitchFamily="18" charset="0"/>
                <a:ea typeface="Cambria" panose="02040503050406030204" pitchFamily="18" charset="0"/>
              </a:rPr>
              <a:t> Semester</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Project Presentation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On </a:t>
            </a:r>
            <a:br>
              <a:rPr lang="en-US" sz="2800"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Game Rental Management System (ONYXPLAY)</a:t>
            </a:r>
          </a:p>
        </p:txBody>
      </p:sp>
      <p:sp>
        <p:nvSpPr>
          <p:cNvPr id="3" name="Subtitle 2">
            <a:extLst>
              <a:ext uri="{FF2B5EF4-FFF2-40B4-BE49-F238E27FC236}">
                <a16:creationId xmlns:a16="http://schemas.microsoft.com/office/drawing/2014/main" id="{024207B4-D25D-4CDF-B804-FD46CAF2AB7A}"/>
              </a:ext>
            </a:extLst>
          </p:cNvPr>
          <p:cNvSpPr>
            <a:spLocks noGrp="1"/>
          </p:cNvSpPr>
          <p:nvPr>
            <p:ph type="subTitle" idx="1"/>
          </p:nvPr>
        </p:nvSpPr>
        <p:spPr>
          <a:xfrm>
            <a:off x="1524000" y="4298467"/>
            <a:ext cx="10204174" cy="2133600"/>
          </a:xfrm>
        </p:spPr>
        <p:txBody>
          <a:bodyPr>
            <a:normAutofit fontScale="92500" lnSpcReduction="10000"/>
          </a:bodyPr>
          <a:lstStyle/>
          <a:p>
            <a:pPr algn="l"/>
            <a:r>
              <a:rPr lang="en-US" sz="2000" b="1" dirty="0"/>
              <a:t>Group Number</a:t>
            </a:r>
            <a:r>
              <a:rPr lang="en-US" sz="2000" dirty="0"/>
              <a:t>: 05</a:t>
            </a:r>
          </a:p>
          <a:p>
            <a:pPr algn="l"/>
            <a:r>
              <a:rPr lang="en-US" sz="2000" b="1" dirty="0"/>
              <a:t>Group Members</a:t>
            </a:r>
            <a:r>
              <a:rPr lang="en-US" sz="2000" dirty="0"/>
              <a:t>:</a:t>
            </a:r>
          </a:p>
          <a:p>
            <a:pPr algn="l"/>
            <a:r>
              <a:rPr lang="en-US" sz="2000" dirty="0"/>
              <a:t>1. Panchal Dhruvin Dipakkumar (202407100110014)</a:t>
            </a:r>
          </a:p>
          <a:p>
            <a:pPr algn="l"/>
            <a:r>
              <a:rPr lang="en-US" sz="2000" dirty="0"/>
              <a:t>2. Manjarawala Dhruv Mayankbhai (202407100110020)</a:t>
            </a:r>
          </a:p>
          <a:p>
            <a:pPr algn="l"/>
            <a:r>
              <a:rPr lang="en-US" sz="2000" dirty="0"/>
              <a:t>3. Rana Prem Vikram (202407100110039)</a:t>
            </a:r>
          </a:p>
          <a:p>
            <a:pPr algn="l"/>
            <a:r>
              <a:rPr lang="en-US" sz="2000" b="1" dirty="0"/>
              <a:t>Guide Name </a:t>
            </a:r>
            <a:r>
              <a:rPr lang="en-US" sz="2000" dirty="0"/>
              <a:t>: Dr. Sapan Naik</a:t>
            </a:r>
          </a:p>
        </p:txBody>
      </p:sp>
      <p:pic>
        <p:nvPicPr>
          <p:cNvPr id="5" name="Picture 4">
            <a:extLst>
              <a:ext uri="{FF2B5EF4-FFF2-40B4-BE49-F238E27FC236}">
                <a16:creationId xmlns:a16="http://schemas.microsoft.com/office/drawing/2014/main" id="{26E40516-509F-4FD1-94F1-BE0ECBBD9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266700"/>
            <a:ext cx="3200400" cy="2133600"/>
          </a:xfrm>
          <a:prstGeom prst="rect">
            <a:avLst/>
          </a:prstGeom>
        </p:spPr>
      </p:pic>
      <p:pic>
        <p:nvPicPr>
          <p:cNvPr id="7" name="Picture 6">
            <a:extLst>
              <a:ext uri="{FF2B5EF4-FFF2-40B4-BE49-F238E27FC236}">
                <a16:creationId xmlns:a16="http://schemas.microsoft.com/office/drawing/2014/main" id="{16E7CBE6-055E-4B12-926A-354FDDD8D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8" name="TextBox 7">
            <a:extLst>
              <a:ext uri="{FF2B5EF4-FFF2-40B4-BE49-F238E27FC236}">
                <a16:creationId xmlns:a16="http://schemas.microsoft.com/office/drawing/2014/main" id="{A7CC88A1-2E75-45CF-821E-123FA2C0C2F9}"/>
              </a:ext>
            </a:extLst>
          </p:cNvPr>
          <p:cNvSpPr txBox="1"/>
          <p:nvPr/>
        </p:nvSpPr>
        <p:spPr>
          <a:xfrm>
            <a:off x="2305878" y="357809"/>
            <a:ext cx="7911548" cy="461665"/>
          </a:xfrm>
          <a:prstGeom prst="rect">
            <a:avLst/>
          </a:prstGeom>
          <a:noFill/>
        </p:spPr>
        <p:txBody>
          <a:bodyPr wrap="square" rtlCol="0">
            <a:spAutoFit/>
          </a:bodyPr>
          <a:lstStyle/>
          <a:p>
            <a:pPr algn="ctr"/>
            <a:r>
              <a:rPr lang="en-US" sz="2400" dirty="0" err="1">
                <a:latin typeface="Cambria" panose="02040503050406030204" pitchFamily="18" charset="0"/>
                <a:ea typeface="Cambria" panose="02040503050406030204" pitchFamily="18" charset="0"/>
              </a:rPr>
              <a:t>Babu</a:t>
            </a:r>
            <a:r>
              <a:rPr lang="en-US" sz="2400" dirty="0">
                <a:latin typeface="Cambria" panose="02040503050406030204" pitchFamily="18" charset="0"/>
                <a:ea typeface="Cambria" panose="02040503050406030204" pitchFamily="18" charset="0"/>
              </a:rPr>
              <a:t> Madhav Institute of Information Technology</a:t>
            </a:r>
          </a:p>
        </p:txBody>
      </p:sp>
    </p:spTree>
    <p:extLst>
      <p:ext uri="{BB962C8B-B14F-4D97-AF65-F5344CB8AC3E}">
        <p14:creationId xmlns:p14="http://schemas.microsoft.com/office/powerpoint/2010/main" val="349241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DB8C-8AAA-4D57-8C1D-8FFE34CF5333}"/>
              </a:ext>
            </a:extLst>
          </p:cNvPr>
          <p:cNvSpPr>
            <a:spLocks noGrp="1"/>
          </p:cNvSpPr>
          <p:nvPr>
            <p:ph type="title"/>
          </p:nvPr>
        </p:nvSpPr>
        <p:spPr>
          <a:xfrm>
            <a:off x="1881808" y="365125"/>
            <a:ext cx="8428383" cy="1325563"/>
          </a:xfrm>
        </p:spPr>
        <p:txBody>
          <a:bodyPr>
            <a:normAutofit/>
          </a:bodyPr>
          <a:lstStyle/>
          <a:p>
            <a:pPr algn="ctr"/>
            <a:r>
              <a:rPr lang="en-US" sz="3600" b="1" dirty="0">
                <a:latin typeface="Cambria" panose="02040503050406030204" pitchFamily="18" charset="0"/>
                <a:ea typeface="Cambria" panose="02040503050406030204" pitchFamily="18" charset="0"/>
              </a:rPr>
              <a:t>Table of Content</a:t>
            </a:r>
          </a:p>
        </p:txBody>
      </p:sp>
      <p:sp>
        <p:nvSpPr>
          <p:cNvPr id="3" name="Content Placeholder 2">
            <a:extLst>
              <a:ext uri="{FF2B5EF4-FFF2-40B4-BE49-F238E27FC236}">
                <a16:creationId xmlns:a16="http://schemas.microsoft.com/office/drawing/2014/main" id="{403D33DF-71F1-4508-AA91-45BABEF10A9D}"/>
              </a:ext>
            </a:extLst>
          </p:cNvPr>
          <p:cNvSpPr>
            <a:spLocks noGrp="1"/>
          </p:cNvSpPr>
          <p:nvPr>
            <p:ph idx="1"/>
          </p:nvPr>
        </p:nvSpPr>
        <p:spPr/>
        <p:txBody>
          <a:bodyPr/>
          <a:lstStyle/>
          <a:p>
            <a:r>
              <a:rPr lang="en-US" dirty="0">
                <a:latin typeface="Google Sans Text"/>
                <a:ea typeface="Cambria" panose="02040503050406030204" pitchFamily="18" charset="0"/>
              </a:rPr>
              <a:t>Project Definition</a:t>
            </a:r>
          </a:p>
          <a:p>
            <a:r>
              <a:rPr lang="en-US" dirty="0">
                <a:latin typeface="Google Sans Text"/>
                <a:ea typeface="Cambria" panose="02040503050406030204" pitchFamily="18" charset="0"/>
              </a:rPr>
              <a:t>Functional Requirements</a:t>
            </a:r>
          </a:p>
          <a:p>
            <a:r>
              <a:rPr lang="en-US" dirty="0">
                <a:latin typeface="Google Sans Text"/>
                <a:ea typeface="Cambria" panose="02040503050406030204" pitchFamily="18" charset="0"/>
              </a:rPr>
              <a:t>Non-Functional Requirements</a:t>
            </a:r>
          </a:p>
          <a:p>
            <a:r>
              <a:rPr lang="en-US" dirty="0">
                <a:latin typeface="Google Sans Text"/>
                <a:ea typeface="Cambria" panose="02040503050406030204" pitchFamily="18" charset="0"/>
              </a:rPr>
              <a:t>Use Case Diagram</a:t>
            </a:r>
          </a:p>
          <a:p>
            <a:r>
              <a:rPr lang="en-US" dirty="0">
                <a:latin typeface="Google Sans Text"/>
                <a:ea typeface="Cambria" panose="02040503050406030204" pitchFamily="18" charset="0"/>
              </a:rPr>
              <a:t>Activity Diagram</a:t>
            </a:r>
          </a:p>
          <a:p>
            <a:r>
              <a:rPr lang="en-US" dirty="0">
                <a:latin typeface="Google Sans Text"/>
                <a:ea typeface="Cambria" panose="02040503050406030204" pitchFamily="18" charset="0"/>
              </a:rPr>
              <a:t>Data Dictionary</a:t>
            </a:r>
          </a:p>
          <a:p>
            <a:endParaRPr lang="en-US" dirty="0">
              <a:latin typeface="Google Sans Text"/>
            </a:endParaRPr>
          </a:p>
        </p:txBody>
      </p:sp>
      <p:pic>
        <p:nvPicPr>
          <p:cNvPr id="4" name="Picture 3">
            <a:extLst>
              <a:ext uri="{FF2B5EF4-FFF2-40B4-BE49-F238E27FC236}">
                <a16:creationId xmlns:a16="http://schemas.microsoft.com/office/drawing/2014/main" id="{C1C85849-3F15-47BA-A363-A24EE4A56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12B81B6F-B980-4F73-9469-45E5C9064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240095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AF833-9673-6D1A-3253-00A5BF4C25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31CD3-75F2-81BD-12B0-8AEFFD702F18}"/>
              </a:ext>
            </a:extLst>
          </p:cNvPr>
          <p:cNvSpPr>
            <a:spLocks noGrp="1"/>
          </p:cNvSpPr>
          <p:nvPr>
            <p:ph idx="1"/>
          </p:nvPr>
        </p:nvSpPr>
        <p:spPr>
          <a:xfrm>
            <a:off x="876300" y="3155203"/>
            <a:ext cx="10515600" cy="673100"/>
          </a:xfrm>
        </p:spPr>
        <p:txBody>
          <a:bodyPr>
            <a:noAutofit/>
          </a:bodyPr>
          <a:lstStyle/>
          <a:p>
            <a:pPr marL="0" indent="0" algn="ctr">
              <a:buNone/>
            </a:pPr>
            <a:r>
              <a:rPr lang="en-US" sz="6000" b="1" dirty="0">
                <a:latin typeface="Google Sans Text"/>
                <a:ea typeface="Cambria" panose="02040503050406030204" pitchFamily="18" charset="0"/>
              </a:rPr>
              <a:t>Project Definition</a:t>
            </a:r>
          </a:p>
          <a:p>
            <a:pPr marL="0" indent="0" algn="ctr">
              <a:buNone/>
            </a:pPr>
            <a:endParaRPr lang="en-US" sz="6000" b="1" dirty="0">
              <a:latin typeface="Google Sans Text"/>
            </a:endParaRPr>
          </a:p>
        </p:txBody>
      </p:sp>
      <p:pic>
        <p:nvPicPr>
          <p:cNvPr id="4" name="Picture 3">
            <a:extLst>
              <a:ext uri="{FF2B5EF4-FFF2-40B4-BE49-F238E27FC236}">
                <a16:creationId xmlns:a16="http://schemas.microsoft.com/office/drawing/2014/main" id="{B3D07C04-7B58-ED72-627E-3F7CBCE22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F85EE471-1042-B10D-97D3-40EDD49FF4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2692967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0FE66446-FD9B-BEAB-5970-4838409A3932}"/>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057E71F9-4377-3542-7B40-D0955F9E65B4}"/>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4649AB05-D66F-9927-1268-E5E386CCA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E692B90C-DF08-CC8E-C131-D775055EDF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23" name="TextBox 22">
            <a:extLst>
              <a:ext uri="{FF2B5EF4-FFF2-40B4-BE49-F238E27FC236}">
                <a16:creationId xmlns:a16="http://schemas.microsoft.com/office/drawing/2014/main" id="{C02631F2-F85D-78ED-CBFF-DA95D304115C}"/>
              </a:ext>
            </a:extLst>
          </p:cNvPr>
          <p:cNvSpPr txBox="1"/>
          <p:nvPr/>
        </p:nvSpPr>
        <p:spPr>
          <a:xfrm>
            <a:off x="1078396" y="1381025"/>
            <a:ext cx="6248400" cy="584775"/>
          </a:xfrm>
          <a:prstGeom prst="rect">
            <a:avLst/>
          </a:prstGeom>
          <a:noFill/>
        </p:spPr>
        <p:txBody>
          <a:bodyPr wrap="square">
            <a:spAutoFit/>
          </a:bodyPr>
          <a:lstStyle/>
          <a:p>
            <a:pPr marL="457200" indent="-457200">
              <a:buFont typeface="Wingdings" panose="05000000000000000000" pitchFamily="2" charset="2"/>
              <a:buChar char="q"/>
            </a:pPr>
            <a:r>
              <a:rPr lang="en-IN" sz="3200" b="1" u="sng" dirty="0">
                <a:latin typeface="Google Sans Text"/>
              </a:rPr>
              <a:t>Purpose:</a:t>
            </a:r>
          </a:p>
        </p:txBody>
      </p:sp>
      <p:sp>
        <p:nvSpPr>
          <p:cNvPr id="25" name="TextBox 24">
            <a:extLst>
              <a:ext uri="{FF2B5EF4-FFF2-40B4-BE49-F238E27FC236}">
                <a16:creationId xmlns:a16="http://schemas.microsoft.com/office/drawing/2014/main" id="{8F971E01-6978-4D0C-6CD4-516F28A73332}"/>
              </a:ext>
            </a:extLst>
          </p:cNvPr>
          <p:cNvSpPr txBox="1"/>
          <p:nvPr/>
        </p:nvSpPr>
        <p:spPr>
          <a:xfrm>
            <a:off x="1546411" y="2135288"/>
            <a:ext cx="8960223" cy="3046988"/>
          </a:xfrm>
          <a:prstGeom prst="rect">
            <a:avLst/>
          </a:prstGeom>
          <a:noFill/>
        </p:spPr>
        <p:txBody>
          <a:bodyPr wrap="square">
            <a:spAutoFit/>
          </a:bodyPr>
          <a:lstStyle/>
          <a:p>
            <a:pPr marL="457200" indent="-457200">
              <a:buFont typeface="Arial" panose="020B0604020202020204" pitchFamily="34" charset="0"/>
              <a:buChar char="•"/>
            </a:pPr>
            <a:r>
              <a:rPr lang="en-IN" sz="2400" dirty="0"/>
              <a:t>Create a unified web platform (ONYXPLAY) where users can rent gaming consoles, game titles, VR headsets, racing wheels, and digital accounts for flexible periods.</a:t>
            </a:r>
          </a:p>
          <a:p>
            <a:pPr marL="457200" indent="-457200">
              <a:buFont typeface="Arial" panose="020B0604020202020204" pitchFamily="34" charset="0"/>
              <a:buChar char="•"/>
            </a:pPr>
            <a:endParaRPr lang="en-IN" sz="2400" dirty="0">
              <a:effectLst/>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r>
              <a:rPr lang="en-IN" sz="2400" dirty="0"/>
              <a:t>Help gamers save money by paying only for the exact duration they play, avoiding expensive upfront hardware investments. </a:t>
            </a:r>
          </a:p>
          <a:p>
            <a:pPr marL="457200" indent="-457200">
              <a:buFont typeface="Arial" panose="020B0604020202020204" pitchFamily="34" charset="0"/>
              <a:buChar char="•"/>
            </a:pPr>
            <a:endParaRPr lang="en-IN" sz="2400" dirty="0">
              <a:effectLst/>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r>
              <a:rPr lang="en-IN" sz="2400" dirty="0"/>
              <a:t>Help store owners automatically track unit-level serial numbers, prevent double-bookings, process secure Razorpay payments, and dispatch automated email invoices. </a:t>
            </a:r>
            <a:endParaRPr lang="en-IN" sz="24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198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5F380-334E-CE41-17A6-21365759BEAE}"/>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F9438102-0E8A-C8F1-960C-36DC7FC31719}"/>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450C937E-D6B5-A613-17C2-E3F78DFD78CC}"/>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05E7C3AE-D98F-6C37-BC6C-001592130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4BC2C8A9-2B66-62ED-2141-41AB9DC31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20" name="Title 1">
            <a:extLst>
              <a:ext uri="{FF2B5EF4-FFF2-40B4-BE49-F238E27FC236}">
                <a16:creationId xmlns:a16="http://schemas.microsoft.com/office/drawing/2014/main" id="{C7FDE26E-CC4B-E20F-CBED-A64EA97366D9}"/>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23" name="Content Placeholder 2">
            <a:extLst>
              <a:ext uri="{FF2B5EF4-FFF2-40B4-BE49-F238E27FC236}">
                <a16:creationId xmlns:a16="http://schemas.microsoft.com/office/drawing/2014/main" id="{00455499-3888-3DC9-6581-4E5508C0C0EB}"/>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25" name="Picture 24">
            <a:extLst>
              <a:ext uri="{FF2B5EF4-FFF2-40B4-BE49-F238E27FC236}">
                <a16:creationId xmlns:a16="http://schemas.microsoft.com/office/drawing/2014/main" id="{561DBE46-2EC0-22F5-1991-B4EC8FF4CF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7" name="Picture 26">
            <a:extLst>
              <a:ext uri="{FF2B5EF4-FFF2-40B4-BE49-F238E27FC236}">
                <a16:creationId xmlns:a16="http://schemas.microsoft.com/office/drawing/2014/main" id="{DA14B991-F166-7238-F4EB-7AFE22BA0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29" name="TextBox 28">
            <a:extLst>
              <a:ext uri="{FF2B5EF4-FFF2-40B4-BE49-F238E27FC236}">
                <a16:creationId xmlns:a16="http://schemas.microsoft.com/office/drawing/2014/main" id="{2E2FE2AF-27A0-298F-7E08-F81C9BE0ECA7}"/>
              </a:ext>
            </a:extLst>
          </p:cNvPr>
          <p:cNvSpPr txBox="1"/>
          <p:nvPr/>
        </p:nvSpPr>
        <p:spPr>
          <a:xfrm>
            <a:off x="1078396" y="1354216"/>
            <a:ext cx="6248400" cy="584775"/>
          </a:xfrm>
          <a:prstGeom prst="rect">
            <a:avLst/>
          </a:prstGeom>
          <a:noFill/>
        </p:spPr>
        <p:txBody>
          <a:bodyPr wrap="square">
            <a:spAutoFit/>
          </a:bodyPr>
          <a:lstStyle/>
          <a:p>
            <a:pPr marL="457200" indent="-457200">
              <a:buFont typeface="Wingdings" panose="05000000000000000000" pitchFamily="2" charset="2"/>
              <a:buChar char="q"/>
            </a:pPr>
            <a:r>
              <a:rPr lang="en-IN" sz="3200" b="1" u="sng" dirty="0">
                <a:latin typeface="Google Sans Text"/>
              </a:rPr>
              <a:t>Scope:</a:t>
            </a:r>
          </a:p>
        </p:txBody>
      </p:sp>
      <p:sp>
        <p:nvSpPr>
          <p:cNvPr id="31" name="TextBox 30">
            <a:extLst>
              <a:ext uri="{FF2B5EF4-FFF2-40B4-BE49-F238E27FC236}">
                <a16:creationId xmlns:a16="http://schemas.microsoft.com/office/drawing/2014/main" id="{5F8429CA-07D7-C8AA-7151-390396255805}"/>
              </a:ext>
            </a:extLst>
          </p:cNvPr>
          <p:cNvSpPr txBox="1"/>
          <p:nvPr/>
        </p:nvSpPr>
        <p:spPr>
          <a:xfrm>
            <a:off x="1687605" y="2020606"/>
            <a:ext cx="8975913" cy="4893647"/>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Visitor Portal:</a:t>
            </a:r>
            <a:r>
              <a:rPr lang="en-IN" sz="2400" dirty="0">
                <a:latin typeface="Cambria" panose="02040503050406030204" pitchFamily="18" charset="0"/>
                <a:ea typeface="Cambria" panose="02040503050406030204" pitchFamily="18" charset="0"/>
              </a:rPr>
              <a:t> Allows unregistered visitors to browse and search the catalog across 8 categories (Consoles, Games, VR Headsets, Racing Wheels, Controllers, Accessories, Subscriptions, Accounts) with multi-image previews, view daily rates &amp; FAQs, and register with email OTP verification. </a:t>
            </a:r>
          </a:p>
          <a:p>
            <a:endParaRPr lang="en-IN" sz="2400"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Customer Portal:</a:t>
            </a:r>
            <a:r>
              <a:rPr lang="en-IN" sz="2400" dirty="0">
                <a:latin typeface="Cambria" panose="02040503050406030204" pitchFamily="18" charset="0"/>
                <a:ea typeface="Cambria" panose="02040503050406030204" pitchFamily="18" charset="0"/>
              </a:rPr>
              <a:t> Enables registered customers to select delivery/return dates with live price calculation, manage a multi-item cart, enter structured delivery addresses, pay securely via Razorpay, receive automated email receipts, track order status, and cancel eligible pending orders before dispatch. </a:t>
            </a:r>
          </a:p>
          <a:p>
            <a:endParaRPr lang="en-IN" sz="2400"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Admin Portal:</a:t>
            </a:r>
            <a:r>
              <a:rPr lang="en-IN" sz="2400" dirty="0">
                <a:latin typeface="Cambria" panose="02040503050406030204" pitchFamily="18" charset="0"/>
                <a:ea typeface="Cambria" panose="02040503050406030204" pitchFamily="18" charset="0"/>
              </a:rPr>
              <a:t> Enables administrators to view real-time analytics on the dashboard, perform full CRUD operations on gadgets with multi-image upload &amp; cropping, manage individual hardware units with unique serial numbers and operational statuses, and manage the complete order fulfillment workflow. </a:t>
            </a:r>
          </a:p>
        </p:txBody>
      </p:sp>
    </p:spTree>
    <p:extLst>
      <p:ext uri="{BB962C8B-B14F-4D97-AF65-F5344CB8AC3E}">
        <p14:creationId xmlns:p14="http://schemas.microsoft.com/office/powerpoint/2010/main" val="2725891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BF61B-42CF-44B6-EA4C-E9342EB7D88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CE1ADCDE-D596-FFDF-50B7-04A21AB841C6}"/>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36FB3F17-7A0E-5500-9E76-98E5EC61A1FC}"/>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D1C9D205-F16C-26A5-8522-B837E374BB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30F0C1D9-E288-DA3D-592A-65CAFDE61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3" name="TextBox 2">
            <a:extLst>
              <a:ext uri="{FF2B5EF4-FFF2-40B4-BE49-F238E27FC236}">
                <a16:creationId xmlns:a16="http://schemas.microsoft.com/office/drawing/2014/main" id="{E24E1DA2-B0FA-ADE5-EE54-64E1F5C1D4AD}"/>
              </a:ext>
            </a:extLst>
          </p:cNvPr>
          <p:cNvSpPr txBox="1"/>
          <p:nvPr/>
        </p:nvSpPr>
        <p:spPr>
          <a:xfrm>
            <a:off x="1078396" y="1360260"/>
            <a:ext cx="6248400" cy="584775"/>
          </a:xfrm>
          <a:prstGeom prst="rect">
            <a:avLst/>
          </a:prstGeom>
          <a:noFill/>
        </p:spPr>
        <p:txBody>
          <a:bodyPr wrap="square">
            <a:spAutoFit/>
          </a:bodyPr>
          <a:lstStyle/>
          <a:p>
            <a:pPr marL="457200" indent="-457200">
              <a:buFont typeface="Wingdings" panose="05000000000000000000" pitchFamily="2" charset="2"/>
              <a:buChar char="q"/>
            </a:pPr>
            <a:r>
              <a:rPr lang="en-IN" sz="3200" b="1" u="sng" dirty="0">
                <a:latin typeface="Google Sans Text"/>
              </a:rPr>
              <a:t>Identification of Need:</a:t>
            </a:r>
          </a:p>
        </p:txBody>
      </p:sp>
      <p:sp>
        <p:nvSpPr>
          <p:cNvPr id="5" name="TextBox 4">
            <a:extLst>
              <a:ext uri="{FF2B5EF4-FFF2-40B4-BE49-F238E27FC236}">
                <a16:creationId xmlns:a16="http://schemas.microsoft.com/office/drawing/2014/main" id="{4CF17D57-A94F-8B4E-E068-03F0A463A01A}"/>
              </a:ext>
            </a:extLst>
          </p:cNvPr>
          <p:cNvSpPr txBox="1"/>
          <p:nvPr/>
        </p:nvSpPr>
        <p:spPr>
          <a:xfrm>
            <a:off x="1881807" y="1983074"/>
            <a:ext cx="8167627" cy="4524315"/>
          </a:xfrm>
          <a:prstGeom prst="rect">
            <a:avLst/>
          </a:prstGeom>
          <a:noFill/>
        </p:spPr>
        <p:txBody>
          <a:bodyPr wrap="square">
            <a:spAutoFit/>
          </a:bodyPr>
          <a:lstStyle/>
          <a:p>
            <a:r>
              <a:rPr lang="en-IN" sz="2400" b="1" dirty="0">
                <a:effectLst/>
                <a:latin typeface="Cambria" panose="02040503050406030204" pitchFamily="18" charset="0"/>
                <a:ea typeface="Cambria" panose="02040503050406030204" pitchFamily="18" charset="0"/>
              </a:rPr>
              <a:t>High Gaming Costs:</a:t>
            </a:r>
            <a:r>
              <a:rPr lang="en-IN" sz="2400" dirty="0">
                <a:effectLst/>
                <a:latin typeface="Cambria" panose="02040503050406030204" pitchFamily="18" charset="0"/>
                <a:ea typeface="Cambria" panose="02040503050406030204" pitchFamily="18" charset="0"/>
              </a:rPr>
              <a:t> Next-gen consoles, VR kits, and racing wheels cost INR 40,000 to 80,000+, making flexible short-term rentals an attractive, economical alternative for gamers. </a:t>
            </a:r>
          </a:p>
          <a:p>
            <a:endParaRPr lang="en-IN" sz="2400" dirty="0">
              <a:effectLst/>
              <a:latin typeface="Cambria" panose="02040503050406030204" pitchFamily="18" charset="0"/>
              <a:ea typeface="Cambria" panose="02040503050406030204" pitchFamily="18" charset="0"/>
            </a:endParaRPr>
          </a:p>
          <a:p>
            <a:r>
              <a:rPr lang="en-IN" sz="2400" b="1" dirty="0">
                <a:effectLst/>
                <a:latin typeface="Cambria" panose="02040503050406030204" pitchFamily="18" charset="0"/>
                <a:ea typeface="Cambria" panose="02040503050406030204" pitchFamily="18" charset="0"/>
              </a:rPr>
              <a:t>Digital &amp; Physical Demand:</a:t>
            </a:r>
            <a:r>
              <a:rPr lang="en-IN" sz="2400" dirty="0">
                <a:effectLst/>
                <a:latin typeface="Cambria" panose="02040503050406030204" pitchFamily="18" charset="0"/>
                <a:ea typeface="Cambria" panose="02040503050406030204" pitchFamily="18" charset="0"/>
              </a:rPr>
              <a:t> Gamers demand flexible access to both physical hardware (consoles, discs, racing wheels) and digital subscription passes/accounts.</a:t>
            </a:r>
          </a:p>
          <a:p>
            <a:r>
              <a:rPr lang="en-IN" sz="2400" dirty="0">
                <a:effectLst/>
                <a:latin typeface="Cambria" panose="02040503050406030204" pitchFamily="18" charset="0"/>
                <a:ea typeface="Cambria" panose="02040503050406030204" pitchFamily="18" charset="0"/>
              </a:rPr>
              <a:t> </a:t>
            </a:r>
          </a:p>
          <a:p>
            <a:r>
              <a:rPr lang="en-IN" sz="2400" b="1" dirty="0">
                <a:effectLst/>
                <a:latin typeface="Cambria" panose="02040503050406030204" pitchFamily="18" charset="0"/>
                <a:ea typeface="Cambria" panose="02040503050406030204" pitchFamily="18" charset="0"/>
              </a:rPr>
              <a:t>Operational Efficiency:</a:t>
            </a:r>
            <a:r>
              <a:rPr lang="en-IN" sz="2400" dirty="0">
                <a:effectLst/>
                <a:latin typeface="Cambria" panose="02040503050406030204" pitchFamily="18" charset="0"/>
                <a:ea typeface="Cambria" panose="02040503050406030204" pitchFamily="18" charset="0"/>
              </a:rPr>
              <a:t> Automated tracking eliminates double-booking, ensures unit-level serial number allocation, automates payment and email receipts, and maintains operational logs efficiently.</a:t>
            </a:r>
          </a:p>
        </p:txBody>
      </p:sp>
    </p:spTree>
    <p:extLst>
      <p:ext uri="{BB962C8B-B14F-4D97-AF65-F5344CB8AC3E}">
        <p14:creationId xmlns:p14="http://schemas.microsoft.com/office/powerpoint/2010/main" val="2362319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FB37-69B6-72D7-A52E-4D65CB18BA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BD7C3-D619-20FD-BC0C-06946474A155}"/>
              </a:ext>
            </a:extLst>
          </p:cNvPr>
          <p:cNvSpPr>
            <a:spLocks noGrp="1"/>
          </p:cNvSpPr>
          <p:nvPr>
            <p:ph idx="1"/>
          </p:nvPr>
        </p:nvSpPr>
        <p:spPr>
          <a:xfrm>
            <a:off x="876300" y="3155203"/>
            <a:ext cx="10515600" cy="673100"/>
          </a:xfrm>
        </p:spPr>
        <p:txBody>
          <a:bodyPr>
            <a:noAutofit/>
          </a:bodyPr>
          <a:lstStyle/>
          <a:p>
            <a:pPr marL="0" indent="0" algn="ctr">
              <a:buNone/>
            </a:pPr>
            <a:r>
              <a:rPr lang="en-US" sz="6000" b="1" dirty="0">
                <a:latin typeface="Google Sans Text"/>
                <a:ea typeface="Cambria" panose="02040503050406030204" pitchFamily="18" charset="0"/>
              </a:rPr>
              <a:t>Problem Definition</a:t>
            </a:r>
          </a:p>
          <a:p>
            <a:pPr marL="0" indent="0" algn="ctr">
              <a:buNone/>
            </a:pPr>
            <a:endParaRPr lang="en-US" sz="6000" b="1" dirty="0">
              <a:latin typeface="Google Sans Text"/>
            </a:endParaRPr>
          </a:p>
        </p:txBody>
      </p:sp>
      <p:pic>
        <p:nvPicPr>
          <p:cNvPr id="4" name="Picture 3">
            <a:extLst>
              <a:ext uri="{FF2B5EF4-FFF2-40B4-BE49-F238E27FC236}">
                <a16:creationId xmlns:a16="http://schemas.microsoft.com/office/drawing/2014/main" id="{98D595E2-3CEF-2C93-30E9-89A8D7AA9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5" name="Picture 4">
            <a:extLst>
              <a:ext uri="{FF2B5EF4-FFF2-40B4-BE49-F238E27FC236}">
                <a16:creationId xmlns:a16="http://schemas.microsoft.com/office/drawing/2014/main" id="{660B0FC6-E9EC-20FE-02E1-81DCBB9269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91571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DDA25-0C84-E9DE-6862-A041EB3FB55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1333267-2ECF-70D5-E6C2-5DDC1D25BC23}"/>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1E6BC72A-7BFD-D402-C934-EF99B2503D87}"/>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D014AEB4-1994-FB28-7FE0-71B950C96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41BE8A8B-D4D3-209E-CFE4-A3203E981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25" name="TextBox 24">
            <a:extLst>
              <a:ext uri="{FF2B5EF4-FFF2-40B4-BE49-F238E27FC236}">
                <a16:creationId xmlns:a16="http://schemas.microsoft.com/office/drawing/2014/main" id="{D232B068-F01B-6812-1D51-70265AB092AE}"/>
              </a:ext>
            </a:extLst>
          </p:cNvPr>
          <p:cNvSpPr txBox="1"/>
          <p:nvPr/>
        </p:nvSpPr>
        <p:spPr>
          <a:xfrm>
            <a:off x="1546411" y="2135288"/>
            <a:ext cx="8960223" cy="2308324"/>
          </a:xfrm>
          <a:prstGeom prst="rect">
            <a:avLst/>
          </a:prstGeom>
          <a:noFill/>
        </p:spPr>
        <p:txBody>
          <a:bodyPr wrap="square">
            <a:spAutoFit/>
          </a:bodyPr>
          <a:lstStyle/>
          <a:p>
            <a:r>
              <a:rPr lang="en-IN" sz="2400" dirty="0">
                <a:latin typeface="Cambria" panose="02040503050406030204" pitchFamily="18" charset="0"/>
                <a:ea typeface="Cambria" panose="02040503050406030204" pitchFamily="18" charset="0"/>
              </a:rPr>
              <a:t>High-end gaming gear like consoles, VR headsets, and racing wheels is prohibitively expensive for casual gamers to purchase, while traditional manual rental management leads to overlapping bookings, untracked inventory damage, and lost customer orders. The ONYXPLAY Game Rental Management System solves this by providing an end-to-end web platform that dynamically validates booking dates, allocates specific available hardware units, processes secure payments via Razorpay, and tracks real-time fulfillment and device statuses.</a:t>
            </a:r>
          </a:p>
        </p:txBody>
      </p:sp>
    </p:spTree>
    <p:extLst>
      <p:ext uri="{BB962C8B-B14F-4D97-AF65-F5344CB8AC3E}">
        <p14:creationId xmlns:p14="http://schemas.microsoft.com/office/powerpoint/2010/main" val="416857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DF20-59DB-E2F7-C615-506548E8164A}"/>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0CB3ABCD-A92A-76F1-6DC0-A7BF1DA956BA}"/>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D851F1B7-83FC-5B94-C189-7724373C225A}"/>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837B6C8D-6195-DFE3-D1D9-BBC92EABC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E16D7AF0-44B7-DBC4-8CC8-68D6CC2FE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3" name="TextBox 2">
            <a:extLst>
              <a:ext uri="{FF2B5EF4-FFF2-40B4-BE49-F238E27FC236}">
                <a16:creationId xmlns:a16="http://schemas.microsoft.com/office/drawing/2014/main" id="{F3B1140C-797C-A551-7966-74D269D3517B}"/>
              </a:ext>
            </a:extLst>
          </p:cNvPr>
          <p:cNvSpPr txBox="1"/>
          <p:nvPr/>
        </p:nvSpPr>
        <p:spPr>
          <a:xfrm>
            <a:off x="945776" y="2273300"/>
            <a:ext cx="10022541" cy="2862322"/>
          </a:xfrm>
          <a:prstGeom prst="rect">
            <a:avLst/>
          </a:prstGeom>
          <a:noFill/>
        </p:spPr>
        <p:txBody>
          <a:bodyPr wrap="square">
            <a:spAutoFit/>
          </a:bodyPr>
          <a:lstStyle/>
          <a:p>
            <a:pPr algn="ctr"/>
            <a:r>
              <a:rPr lang="en-IN" sz="6000" b="1" dirty="0">
                <a:latin typeface="Google Sans Text"/>
              </a:rPr>
              <a:t>Functional Requirements </a:t>
            </a:r>
          </a:p>
          <a:p>
            <a:pPr algn="ctr"/>
            <a:r>
              <a:rPr lang="en-IN" sz="6000" b="1" dirty="0">
                <a:latin typeface="Google Sans Text"/>
              </a:rPr>
              <a:t>&amp; </a:t>
            </a:r>
          </a:p>
          <a:p>
            <a:pPr algn="ctr"/>
            <a:r>
              <a:rPr lang="en-IN" sz="6000" b="1" dirty="0">
                <a:latin typeface="Google Sans Text"/>
              </a:rPr>
              <a:t>Non Functional Requirement</a:t>
            </a:r>
          </a:p>
        </p:txBody>
      </p:sp>
    </p:spTree>
    <p:extLst>
      <p:ext uri="{BB962C8B-B14F-4D97-AF65-F5344CB8AC3E}">
        <p14:creationId xmlns:p14="http://schemas.microsoft.com/office/powerpoint/2010/main" val="849532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F4EB-C79C-13DE-24E9-B480A58D007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498F2C34-2F92-3EF7-042C-1DDC4EE51709}"/>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44F52E36-1489-CC1A-AD6B-BCFC72A4A2B9}"/>
              </a:ext>
            </a:extLst>
          </p:cNvPr>
          <p:cNvSpPr txBox="1">
            <a:spLocks/>
          </p:cNvSpPr>
          <p:nvPr/>
        </p:nvSpPr>
        <p:spPr>
          <a:xfrm>
            <a:off x="2402540" y="1825625"/>
            <a:ext cx="8951259"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3CCAB2F7-3B5A-C59C-F352-866F4857A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A4CFA030-3FF4-59C8-15C2-9D139D2DC5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2" name="Table 1">
            <a:extLst>
              <a:ext uri="{FF2B5EF4-FFF2-40B4-BE49-F238E27FC236}">
                <a16:creationId xmlns:a16="http://schemas.microsoft.com/office/drawing/2014/main" id="{0AD816DE-4117-3028-07A8-7866867A1BBE}"/>
              </a:ext>
            </a:extLst>
          </p:cNvPr>
          <p:cNvGraphicFramePr>
            <a:graphicFrameLocks noGrp="1"/>
          </p:cNvGraphicFramePr>
          <p:nvPr>
            <p:extLst>
              <p:ext uri="{D42A27DB-BD31-4B8C-83A1-F6EECF244321}">
                <p14:modId xmlns:p14="http://schemas.microsoft.com/office/powerpoint/2010/main" val="1479237809"/>
              </p:ext>
            </p:extLst>
          </p:nvPr>
        </p:nvGraphicFramePr>
        <p:xfrm>
          <a:off x="948016" y="1483658"/>
          <a:ext cx="10295965" cy="2880320"/>
        </p:xfrm>
        <a:graphic>
          <a:graphicData uri="http://schemas.openxmlformats.org/drawingml/2006/table">
            <a:tbl>
              <a:tblPr/>
              <a:tblGrid>
                <a:gridCol w="1088191">
                  <a:extLst>
                    <a:ext uri="{9D8B030D-6E8A-4147-A177-3AD203B41FA5}">
                      <a16:colId xmlns:a16="http://schemas.microsoft.com/office/drawing/2014/main" val="850720298"/>
                    </a:ext>
                  </a:extLst>
                </a:gridCol>
                <a:gridCol w="5189836">
                  <a:extLst>
                    <a:ext uri="{9D8B030D-6E8A-4147-A177-3AD203B41FA5}">
                      <a16:colId xmlns:a16="http://schemas.microsoft.com/office/drawing/2014/main" val="3469169762"/>
                    </a:ext>
                  </a:extLst>
                </a:gridCol>
                <a:gridCol w="4017938">
                  <a:extLst>
                    <a:ext uri="{9D8B030D-6E8A-4147-A177-3AD203B41FA5}">
                      <a16:colId xmlns:a16="http://schemas.microsoft.com/office/drawing/2014/main" val="4061871149"/>
                    </a:ext>
                  </a:extLst>
                </a:gridCol>
              </a:tblGrid>
              <a:tr h="320000">
                <a:tc>
                  <a:txBody>
                    <a:bodyPr/>
                    <a:lstStyle/>
                    <a:p>
                      <a:pPr algn="ctr"/>
                      <a:r>
                        <a:rPr lang="en-US" sz="1250" b="1">
                          <a:solidFill>
                            <a:srgbClr val="E3E3E3"/>
                          </a:solidFill>
                        </a:rPr>
                        <a:t>FRN</a:t>
                      </a:r>
                    </a:p>
                  </a:txBody>
                  <a:tcPr marL="57150" marR="57150" marT="38100" marB="38100"/>
                </a:tc>
                <a:tc>
                  <a:txBody>
                    <a:bodyPr/>
                    <a:lstStyle/>
                    <a:p>
                      <a:pPr algn="ctr"/>
                      <a:r>
                        <a:rPr lang="en-US" sz="1250" b="1">
                          <a:solidFill>
                            <a:srgbClr val="E3E3E3"/>
                          </a:solidFill>
                        </a:rPr>
                        <a:t>Description</a:t>
                      </a:r>
                    </a:p>
                  </a:txBody>
                  <a:tcPr marL="57150" marR="57150" marT="38100" marB="38100"/>
                </a:tc>
                <a:tc>
                  <a:txBody>
                    <a:bodyPr/>
                    <a:lstStyle/>
                    <a:p>
                      <a:pPr algn="ctr"/>
                      <a:r>
                        <a:rPr lang="en-US" sz="1250" b="1">
                          <a:solidFill>
                            <a:srgbClr val="E3E3E3"/>
                          </a:solidFill>
                        </a:rPr>
                        <a:t>Comment / Purpose</a:t>
                      </a:r>
                    </a:p>
                  </a:txBody>
                  <a:tcPr marL="57150" marR="57150" marT="38100" marB="38100"/>
                </a:tc>
                <a:extLst>
                  <a:ext uri="{0D108BD9-81ED-4DB2-BD59-A6C34878D82A}">
                    <a16:rowId xmlns:a16="http://schemas.microsoft.com/office/drawing/2014/main" val="10000"/>
                  </a:ext>
                </a:extLst>
              </a:tr>
              <a:tr h="360000">
                <a:tc>
                  <a:txBody>
                    <a:bodyPr/>
                    <a:lstStyle/>
                    <a:p>
                      <a:pPr algn="ctr"/>
                      <a:r>
                        <a:rPr lang="en-US" sz="1150" b="0">
                          <a:solidFill>
                            <a:srgbClr val="2A2A2A"/>
                          </a:solidFill>
                        </a:rPr>
                        <a:t>FR-AD-01</a:t>
                      </a:r>
                    </a:p>
                  </a:txBody>
                  <a:tcPr marL="57150" marR="57150" marT="38100" marB="38100"/>
                </a:tc>
                <a:tc>
                  <a:txBody>
                    <a:bodyPr/>
                    <a:lstStyle/>
                    <a:p>
                      <a:pPr algn="l"/>
                      <a:r>
                        <a:rPr lang="en-US" sz="1150" b="0">
                          <a:solidFill>
                            <a:srgbClr val="2A2A2A"/>
                          </a:solidFill>
                        </a:rPr>
                        <a:t>The system shall allow the Admin to securely log in to the admin portal.</a:t>
                      </a:r>
                    </a:p>
                  </a:txBody>
                  <a:tcPr marL="57150" marR="57150" marT="38100" marB="38100"/>
                </a:tc>
                <a:tc>
                  <a:txBody>
                    <a:bodyPr/>
                    <a:lstStyle/>
                    <a:p>
                      <a:pPr algn="l"/>
                      <a:r>
                        <a:rPr lang="en-US" sz="1150" b="0">
                          <a:solidFill>
                            <a:srgbClr val="2A2A2A"/>
                          </a:solidFill>
                        </a:rPr>
                        <a:t>Ensures restricted administrative access using secure credentials and role-based authorization.</a:t>
                      </a:r>
                    </a:p>
                  </a:txBody>
                  <a:tcPr marL="57150" marR="57150" marT="38100" marB="38100"/>
                </a:tc>
                <a:extLst>
                  <a:ext uri="{0D108BD9-81ED-4DB2-BD59-A6C34878D82A}">
                    <a16:rowId xmlns:a16="http://schemas.microsoft.com/office/drawing/2014/main" val="10001"/>
                  </a:ext>
                </a:extLst>
              </a:tr>
              <a:tr h="360000">
                <a:tc>
                  <a:txBody>
                    <a:bodyPr/>
                    <a:lstStyle/>
                    <a:p>
                      <a:pPr algn="ctr"/>
                      <a:r>
                        <a:rPr lang="en-US" sz="1150" b="0">
                          <a:solidFill>
                            <a:srgbClr val="2A2A2A"/>
                          </a:solidFill>
                        </a:rPr>
                        <a:t>FR-AD-02</a:t>
                      </a:r>
                    </a:p>
                  </a:txBody>
                  <a:tcPr marL="57150" marR="57150" marT="38100" marB="38100"/>
                </a:tc>
                <a:tc>
                  <a:txBody>
                    <a:bodyPr/>
                    <a:lstStyle/>
                    <a:p>
                      <a:pPr algn="l"/>
                      <a:r>
                        <a:rPr lang="en-US" sz="1150" b="0">
                          <a:solidFill>
                            <a:srgbClr val="2A2A2A"/>
                          </a:solidFill>
                        </a:rPr>
                        <a:t>The Admin shall be able to Add, View, Update, and Delete (CRUD) gadgets across 8 categories with multi-image gallery upload &amp; crop.</a:t>
                      </a:r>
                    </a:p>
                  </a:txBody>
                  <a:tcPr marL="57150" marR="57150" marT="38100" marB="38100"/>
                </a:tc>
                <a:tc>
                  <a:txBody>
                    <a:bodyPr/>
                    <a:lstStyle/>
                    <a:p>
                      <a:pPr algn="l"/>
                      <a:r>
                        <a:rPr lang="en-US" sz="1150" b="0">
                          <a:solidFill>
                            <a:srgbClr val="2A2A2A"/>
                          </a:solidFill>
                        </a:rPr>
                        <a:t>Provides full inventory catalog control over consoles, games, VR kits, and racing gear.</a:t>
                      </a:r>
                    </a:p>
                  </a:txBody>
                  <a:tcPr marL="57150" marR="57150" marT="38100" marB="38100"/>
                </a:tc>
                <a:extLst>
                  <a:ext uri="{0D108BD9-81ED-4DB2-BD59-A6C34878D82A}">
                    <a16:rowId xmlns:a16="http://schemas.microsoft.com/office/drawing/2014/main" val="10002"/>
                  </a:ext>
                </a:extLst>
              </a:tr>
              <a:tr h="360000">
                <a:tc>
                  <a:txBody>
                    <a:bodyPr/>
                    <a:lstStyle/>
                    <a:p>
                      <a:pPr algn="ctr"/>
                      <a:r>
                        <a:rPr lang="en-US" sz="1150" b="0">
                          <a:solidFill>
                            <a:srgbClr val="2A2A2A"/>
                          </a:solidFill>
                        </a:rPr>
                        <a:t>FR-AD-03</a:t>
                      </a:r>
                    </a:p>
                  </a:txBody>
                  <a:tcPr marL="57150" marR="57150" marT="38100" marB="38100"/>
                </a:tc>
                <a:tc>
                  <a:txBody>
                    <a:bodyPr/>
                    <a:lstStyle/>
                    <a:p>
                      <a:pPr algn="l"/>
                      <a:r>
                        <a:rPr lang="en-US" sz="1150" b="0">
                          <a:solidFill>
                            <a:srgbClr val="2A2A2A"/>
                          </a:solidFill>
                        </a:rPr>
                        <a:t>The Admin shall be able to register individual hardware units with unique serial numbers and track operational status.</a:t>
                      </a:r>
                    </a:p>
                  </a:txBody>
                  <a:tcPr marL="57150" marR="57150" marT="38100" marB="38100"/>
                </a:tc>
                <a:tc>
                  <a:txBody>
                    <a:bodyPr/>
                    <a:lstStyle/>
                    <a:p>
                      <a:pPr algn="l"/>
                      <a:r>
                        <a:rPr lang="en-US" sz="1150" b="0">
                          <a:solidFill>
                            <a:srgbClr val="2A2A2A"/>
                          </a:solidFill>
                        </a:rPr>
                        <a:t>Enables unit-level asset tracking, hardware maintenance logging, and prevents inventory loss.</a:t>
                      </a:r>
                    </a:p>
                  </a:txBody>
                  <a:tcPr marL="57150" marR="57150" marT="38100" marB="38100"/>
                </a:tc>
                <a:extLst>
                  <a:ext uri="{0D108BD9-81ED-4DB2-BD59-A6C34878D82A}">
                    <a16:rowId xmlns:a16="http://schemas.microsoft.com/office/drawing/2014/main" val="10003"/>
                  </a:ext>
                </a:extLst>
              </a:tr>
              <a:tr h="360000">
                <a:tc>
                  <a:txBody>
                    <a:bodyPr/>
                    <a:lstStyle/>
                    <a:p>
                      <a:pPr algn="ctr"/>
                      <a:r>
                        <a:rPr lang="en-US" sz="1150" b="0">
                          <a:solidFill>
                            <a:srgbClr val="2A2A2A"/>
                          </a:solidFill>
                        </a:rPr>
                        <a:t>FR-AD-04</a:t>
                      </a:r>
                    </a:p>
                  </a:txBody>
                  <a:tcPr marL="57150" marR="57150" marT="38100" marB="38100"/>
                </a:tc>
                <a:tc>
                  <a:txBody>
                    <a:bodyPr/>
                    <a:lstStyle/>
                    <a:p>
                      <a:pPr algn="l"/>
                      <a:r>
                        <a:rPr lang="en-US" sz="1150" b="0">
                          <a:solidFill>
                            <a:srgbClr val="2A2A2A"/>
                          </a:solidFill>
                        </a:rPr>
                        <a:t>The Admin shall be able to update item availability statuses ('Available', 'Rented', 'Under Maintenance').</a:t>
                      </a:r>
                    </a:p>
                  </a:txBody>
                  <a:tcPr marL="57150" marR="57150" marT="38100" marB="38100"/>
                </a:tc>
                <a:tc>
                  <a:txBody>
                    <a:bodyPr/>
                    <a:lstStyle/>
                    <a:p>
                      <a:pPr algn="l"/>
                      <a:r>
                        <a:rPr lang="en-US" sz="1150" b="0">
                          <a:solidFill>
                            <a:srgbClr val="2A2A2A"/>
                          </a:solidFill>
                        </a:rPr>
                        <a:t>Controls real-time catalog stock visibility based on device operational readiness.</a:t>
                      </a:r>
                    </a:p>
                  </a:txBody>
                  <a:tcPr marL="57150" marR="57150" marT="38100" marB="38100"/>
                </a:tc>
                <a:extLst>
                  <a:ext uri="{0D108BD9-81ED-4DB2-BD59-A6C34878D82A}">
                    <a16:rowId xmlns:a16="http://schemas.microsoft.com/office/drawing/2014/main" val="10004"/>
                  </a:ext>
                </a:extLst>
              </a:tr>
              <a:tr h="360000">
                <a:tc>
                  <a:txBody>
                    <a:bodyPr/>
                    <a:lstStyle/>
                    <a:p>
                      <a:pPr algn="ctr"/>
                      <a:r>
                        <a:rPr lang="en-US" sz="1150" b="0">
                          <a:solidFill>
                            <a:srgbClr val="2A2A2A"/>
                          </a:solidFill>
                        </a:rPr>
                        <a:t>FR-AD-05</a:t>
                      </a:r>
                    </a:p>
                  </a:txBody>
                  <a:tcPr marL="57150" marR="57150" marT="38100" marB="38100"/>
                </a:tc>
                <a:tc>
                  <a:txBody>
                    <a:bodyPr/>
                    <a:lstStyle/>
                    <a:p>
                      <a:pPr algn="l"/>
                      <a:r>
                        <a:rPr lang="en-US" sz="1150" b="0">
                          <a:solidFill>
                            <a:srgbClr val="2A2A2A"/>
                          </a:solidFill>
                        </a:rPr>
                        <a:t>The Admin shall be able to view registered customer profiles, contact numbers, email verification status, and recent activity.</a:t>
                      </a:r>
                    </a:p>
                  </a:txBody>
                  <a:tcPr marL="57150" marR="57150" marT="38100" marB="38100"/>
                </a:tc>
                <a:tc>
                  <a:txBody>
                    <a:bodyPr/>
                    <a:lstStyle/>
                    <a:p>
                      <a:pPr algn="l"/>
                      <a:r>
                        <a:rPr lang="en-US" sz="1150" b="0">
                          <a:solidFill>
                            <a:srgbClr val="2A2A2A"/>
                          </a:solidFill>
                        </a:rPr>
                        <a:t>Provides operational visibility into customer accounts and incoming booking queues.</a:t>
                      </a:r>
                    </a:p>
                  </a:txBody>
                  <a:tcPr marL="57150" marR="57150" marT="38100" marB="38100"/>
                </a:tc>
                <a:extLst>
                  <a:ext uri="{0D108BD9-81ED-4DB2-BD59-A6C34878D82A}">
                    <a16:rowId xmlns:a16="http://schemas.microsoft.com/office/drawing/2014/main" val="10005"/>
                  </a:ext>
                </a:extLst>
              </a:tr>
              <a:tr h="360000">
                <a:tc>
                  <a:txBody>
                    <a:bodyPr/>
                    <a:lstStyle/>
                    <a:p>
                      <a:pPr algn="ctr"/>
                      <a:r>
                        <a:rPr lang="en-US" sz="1150" b="0">
                          <a:solidFill>
                            <a:srgbClr val="2A2A2A"/>
                          </a:solidFill>
                        </a:rPr>
                        <a:t>FR-AD-06</a:t>
                      </a:r>
                    </a:p>
                  </a:txBody>
                  <a:tcPr marL="57150" marR="57150" marT="38100" marB="38100"/>
                </a:tc>
                <a:tc>
                  <a:txBody>
                    <a:bodyPr/>
                    <a:lstStyle/>
                    <a:p>
                      <a:pPr algn="l"/>
                      <a:r>
                        <a:rPr lang="en-US" sz="1150" b="0">
                          <a:solidFill>
                            <a:srgbClr val="2A2A2A"/>
                          </a:solidFill>
                        </a:rPr>
                        <a:t>The Admin shall be able to update order fulfillment lifecycle statuses ('Pending', 'Confirmed', 'Dispatched', 'Delivered', 'Returned', 'Cancelled').</a:t>
                      </a:r>
                    </a:p>
                  </a:txBody>
                  <a:tcPr marL="57150" marR="57150" marT="38100" marB="38100"/>
                </a:tc>
                <a:tc>
                  <a:txBody>
                    <a:bodyPr/>
                    <a:lstStyle/>
                    <a:p>
                      <a:pPr algn="l"/>
                      <a:r>
                        <a:rPr lang="en-US" sz="1150" b="0">
                          <a:solidFill>
                            <a:srgbClr val="2A2A2A"/>
                          </a:solidFill>
                        </a:rPr>
                        <a:t>Drives logistics management; automatically restores hardware unit stock upon Return or Cancellation.</a:t>
                      </a:r>
                    </a:p>
                  </a:txBody>
                  <a:tcPr marL="57150" marR="57150" marT="38100" marB="38100"/>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79A492DE-2975-B3B7-EECF-DE4E76D8F44F}"/>
              </a:ext>
            </a:extLst>
          </p:cNvPr>
          <p:cNvSpPr txBox="1"/>
          <p:nvPr/>
        </p:nvSpPr>
        <p:spPr>
          <a:xfrm>
            <a:off x="2402540" y="723692"/>
            <a:ext cx="6248400" cy="461665"/>
          </a:xfrm>
          <a:prstGeom prst="rect">
            <a:avLst/>
          </a:prstGeom>
          <a:noFill/>
        </p:spPr>
        <p:txBody>
          <a:bodyPr wrap="square">
            <a:spAutoFit/>
          </a:bodyPr>
          <a:lstStyle/>
          <a:p>
            <a:pPr algn="ctr"/>
            <a:r>
              <a:rPr lang="en-IN" sz="2400" b="1" u="sng" dirty="0"/>
              <a:t>Admin Portal - </a:t>
            </a:r>
            <a:r>
              <a:rPr lang="en-IN" sz="2400" b="1" u="sng" dirty="0">
                <a:latin typeface="Google Sans Text"/>
              </a:rPr>
              <a:t>Functional Requirements</a:t>
            </a:r>
            <a:endParaRPr lang="en-IN" sz="2400" b="1" u="sng" dirty="0"/>
          </a:p>
        </p:txBody>
      </p:sp>
    </p:spTree>
    <p:extLst>
      <p:ext uri="{BB962C8B-B14F-4D97-AF65-F5344CB8AC3E}">
        <p14:creationId xmlns:p14="http://schemas.microsoft.com/office/powerpoint/2010/main" val="251736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F2767-05AC-9FEE-9826-249F58DA6D4F}"/>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F5271F0B-D8E6-0D49-2180-9E2898BCBCB0}"/>
              </a:ext>
            </a:extLst>
          </p:cNvPr>
          <p:cNvSpPr txBox="1">
            <a:spLocks/>
          </p:cNvSpPr>
          <p:nvPr/>
        </p:nvSpPr>
        <p:spPr>
          <a:xfrm>
            <a:off x="1881808" y="365125"/>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D9089FF6-FABB-69BC-4F89-F5217579B9CE}"/>
              </a:ext>
            </a:extLst>
          </p:cNvPr>
          <p:cNvSpPr txBox="1">
            <a:spLocks/>
          </p:cNvSpPr>
          <p:nvPr/>
        </p:nvSpPr>
        <p:spPr>
          <a:xfrm>
            <a:off x="2402540" y="1825625"/>
            <a:ext cx="8951259"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6CF033DE-76D5-23F0-3016-44A9C7E4A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307975"/>
            <a:ext cx="3200400" cy="2133600"/>
          </a:xfrm>
          <a:prstGeom prst="rect">
            <a:avLst/>
          </a:prstGeom>
        </p:spPr>
      </p:pic>
      <p:pic>
        <p:nvPicPr>
          <p:cNvPr id="21" name="Picture 20">
            <a:extLst>
              <a:ext uri="{FF2B5EF4-FFF2-40B4-BE49-F238E27FC236}">
                <a16:creationId xmlns:a16="http://schemas.microsoft.com/office/drawing/2014/main" id="{1C114BF6-6708-E0D3-7A72-BDD66F9E6B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3" name="Table 2">
            <a:extLst>
              <a:ext uri="{FF2B5EF4-FFF2-40B4-BE49-F238E27FC236}">
                <a16:creationId xmlns:a16="http://schemas.microsoft.com/office/drawing/2014/main" id="{A5627737-93FF-20FB-7640-28601DBA4841}"/>
              </a:ext>
            </a:extLst>
          </p:cNvPr>
          <p:cNvGraphicFramePr>
            <a:graphicFrameLocks noGrp="1"/>
          </p:cNvGraphicFramePr>
          <p:nvPr>
            <p:extLst>
              <p:ext uri="{D42A27DB-BD31-4B8C-83A1-F6EECF244321}">
                <p14:modId xmlns:p14="http://schemas.microsoft.com/office/powerpoint/2010/main" val="2693762542"/>
              </p:ext>
            </p:extLst>
          </p:nvPr>
        </p:nvGraphicFramePr>
        <p:xfrm>
          <a:off x="877712" y="1622611"/>
          <a:ext cx="10355063" cy="2880320"/>
        </p:xfrm>
        <a:graphic>
          <a:graphicData uri="http://schemas.openxmlformats.org/drawingml/2006/table">
            <a:tbl>
              <a:tblPr/>
              <a:tblGrid>
                <a:gridCol w="1094437">
                  <a:extLst>
                    <a:ext uri="{9D8B030D-6E8A-4147-A177-3AD203B41FA5}">
                      <a16:colId xmlns:a16="http://schemas.microsoft.com/office/drawing/2014/main" val="1079046296"/>
                    </a:ext>
                  </a:extLst>
                </a:gridCol>
                <a:gridCol w="5219626">
                  <a:extLst>
                    <a:ext uri="{9D8B030D-6E8A-4147-A177-3AD203B41FA5}">
                      <a16:colId xmlns:a16="http://schemas.microsoft.com/office/drawing/2014/main" val="2874258563"/>
                    </a:ext>
                  </a:extLst>
                </a:gridCol>
                <a:gridCol w="4041000">
                  <a:extLst>
                    <a:ext uri="{9D8B030D-6E8A-4147-A177-3AD203B41FA5}">
                      <a16:colId xmlns:a16="http://schemas.microsoft.com/office/drawing/2014/main" val="3824821379"/>
                    </a:ext>
                  </a:extLst>
                </a:gridCol>
              </a:tblGrid>
              <a:tr h="320000">
                <a:tc>
                  <a:txBody>
                    <a:bodyPr/>
                    <a:lstStyle/>
                    <a:p>
                      <a:pPr algn="ctr"/>
                      <a:r>
                        <a:rPr lang="en-US" sz="1250" b="1">
                          <a:solidFill>
                            <a:srgbClr val="E3E3E3"/>
                          </a:solidFill>
                        </a:rPr>
                        <a:t>FRN</a:t>
                      </a:r>
                    </a:p>
                  </a:txBody>
                  <a:tcPr marL="57150" marR="57150" marT="38100" marB="38100"/>
                </a:tc>
                <a:tc>
                  <a:txBody>
                    <a:bodyPr/>
                    <a:lstStyle/>
                    <a:p>
                      <a:pPr algn="ctr"/>
                      <a:r>
                        <a:rPr lang="en-US" sz="1250" b="1">
                          <a:solidFill>
                            <a:srgbClr val="E3E3E3"/>
                          </a:solidFill>
                        </a:rPr>
                        <a:t>Description</a:t>
                      </a:r>
                    </a:p>
                  </a:txBody>
                  <a:tcPr marL="57150" marR="57150" marT="38100" marB="38100"/>
                </a:tc>
                <a:tc>
                  <a:txBody>
                    <a:bodyPr/>
                    <a:lstStyle/>
                    <a:p>
                      <a:pPr algn="ctr"/>
                      <a:r>
                        <a:rPr lang="en-US" sz="1250" b="1">
                          <a:solidFill>
                            <a:srgbClr val="E3E3E3"/>
                          </a:solidFill>
                        </a:rPr>
                        <a:t>Comment / Purpose</a:t>
                      </a:r>
                    </a:p>
                  </a:txBody>
                  <a:tcPr marL="57150" marR="57150" marT="38100" marB="38100"/>
                </a:tc>
                <a:extLst>
                  <a:ext uri="{0D108BD9-81ED-4DB2-BD59-A6C34878D82A}">
                    <a16:rowId xmlns:a16="http://schemas.microsoft.com/office/drawing/2014/main" val="10000"/>
                  </a:ext>
                </a:extLst>
              </a:tr>
              <a:tr h="360000">
                <a:tc>
                  <a:txBody>
                    <a:bodyPr/>
                    <a:lstStyle/>
                    <a:p>
                      <a:pPr algn="ctr"/>
                      <a:r>
                        <a:rPr lang="en-US" sz="1150" b="0">
                          <a:solidFill>
                            <a:srgbClr val="2A2A2A"/>
                          </a:solidFill>
                        </a:rPr>
                        <a:t>FR-CU-01</a:t>
                      </a:r>
                    </a:p>
                  </a:txBody>
                  <a:tcPr marL="57150" marR="57150" marT="38100" marB="38100"/>
                </a:tc>
                <a:tc>
                  <a:txBody>
                    <a:bodyPr/>
                    <a:lstStyle/>
                    <a:p>
                      <a:pPr algn="l"/>
                      <a:r>
                        <a:rPr lang="en-US" sz="1150" b="0">
                          <a:solidFill>
                            <a:srgbClr val="2A2A2A"/>
                          </a:solidFill>
                        </a:rPr>
                        <a:t>Customers shall be able to register with 6-digit email OTP verification, securely log in, and log out.</a:t>
                      </a:r>
                    </a:p>
                  </a:txBody>
                  <a:tcPr marL="57150" marR="57150" marT="38100" marB="38100"/>
                </a:tc>
                <a:tc>
                  <a:txBody>
                    <a:bodyPr/>
                    <a:lstStyle/>
                    <a:p>
                      <a:pPr algn="l"/>
                      <a:r>
                        <a:rPr lang="en-US" sz="1150" b="0">
                          <a:solidFill>
                            <a:srgbClr val="2A2A2A"/>
                          </a:solidFill>
                        </a:rPr>
                        <a:t>Manages customer session identity, password security (bcrypt), and account verification.</a:t>
                      </a:r>
                    </a:p>
                  </a:txBody>
                  <a:tcPr marL="57150" marR="57150" marT="38100" marB="38100"/>
                </a:tc>
                <a:extLst>
                  <a:ext uri="{0D108BD9-81ED-4DB2-BD59-A6C34878D82A}">
                    <a16:rowId xmlns:a16="http://schemas.microsoft.com/office/drawing/2014/main" val="10001"/>
                  </a:ext>
                </a:extLst>
              </a:tr>
              <a:tr h="360000">
                <a:tc>
                  <a:txBody>
                    <a:bodyPr/>
                    <a:lstStyle/>
                    <a:p>
                      <a:pPr algn="ctr"/>
                      <a:r>
                        <a:rPr lang="en-US" sz="1150" b="0">
                          <a:solidFill>
                            <a:srgbClr val="2A2A2A"/>
                          </a:solidFill>
                        </a:rPr>
                        <a:t>FR-CU-02</a:t>
                      </a:r>
                    </a:p>
                  </a:txBody>
                  <a:tcPr marL="57150" marR="57150" marT="38100" marB="38100"/>
                </a:tc>
                <a:tc>
                  <a:txBody>
                    <a:bodyPr/>
                    <a:lstStyle/>
                    <a:p>
                      <a:pPr algn="l"/>
                      <a:r>
                        <a:rPr lang="en-US" sz="1150" b="0">
                          <a:solidFill>
                            <a:srgbClr val="2A2A2A"/>
                          </a:solidFill>
                        </a:rPr>
                        <a:t>Customers shall be able to search and browse consoles, games, and gear filtered across 8 categories.</a:t>
                      </a:r>
                    </a:p>
                  </a:txBody>
                  <a:tcPr marL="57150" marR="57150" marT="38100" marB="38100"/>
                </a:tc>
                <a:tc>
                  <a:txBody>
                    <a:bodyPr/>
                    <a:lstStyle/>
                    <a:p>
                      <a:pPr algn="l"/>
                      <a:r>
                        <a:rPr lang="en-US" sz="1150" b="0">
                          <a:solidFill>
                            <a:srgbClr val="2A2A2A"/>
                          </a:solidFill>
                        </a:rPr>
                        <a:t>Helps customers quickly locate specific gaming hardware, titles, or digital accounts.</a:t>
                      </a:r>
                    </a:p>
                  </a:txBody>
                  <a:tcPr marL="57150" marR="57150" marT="38100" marB="38100"/>
                </a:tc>
                <a:extLst>
                  <a:ext uri="{0D108BD9-81ED-4DB2-BD59-A6C34878D82A}">
                    <a16:rowId xmlns:a16="http://schemas.microsoft.com/office/drawing/2014/main" val="10002"/>
                  </a:ext>
                </a:extLst>
              </a:tr>
              <a:tr h="360000">
                <a:tc>
                  <a:txBody>
                    <a:bodyPr/>
                    <a:lstStyle/>
                    <a:p>
                      <a:pPr algn="ctr"/>
                      <a:r>
                        <a:rPr lang="en-US" sz="1150" b="0">
                          <a:solidFill>
                            <a:srgbClr val="2A2A2A"/>
                          </a:solidFill>
                        </a:rPr>
                        <a:t>FR-CU-03</a:t>
                      </a:r>
                    </a:p>
                  </a:txBody>
                  <a:tcPr marL="57150" marR="57150" marT="38100" marB="38100"/>
                </a:tc>
                <a:tc>
                  <a:txBody>
                    <a:bodyPr/>
                    <a:lstStyle/>
                    <a:p>
                      <a:pPr algn="l"/>
                      <a:r>
                        <a:rPr lang="en-US" sz="1150" b="0">
                          <a:solidFill>
                            <a:srgbClr val="2A2A2A"/>
                          </a:solidFill>
                        </a:rPr>
                        <a:t>Customers shall be able to select valid delivery and return dates for desired rentals.</a:t>
                      </a:r>
                    </a:p>
                  </a:txBody>
                  <a:tcPr marL="57150" marR="57150" marT="38100" marB="38100"/>
                </a:tc>
                <a:tc>
                  <a:txBody>
                    <a:bodyPr/>
                    <a:lstStyle/>
                    <a:p>
                      <a:pPr algn="l"/>
                      <a:r>
                        <a:rPr lang="en-US" sz="1150" b="0">
                          <a:solidFill>
                            <a:srgbClr val="2A2A2A"/>
                          </a:solidFill>
                        </a:rPr>
                        <a:t>Sets the start and end period, automatically computing rental duration (days) and subtotal price.</a:t>
                      </a:r>
                    </a:p>
                  </a:txBody>
                  <a:tcPr marL="57150" marR="57150" marT="38100" marB="38100"/>
                </a:tc>
                <a:extLst>
                  <a:ext uri="{0D108BD9-81ED-4DB2-BD59-A6C34878D82A}">
                    <a16:rowId xmlns:a16="http://schemas.microsoft.com/office/drawing/2014/main" val="10003"/>
                  </a:ext>
                </a:extLst>
              </a:tr>
              <a:tr h="360000">
                <a:tc>
                  <a:txBody>
                    <a:bodyPr/>
                    <a:lstStyle/>
                    <a:p>
                      <a:pPr algn="ctr"/>
                      <a:r>
                        <a:rPr lang="en-US" sz="1150" b="0">
                          <a:solidFill>
                            <a:srgbClr val="2A2A2A"/>
                          </a:solidFill>
                        </a:rPr>
                        <a:t>FR-CU-04</a:t>
                      </a:r>
                    </a:p>
                  </a:txBody>
                  <a:tcPr marL="57150" marR="57150" marT="38100" marB="38100"/>
                </a:tc>
                <a:tc>
                  <a:txBody>
                    <a:bodyPr/>
                    <a:lstStyle/>
                    <a:p>
                      <a:pPr algn="l"/>
                      <a:r>
                        <a:rPr lang="en-US" sz="1150" b="0">
                          <a:solidFill>
                            <a:srgbClr val="2A2A2A"/>
                          </a:solidFill>
                        </a:rPr>
                        <a:t>Customers shall be able to add multiple rental items to a shopping cart and review cart contents prior to checkout.</a:t>
                      </a:r>
                    </a:p>
                  </a:txBody>
                  <a:tcPr marL="57150" marR="57150" marT="38100" marB="38100"/>
                </a:tc>
                <a:tc>
                  <a:txBody>
                    <a:bodyPr/>
                    <a:lstStyle/>
                    <a:p>
                      <a:pPr algn="l"/>
                      <a:r>
                        <a:rPr lang="en-US" sz="1150" b="0">
                          <a:solidFill>
                            <a:srgbClr val="2A2A2A"/>
                          </a:solidFill>
                        </a:rPr>
                        <a:t>Enables multi-item rental bookings with real-time stock check in a single transaction.</a:t>
                      </a:r>
                    </a:p>
                  </a:txBody>
                  <a:tcPr marL="57150" marR="57150" marT="38100" marB="38100"/>
                </a:tc>
                <a:extLst>
                  <a:ext uri="{0D108BD9-81ED-4DB2-BD59-A6C34878D82A}">
                    <a16:rowId xmlns:a16="http://schemas.microsoft.com/office/drawing/2014/main" val="10004"/>
                  </a:ext>
                </a:extLst>
              </a:tr>
              <a:tr h="360000">
                <a:tc>
                  <a:txBody>
                    <a:bodyPr/>
                    <a:lstStyle/>
                    <a:p>
                      <a:pPr algn="ctr"/>
                      <a:r>
                        <a:rPr lang="en-US" sz="1150" b="0">
                          <a:solidFill>
                            <a:srgbClr val="2A2A2A"/>
                          </a:solidFill>
                        </a:rPr>
                        <a:t>FR-CU-05</a:t>
                      </a:r>
                    </a:p>
                  </a:txBody>
                  <a:tcPr marL="57150" marR="57150" marT="38100" marB="38100"/>
                </a:tc>
                <a:tc>
                  <a:txBody>
                    <a:bodyPr/>
                    <a:lstStyle/>
                    <a:p>
                      <a:pPr algn="l"/>
                      <a:r>
                        <a:rPr lang="en-US" sz="1150" b="0">
                          <a:solidFill>
                            <a:srgbClr val="2A2A2A"/>
                          </a:solidFill>
                        </a:rPr>
                        <a:t>Customers shall be able to enter detailed shipping addresses including street, landmark, city, state, and pincode.</a:t>
                      </a:r>
                    </a:p>
                  </a:txBody>
                  <a:tcPr marL="57150" marR="57150" marT="38100" marB="38100"/>
                </a:tc>
                <a:tc>
                  <a:txBody>
                    <a:bodyPr/>
                    <a:lstStyle/>
                    <a:p>
                      <a:pPr algn="l"/>
                      <a:r>
                        <a:rPr lang="en-US" sz="1150" b="0">
                          <a:solidFill>
                            <a:srgbClr val="2A2A2A"/>
                          </a:solidFill>
                        </a:rPr>
                        <a:t>Captures exact logistics and location details for delivery fulfillment.</a:t>
                      </a:r>
                    </a:p>
                  </a:txBody>
                  <a:tcPr marL="57150" marR="57150" marT="38100" marB="38100"/>
                </a:tc>
                <a:extLst>
                  <a:ext uri="{0D108BD9-81ED-4DB2-BD59-A6C34878D82A}">
                    <a16:rowId xmlns:a16="http://schemas.microsoft.com/office/drawing/2014/main" val="10005"/>
                  </a:ext>
                </a:extLst>
              </a:tr>
              <a:tr h="360000">
                <a:tc>
                  <a:txBody>
                    <a:bodyPr/>
                    <a:lstStyle/>
                    <a:p>
                      <a:pPr algn="ctr"/>
                      <a:r>
                        <a:rPr lang="en-US" sz="1150" b="0">
                          <a:solidFill>
                            <a:srgbClr val="2A2A2A"/>
                          </a:solidFill>
                        </a:rPr>
                        <a:t>FR-CU-06</a:t>
                      </a:r>
                    </a:p>
                  </a:txBody>
                  <a:tcPr marL="57150" marR="57150" marT="38100" marB="38100"/>
                </a:tc>
                <a:tc>
                  <a:txBody>
                    <a:bodyPr/>
                    <a:lstStyle/>
                    <a:p>
                      <a:pPr algn="l"/>
                      <a:r>
                        <a:rPr lang="en-US" sz="1150" b="0">
                          <a:solidFill>
                            <a:srgbClr val="2A2A2A"/>
                          </a:solidFill>
                        </a:rPr>
                        <a:t>The system shall process secure online payments via Razorpay and generate a unique alphanumeric Booking ID.</a:t>
                      </a:r>
                    </a:p>
                  </a:txBody>
                  <a:tcPr marL="57150" marR="57150" marT="38100" marB="38100"/>
                </a:tc>
                <a:tc>
                  <a:txBody>
                    <a:bodyPr/>
                    <a:lstStyle/>
                    <a:p>
                      <a:pPr algn="l"/>
                      <a:r>
                        <a:rPr lang="en-US" sz="1150" b="0">
                          <a:solidFill>
                            <a:srgbClr val="2A2A2A"/>
                          </a:solidFill>
                        </a:rPr>
                        <a:t>Confirms the rental transaction, creates booking records, and allocates physical hardware units.</a:t>
                      </a:r>
                    </a:p>
                  </a:txBody>
                  <a:tcPr marL="57150" marR="57150" marT="38100" marB="38100"/>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FEF9CC6A-6950-033F-968B-A1A8F18E1087}"/>
              </a:ext>
            </a:extLst>
          </p:cNvPr>
          <p:cNvSpPr txBox="1"/>
          <p:nvPr/>
        </p:nvSpPr>
        <p:spPr>
          <a:xfrm>
            <a:off x="2545975" y="668617"/>
            <a:ext cx="6248400" cy="461665"/>
          </a:xfrm>
          <a:prstGeom prst="rect">
            <a:avLst/>
          </a:prstGeom>
          <a:noFill/>
        </p:spPr>
        <p:txBody>
          <a:bodyPr wrap="square">
            <a:spAutoFit/>
          </a:bodyPr>
          <a:lstStyle/>
          <a:p>
            <a:pPr algn="ctr"/>
            <a:r>
              <a:rPr lang="en-IN" sz="2400" b="1" u="sng" dirty="0"/>
              <a:t>Customer Portal - </a:t>
            </a:r>
            <a:r>
              <a:rPr lang="en-IN" sz="2400" b="1" u="sng" dirty="0">
                <a:latin typeface="Google Sans Text"/>
              </a:rPr>
              <a:t>Functional Requirements</a:t>
            </a:r>
            <a:endParaRPr lang="en-IN" sz="2400" b="1" u="sng" dirty="0"/>
          </a:p>
        </p:txBody>
      </p:sp>
    </p:spTree>
    <p:extLst>
      <p:ext uri="{BB962C8B-B14F-4D97-AF65-F5344CB8AC3E}">
        <p14:creationId xmlns:p14="http://schemas.microsoft.com/office/powerpoint/2010/main" val="1063060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8854-3586-842E-21A7-F78D96F69BFD}"/>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1A0E491-A9DC-EC91-3911-45DB1602DD0F}"/>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3E325BC0-9162-EABD-7320-015797E2198B}"/>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6A00C40E-0E8F-63EB-7CC5-01125C587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266700"/>
            <a:ext cx="3200400" cy="2133600"/>
          </a:xfrm>
          <a:prstGeom prst="rect">
            <a:avLst/>
          </a:prstGeom>
        </p:spPr>
      </p:pic>
      <p:pic>
        <p:nvPicPr>
          <p:cNvPr id="21" name="Picture 20">
            <a:extLst>
              <a:ext uri="{FF2B5EF4-FFF2-40B4-BE49-F238E27FC236}">
                <a16:creationId xmlns:a16="http://schemas.microsoft.com/office/drawing/2014/main" id="{87167A7D-A7CC-3F8B-5D77-E14A455B9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AC6FEC81-094A-837A-20CD-48D2D8F79F51}"/>
              </a:ext>
            </a:extLst>
          </p:cNvPr>
          <p:cNvSpPr txBox="1"/>
          <p:nvPr/>
        </p:nvSpPr>
        <p:spPr>
          <a:xfrm>
            <a:off x="2545975" y="626072"/>
            <a:ext cx="6248400" cy="830997"/>
          </a:xfrm>
          <a:prstGeom prst="rect">
            <a:avLst/>
          </a:prstGeom>
          <a:noFill/>
        </p:spPr>
        <p:txBody>
          <a:bodyPr wrap="square">
            <a:spAutoFit/>
          </a:bodyPr>
          <a:lstStyle/>
          <a:p>
            <a:pPr algn="ctr"/>
            <a:r>
              <a:rPr lang="en-IN" sz="2400" b="1" u="sng" dirty="0">
                <a:latin typeface="Calibri "/>
              </a:rPr>
              <a:t>Customer Portal - Functional Requirements(</a:t>
            </a:r>
            <a:r>
              <a:rPr lang="en-IN" sz="2400" b="1" u="sng" dirty="0" err="1">
                <a:latin typeface="Calibri "/>
              </a:rPr>
              <a:t>conti</a:t>
            </a:r>
            <a:r>
              <a:rPr lang="en-IN" sz="2400" b="1" u="sng" dirty="0">
                <a:latin typeface="Calibri "/>
              </a:rPr>
              <a:t>…)</a:t>
            </a:r>
          </a:p>
        </p:txBody>
      </p:sp>
      <p:graphicFrame>
        <p:nvGraphicFramePr>
          <p:cNvPr id="2" name="Table 1">
            <a:extLst>
              <a:ext uri="{FF2B5EF4-FFF2-40B4-BE49-F238E27FC236}">
                <a16:creationId xmlns:a16="http://schemas.microsoft.com/office/drawing/2014/main" id="{F505DA7F-E114-1982-C5B6-63215D1366EE}"/>
              </a:ext>
            </a:extLst>
          </p:cNvPr>
          <p:cNvGraphicFramePr>
            <a:graphicFrameLocks noGrp="1"/>
          </p:cNvGraphicFramePr>
          <p:nvPr>
            <p:extLst>
              <p:ext uri="{D42A27DB-BD31-4B8C-83A1-F6EECF244321}">
                <p14:modId xmlns:p14="http://schemas.microsoft.com/office/powerpoint/2010/main" val="2292519023"/>
              </p:ext>
            </p:extLst>
          </p:nvPr>
        </p:nvGraphicFramePr>
        <p:xfrm>
          <a:off x="944880" y="1951635"/>
          <a:ext cx="10296861" cy="1691600"/>
        </p:xfrm>
        <a:graphic>
          <a:graphicData uri="http://schemas.openxmlformats.org/drawingml/2006/table">
            <a:tbl>
              <a:tblPr/>
              <a:tblGrid>
                <a:gridCol w="1088286">
                  <a:extLst>
                    <a:ext uri="{9D8B030D-6E8A-4147-A177-3AD203B41FA5}">
                      <a16:colId xmlns:a16="http://schemas.microsoft.com/office/drawing/2014/main" val="3802557436"/>
                    </a:ext>
                  </a:extLst>
                </a:gridCol>
                <a:gridCol w="5190288">
                  <a:extLst>
                    <a:ext uri="{9D8B030D-6E8A-4147-A177-3AD203B41FA5}">
                      <a16:colId xmlns:a16="http://schemas.microsoft.com/office/drawing/2014/main" val="2028625612"/>
                    </a:ext>
                  </a:extLst>
                </a:gridCol>
                <a:gridCol w="4018287">
                  <a:extLst>
                    <a:ext uri="{9D8B030D-6E8A-4147-A177-3AD203B41FA5}">
                      <a16:colId xmlns:a16="http://schemas.microsoft.com/office/drawing/2014/main" val="1819813698"/>
                    </a:ext>
                  </a:extLst>
                </a:gridCol>
              </a:tblGrid>
              <a:tr h="320000">
                <a:tc>
                  <a:txBody>
                    <a:bodyPr/>
                    <a:lstStyle/>
                    <a:p>
                      <a:pPr algn="ctr"/>
                      <a:r>
                        <a:rPr lang="en-US" sz="1350" b="1">
                          <a:solidFill>
                            <a:srgbClr val="E3E3E3"/>
                          </a:solidFill>
                        </a:rPr>
                        <a:t>FRN</a:t>
                      </a:r>
                    </a:p>
                  </a:txBody>
                  <a:tcPr marL="57150" marR="57150" marT="38100" marB="38100"/>
                </a:tc>
                <a:tc>
                  <a:txBody>
                    <a:bodyPr/>
                    <a:lstStyle/>
                    <a:p>
                      <a:pPr algn="ctr"/>
                      <a:r>
                        <a:rPr lang="en-US" sz="1350" b="1">
                          <a:solidFill>
                            <a:srgbClr val="E3E3E3"/>
                          </a:solidFill>
                        </a:rPr>
                        <a:t>Description</a:t>
                      </a:r>
                    </a:p>
                  </a:txBody>
                  <a:tcPr marL="57150" marR="57150" marT="38100" marB="38100"/>
                </a:tc>
                <a:tc>
                  <a:txBody>
                    <a:bodyPr/>
                    <a:lstStyle/>
                    <a:p>
                      <a:pPr algn="ctr"/>
                      <a:r>
                        <a:rPr lang="en-US" sz="1350" b="1">
                          <a:solidFill>
                            <a:srgbClr val="E3E3E3"/>
                          </a:solidFill>
                        </a:rPr>
                        <a:t>Comment / Purpose</a:t>
                      </a:r>
                    </a:p>
                  </a:txBody>
                  <a:tcPr marL="57150" marR="57150" marT="38100" marB="38100"/>
                </a:tc>
                <a:extLst>
                  <a:ext uri="{0D108BD9-81ED-4DB2-BD59-A6C34878D82A}">
                    <a16:rowId xmlns:a16="http://schemas.microsoft.com/office/drawing/2014/main" val="10000"/>
                  </a:ext>
                </a:extLst>
              </a:tr>
              <a:tr h="450000">
                <a:tc>
                  <a:txBody>
                    <a:bodyPr/>
                    <a:lstStyle/>
                    <a:p>
                      <a:pPr algn="ctr"/>
                      <a:r>
                        <a:rPr lang="en-US" sz="1250" b="0">
                          <a:solidFill>
                            <a:srgbClr val="2A2A2A"/>
                          </a:solidFill>
                        </a:rPr>
                        <a:t>FR-CU-07</a:t>
                      </a:r>
                    </a:p>
                  </a:txBody>
                  <a:tcPr marL="57150" marR="57150" marT="38100" marB="38100"/>
                </a:tc>
                <a:tc>
                  <a:txBody>
                    <a:bodyPr/>
                    <a:lstStyle/>
                    <a:p>
                      <a:pPr algn="l"/>
                      <a:r>
                        <a:rPr lang="en-US" sz="1250" b="0">
                          <a:solidFill>
                            <a:srgbClr val="2A2A2A"/>
                          </a:solidFill>
                        </a:rPr>
                        <a:t>Customers shall receive an automated itemized HTML booking confirmation email via PHPMailer SMTP.</a:t>
                      </a:r>
                    </a:p>
                  </a:txBody>
                  <a:tcPr marL="57150" marR="57150" marT="38100" marB="38100"/>
                </a:tc>
                <a:tc>
                  <a:txBody>
                    <a:bodyPr/>
                    <a:lstStyle/>
                    <a:p>
                      <a:pPr algn="l"/>
                      <a:r>
                        <a:rPr lang="en-US" sz="1250" b="0">
                          <a:solidFill>
                            <a:srgbClr val="2A2A2A"/>
                          </a:solidFill>
                        </a:rPr>
                        <a:t>Provides instant payment receipts and rental delivery schedules directly to user inbox.</a:t>
                      </a:r>
                    </a:p>
                  </a:txBody>
                  <a:tcPr marL="57150" marR="57150" marT="38100" marB="38100"/>
                </a:tc>
                <a:extLst>
                  <a:ext uri="{0D108BD9-81ED-4DB2-BD59-A6C34878D82A}">
                    <a16:rowId xmlns:a16="http://schemas.microsoft.com/office/drawing/2014/main" val="10001"/>
                  </a:ext>
                </a:extLst>
              </a:tr>
              <a:tr h="450000">
                <a:tc>
                  <a:txBody>
                    <a:bodyPr/>
                    <a:lstStyle/>
                    <a:p>
                      <a:pPr algn="ctr"/>
                      <a:r>
                        <a:rPr lang="en-US" sz="1250" b="0">
                          <a:solidFill>
                            <a:srgbClr val="2A2A2A"/>
                          </a:solidFill>
                        </a:rPr>
                        <a:t>FR-CU-08</a:t>
                      </a:r>
                    </a:p>
                  </a:txBody>
                  <a:tcPr marL="57150" marR="57150" marT="38100" marB="38100"/>
                </a:tc>
                <a:tc>
                  <a:txBody>
                    <a:bodyPr/>
                    <a:lstStyle/>
                    <a:p>
                      <a:pPr algn="l"/>
                      <a:r>
                        <a:rPr lang="en-US" sz="1250" b="0">
                          <a:solidFill>
                            <a:srgbClr val="2A2A2A"/>
                          </a:solidFill>
                        </a:rPr>
                        <a:t>Customers shall be able to view their complete rental booking history and live order fulfillment status.</a:t>
                      </a:r>
                    </a:p>
                  </a:txBody>
                  <a:tcPr marL="57150" marR="57150" marT="38100" marB="38100"/>
                </a:tc>
                <a:tc>
                  <a:txBody>
                    <a:bodyPr/>
                    <a:lstStyle/>
                    <a:p>
                      <a:pPr algn="l"/>
                      <a:r>
                        <a:rPr lang="en-US" sz="1250" b="0">
                          <a:solidFill>
                            <a:srgbClr val="2A2A2A"/>
                          </a:solidFill>
                        </a:rPr>
                        <a:t>Allows customers to track active, dispatched, delivered, and past orders.</a:t>
                      </a:r>
                    </a:p>
                  </a:txBody>
                  <a:tcPr marL="57150" marR="57150" marT="38100" marB="38100"/>
                </a:tc>
                <a:extLst>
                  <a:ext uri="{0D108BD9-81ED-4DB2-BD59-A6C34878D82A}">
                    <a16:rowId xmlns:a16="http://schemas.microsoft.com/office/drawing/2014/main" val="10002"/>
                  </a:ext>
                </a:extLst>
              </a:tr>
              <a:tr h="450000">
                <a:tc>
                  <a:txBody>
                    <a:bodyPr/>
                    <a:lstStyle/>
                    <a:p>
                      <a:pPr algn="ctr"/>
                      <a:r>
                        <a:rPr lang="en-US" sz="1250" b="0">
                          <a:solidFill>
                            <a:srgbClr val="2A2A2A"/>
                          </a:solidFill>
                        </a:rPr>
                        <a:t>FR-CU-09</a:t>
                      </a:r>
                    </a:p>
                  </a:txBody>
                  <a:tcPr marL="57150" marR="57150" marT="38100" marB="38100"/>
                </a:tc>
                <a:tc>
                  <a:txBody>
                    <a:bodyPr/>
                    <a:lstStyle/>
                    <a:p>
                      <a:pPr algn="l"/>
                      <a:r>
                        <a:rPr lang="en-US" sz="1250" b="0">
                          <a:solidFill>
                            <a:srgbClr val="2A2A2A"/>
                          </a:solidFill>
                        </a:rPr>
                        <a:t>Customers shall be able to cancel eligible orders in 'Pending' status prior to dispatch.</a:t>
                      </a:r>
                    </a:p>
                  </a:txBody>
                  <a:tcPr marL="57150" marR="57150" marT="38100" marB="38100"/>
                </a:tc>
                <a:tc>
                  <a:txBody>
                    <a:bodyPr/>
                    <a:lstStyle/>
                    <a:p>
                      <a:pPr algn="l"/>
                      <a:r>
                        <a:rPr lang="en-US" sz="1250" b="0">
                          <a:solidFill>
                            <a:srgbClr val="2A2A2A"/>
                          </a:solidFill>
                        </a:rPr>
                        <a:t>Offers self-service order cancellation and automatically releases assigned hardware units back to inventory.</a:t>
                      </a:r>
                    </a:p>
                  </a:txBody>
                  <a:tcPr marL="57150" marR="57150" marT="38100" marB="381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17247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03A5-BAAD-6932-C3F3-F25F612F5CC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3573F19-4A60-A5EE-8ACE-31DDA41AC163}"/>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2FE2E8EA-6A23-55E3-4731-238A0F31066A}"/>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89475BF2-C594-8F09-C84C-BA4EC4AC1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56" y="-256073"/>
            <a:ext cx="3200400" cy="2133600"/>
          </a:xfrm>
          <a:prstGeom prst="rect">
            <a:avLst/>
          </a:prstGeom>
        </p:spPr>
      </p:pic>
      <p:pic>
        <p:nvPicPr>
          <p:cNvPr id="21" name="Picture 20">
            <a:extLst>
              <a:ext uri="{FF2B5EF4-FFF2-40B4-BE49-F238E27FC236}">
                <a16:creationId xmlns:a16="http://schemas.microsoft.com/office/drawing/2014/main" id="{144E8460-5388-368D-6C51-C41F8224F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10627"/>
            <a:ext cx="1600200" cy="1600200"/>
          </a:xfrm>
          <a:prstGeom prst="rect">
            <a:avLst/>
          </a:prstGeom>
        </p:spPr>
      </p:pic>
      <p:sp>
        <p:nvSpPr>
          <p:cNvPr id="6" name="TextBox 5">
            <a:extLst>
              <a:ext uri="{FF2B5EF4-FFF2-40B4-BE49-F238E27FC236}">
                <a16:creationId xmlns:a16="http://schemas.microsoft.com/office/drawing/2014/main" id="{0EAFA543-C7C4-516D-672F-E4CA999D83BE}"/>
              </a:ext>
            </a:extLst>
          </p:cNvPr>
          <p:cNvSpPr txBox="1"/>
          <p:nvPr/>
        </p:nvSpPr>
        <p:spPr>
          <a:xfrm>
            <a:off x="2545975" y="626072"/>
            <a:ext cx="6248400" cy="461665"/>
          </a:xfrm>
          <a:prstGeom prst="rect">
            <a:avLst/>
          </a:prstGeom>
          <a:noFill/>
        </p:spPr>
        <p:txBody>
          <a:bodyPr wrap="square">
            <a:spAutoFit/>
          </a:bodyPr>
          <a:lstStyle/>
          <a:p>
            <a:pPr algn="ctr"/>
            <a:r>
              <a:rPr lang="en-IN" sz="2400" b="1" u="sng" dirty="0"/>
              <a:t>Visitor - </a:t>
            </a:r>
            <a:r>
              <a:rPr lang="en-IN" sz="2400" b="1" u="sng" dirty="0">
                <a:latin typeface="Google Sans Text"/>
              </a:rPr>
              <a:t>Functional Requirements</a:t>
            </a:r>
            <a:endParaRPr lang="en-IN" sz="2400" b="1" u="sng" dirty="0"/>
          </a:p>
        </p:txBody>
      </p:sp>
      <p:graphicFrame>
        <p:nvGraphicFramePr>
          <p:cNvPr id="3" name="Table 2">
            <a:extLst>
              <a:ext uri="{FF2B5EF4-FFF2-40B4-BE49-F238E27FC236}">
                <a16:creationId xmlns:a16="http://schemas.microsoft.com/office/drawing/2014/main" id="{518BB120-65A8-963F-5A9F-D34C58E62982}"/>
              </a:ext>
            </a:extLst>
          </p:cNvPr>
          <p:cNvGraphicFramePr>
            <a:graphicFrameLocks noGrp="1"/>
          </p:cNvGraphicFramePr>
          <p:nvPr>
            <p:extLst>
              <p:ext uri="{D42A27DB-BD31-4B8C-83A1-F6EECF244321}">
                <p14:modId xmlns:p14="http://schemas.microsoft.com/office/powerpoint/2010/main" val="2395700456"/>
              </p:ext>
            </p:extLst>
          </p:nvPr>
        </p:nvGraphicFramePr>
        <p:xfrm>
          <a:off x="944880" y="1890225"/>
          <a:ext cx="10287897" cy="2148800"/>
        </p:xfrm>
        <a:graphic>
          <a:graphicData uri="http://schemas.openxmlformats.org/drawingml/2006/table">
            <a:tbl>
              <a:tblPr/>
              <a:tblGrid>
                <a:gridCol w="1087339">
                  <a:extLst>
                    <a:ext uri="{9D8B030D-6E8A-4147-A177-3AD203B41FA5}">
                      <a16:colId xmlns:a16="http://schemas.microsoft.com/office/drawing/2014/main" val="3307672222"/>
                    </a:ext>
                  </a:extLst>
                </a:gridCol>
                <a:gridCol w="5185769">
                  <a:extLst>
                    <a:ext uri="{9D8B030D-6E8A-4147-A177-3AD203B41FA5}">
                      <a16:colId xmlns:a16="http://schemas.microsoft.com/office/drawing/2014/main" val="1330649653"/>
                    </a:ext>
                  </a:extLst>
                </a:gridCol>
                <a:gridCol w="4014789">
                  <a:extLst>
                    <a:ext uri="{9D8B030D-6E8A-4147-A177-3AD203B41FA5}">
                      <a16:colId xmlns:a16="http://schemas.microsoft.com/office/drawing/2014/main" val="854722262"/>
                    </a:ext>
                  </a:extLst>
                </a:gridCol>
              </a:tblGrid>
              <a:tr h="320000">
                <a:tc>
                  <a:txBody>
                    <a:bodyPr/>
                    <a:lstStyle/>
                    <a:p>
                      <a:pPr algn="ctr"/>
                      <a:r>
                        <a:rPr lang="en-US" sz="1350" b="1">
                          <a:solidFill>
                            <a:srgbClr val="E3E3E3"/>
                          </a:solidFill>
                        </a:rPr>
                        <a:t>FRN</a:t>
                      </a:r>
                    </a:p>
                  </a:txBody>
                  <a:tcPr marL="57150" marR="57150" marT="38100" marB="38100"/>
                </a:tc>
                <a:tc>
                  <a:txBody>
                    <a:bodyPr/>
                    <a:lstStyle/>
                    <a:p>
                      <a:pPr algn="ctr"/>
                      <a:r>
                        <a:rPr lang="en-US" sz="1350" b="1">
                          <a:solidFill>
                            <a:srgbClr val="E3E3E3"/>
                          </a:solidFill>
                        </a:rPr>
                        <a:t>Description</a:t>
                      </a:r>
                    </a:p>
                  </a:txBody>
                  <a:tcPr marL="57150" marR="57150" marT="38100" marB="38100"/>
                </a:tc>
                <a:tc>
                  <a:txBody>
                    <a:bodyPr/>
                    <a:lstStyle/>
                    <a:p>
                      <a:pPr algn="ctr"/>
                      <a:r>
                        <a:rPr lang="en-US" sz="1350" b="1">
                          <a:solidFill>
                            <a:srgbClr val="E3E3E3"/>
                          </a:solidFill>
                        </a:rPr>
                        <a:t>Comment / Purpose</a:t>
                      </a:r>
                    </a:p>
                  </a:txBody>
                  <a:tcPr marL="57150" marR="57150" marT="38100" marB="38100"/>
                </a:tc>
                <a:extLst>
                  <a:ext uri="{0D108BD9-81ED-4DB2-BD59-A6C34878D82A}">
                    <a16:rowId xmlns:a16="http://schemas.microsoft.com/office/drawing/2014/main" val="10000"/>
                  </a:ext>
                </a:extLst>
              </a:tr>
              <a:tr h="420000">
                <a:tc>
                  <a:txBody>
                    <a:bodyPr/>
                    <a:lstStyle/>
                    <a:p>
                      <a:pPr algn="ctr"/>
                      <a:r>
                        <a:rPr lang="en-US" sz="1250" b="0">
                          <a:solidFill>
                            <a:srgbClr val="2A2A2A"/>
                          </a:solidFill>
                        </a:rPr>
                        <a:t>FR-VI-01</a:t>
                      </a:r>
                    </a:p>
                  </a:txBody>
                  <a:tcPr marL="57150" marR="57150" marT="38100" marB="38100"/>
                </a:tc>
                <a:tc>
                  <a:txBody>
                    <a:bodyPr/>
                    <a:lstStyle/>
                    <a:p>
                      <a:pPr algn="l"/>
                      <a:r>
                        <a:rPr lang="en-US" sz="1250" b="0">
                          <a:solidFill>
                            <a:srgbClr val="2A2A2A"/>
                          </a:solidFill>
                        </a:rPr>
                        <a:t>Visitors shall be able to browse the public catalog of consoles, games, and gear with multi-image previews.</a:t>
                      </a:r>
                    </a:p>
                  </a:txBody>
                  <a:tcPr marL="57150" marR="57150" marT="38100" marB="38100"/>
                </a:tc>
                <a:tc>
                  <a:txBody>
                    <a:bodyPr/>
                    <a:lstStyle/>
                    <a:p>
                      <a:pPr algn="l"/>
                      <a:r>
                        <a:rPr lang="en-US" sz="1250" b="0">
                          <a:solidFill>
                            <a:srgbClr val="2A2A2A"/>
                          </a:solidFill>
                        </a:rPr>
                        <a:t>Allows prospective customers to view available rental products and specifications without logging in.</a:t>
                      </a:r>
                    </a:p>
                  </a:txBody>
                  <a:tcPr marL="57150" marR="57150" marT="38100" marB="38100"/>
                </a:tc>
                <a:extLst>
                  <a:ext uri="{0D108BD9-81ED-4DB2-BD59-A6C34878D82A}">
                    <a16:rowId xmlns:a16="http://schemas.microsoft.com/office/drawing/2014/main" val="10001"/>
                  </a:ext>
                </a:extLst>
              </a:tr>
              <a:tr h="420000">
                <a:tc>
                  <a:txBody>
                    <a:bodyPr/>
                    <a:lstStyle/>
                    <a:p>
                      <a:pPr algn="ctr"/>
                      <a:r>
                        <a:rPr lang="en-US" sz="1250" b="0">
                          <a:solidFill>
                            <a:srgbClr val="2A2A2A"/>
                          </a:solidFill>
                        </a:rPr>
                        <a:t>FR-VI-02</a:t>
                      </a:r>
                    </a:p>
                  </a:txBody>
                  <a:tcPr marL="57150" marR="57150" marT="38100" marB="38100"/>
                </a:tc>
                <a:tc>
                  <a:txBody>
                    <a:bodyPr/>
                    <a:lstStyle/>
                    <a:p>
                      <a:pPr algn="l"/>
                      <a:r>
                        <a:rPr lang="en-US" sz="1250" b="0">
                          <a:solidFill>
                            <a:srgbClr val="2A2A2A"/>
                          </a:solidFill>
                        </a:rPr>
                        <a:t>Visitors shall be able to use search and faceted category filtering to locate specific gear or titles.</a:t>
                      </a:r>
                    </a:p>
                  </a:txBody>
                  <a:tcPr marL="57150" marR="57150" marT="38100" marB="38100"/>
                </a:tc>
                <a:tc>
                  <a:txBody>
                    <a:bodyPr/>
                    <a:lstStyle/>
                    <a:p>
                      <a:pPr algn="l"/>
                      <a:r>
                        <a:rPr lang="en-US" sz="1250" b="0">
                          <a:solidFill>
                            <a:srgbClr val="2A2A2A"/>
                          </a:solidFill>
                        </a:rPr>
                        <a:t>Provides direct search functionality across all 8 gaming categories.</a:t>
                      </a:r>
                    </a:p>
                  </a:txBody>
                  <a:tcPr marL="57150" marR="57150" marT="38100" marB="38100"/>
                </a:tc>
                <a:extLst>
                  <a:ext uri="{0D108BD9-81ED-4DB2-BD59-A6C34878D82A}">
                    <a16:rowId xmlns:a16="http://schemas.microsoft.com/office/drawing/2014/main" val="10002"/>
                  </a:ext>
                </a:extLst>
              </a:tr>
              <a:tr h="420000">
                <a:tc>
                  <a:txBody>
                    <a:bodyPr/>
                    <a:lstStyle/>
                    <a:p>
                      <a:pPr algn="ctr"/>
                      <a:r>
                        <a:rPr lang="en-US" sz="1250" b="0">
                          <a:solidFill>
                            <a:srgbClr val="2A2A2A"/>
                          </a:solidFill>
                        </a:rPr>
                        <a:t>FR-VI-03</a:t>
                      </a:r>
                    </a:p>
                  </a:txBody>
                  <a:tcPr marL="57150" marR="57150" marT="38100" marB="38100"/>
                </a:tc>
                <a:tc>
                  <a:txBody>
                    <a:bodyPr/>
                    <a:lstStyle/>
                    <a:p>
                      <a:pPr algn="l"/>
                      <a:r>
                        <a:rPr lang="en-US" sz="1250" b="0">
                          <a:solidFill>
                            <a:srgbClr val="2A2A2A"/>
                          </a:solidFill>
                        </a:rPr>
                        <a:t>Visitors shall be able to view platform FAQs, rental policies, pricing terms, and support details.</a:t>
                      </a:r>
                    </a:p>
                  </a:txBody>
                  <a:tcPr marL="57150" marR="57150" marT="38100" marB="38100"/>
                </a:tc>
                <a:tc>
                  <a:txBody>
                    <a:bodyPr/>
                    <a:lstStyle/>
                    <a:p>
                      <a:pPr algn="l"/>
                      <a:r>
                        <a:rPr lang="en-US" sz="1250" b="0">
                          <a:solidFill>
                            <a:srgbClr val="2A2A2A"/>
                          </a:solidFill>
                        </a:rPr>
                        <a:t>Informs users about rental duration rules, security, delivery, and return procedures.</a:t>
                      </a:r>
                    </a:p>
                  </a:txBody>
                  <a:tcPr marL="57150" marR="57150" marT="38100" marB="38100"/>
                </a:tc>
                <a:extLst>
                  <a:ext uri="{0D108BD9-81ED-4DB2-BD59-A6C34878D82A}">
                    <a16:rowId xmlns:a16="http://schemas.microsoft.com/office/drawing/2014/main" val="10003"/>
                  </a:ext>
                </a:extLst>
              </a:tr>
              <a:tr h="420000">
                <a:tc>
                  <a:txBody>
                    <a:bodyPr/>
                    <a:lstStyle/>
                    <a:p>
                      <a:pPr algn="ctr"/>
                      <a:r>
                        <a:rPr lang="en-US" sz="1250" b="0">
                          <a:solidFill>
                            <a:srgbClr val="2A2A2A"/>
                          </a:solidFill>
                        </a:rPr>
                        <a:t>FR-VI-04</a:t>
                      </a:r>
                    </a:p>
                  </a:txBody>
                  <a:tcPr marL="57150" marR="57150" marT="38100" marB="38100"/>
                </a:tc>
                <a:tc>
                  <a:txBody>
                    <a:bodyPr/>
                    <a:lstStyle/>
                    <a:p>
                      <a:pPr algn="l"/>
                      <a:r>
                        <a:rPr lang="en-US" sz="1250" b="0">
                          <a:solidFill>
                            <a:srgbClr val="2A2A2A"/>
                          </a:solidFill>
                        </a:rPr>
                        <a:t>Visitors shall be able to sign up and create a new customer account using email OTP verification.</a:t>
                      </a:r>
                    </a:p>
                  </a:txBody>
                  <a:tcPr marL="57150" marR="57150" marT="38100" marB="38100"/>
                </a:tc>
                <a:tc>
                  <a:txBody>
                    <a:bodyPr/>
                    <a:lstStyle/>
                    <a:p>
                      <a:pPr algn="l"/>
                      <a:r>
                        <a:rPr lang="en-US" sz="1250" b="0">
                          <a:solidFill>
                            <a:srgbClr val="2A2A2A"/>
                          </a:solidFill>
                        </a:rPr>
                        <a:t>Converts visitors into authenticated registered users with verified email addresses.</a:t>
                      </a:r>
                    </a:p>
                  </a:txBody>
                  <a:tcPr marL="57150" marR="57150" marT="38100" marB="381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51917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CE3E-B086-891B-A2ED-16EAACFFF136}"/>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C2063421-080D-F9CD-1184-FE28F90D4A06}"/>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EAD646AC-B3F7-9681-76C1-E2F088BE7EDE}"/>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7E85672C-364E-0E6E-C217-0255C9985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86" y="-266700"/>
            <a:ext cx="3200400" cy="2133600"/>
          </a:xfrm>
          <a:prstGeom prst="rect">
            <a:avLst/>
          </a:prstGeom>
        </p:spPr>
      </p:pic>
      <p:pic>
        <p:nvPicPr>
          <p:cNvPr id="21" name="Picture 20">
            <a:extLst>
              <a:ext uri="{FF2B5EF4-FFF2-40B4-BE49-F238E27FC236}">
                <a16:creationId xmlns:a16="http://schemas.microsoft.com/office/drawing/2014/main" id="{70915228-9EC1-1130-9750-59BEFEA13F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1289" y="56804"/>
            <a:ext cx="1600200" cy="1600200"/>
          </a:xfrm>
          <a:prstGeom prst="rect">
            <a:avLst/>
          </a:prstGeom>
        </p:spPr>
      </p:pic>
      <p:sp>
        <p:nvSpPr>
          <p:cNvPr id="6" name="TextBox 5">
            <a:extLst>
              <a:ext uri="{FF2B5EF4-FFF2-40B4-BE49-F238E27FC236}">
                <a16:creationId xmlns:a16="http://schemas.microsoft.com/office/drawing/2014/main" id="{449F7C98-5CF8-7100-750B-D98CA954DACE}"/>
              </a:ext>
            </a:extLst>
          </p:cNvPr>
          <p:cNvSpPr txBox="1"/>
          <p:nvPr/>
        </p:nvSpPr>
        <p:spPr>
          <a:xfrm>
            <a:off x="2545975" y="626072"/>
            <a:ext cx="6248400" cy="461665"/>
          </a:xfrm>
          <a:prstGeom prst="rect">
            <a:avLst/>
          </a:prstGeom>
          <a:noFill/>
        </p:spPr>
        <p:txBody>
          <a:bodyPr wrap="square">
            <a:spAutoFit/>
          </a:bodyPr>
          <a:lstStyle/>
          <a:p>
            <a:pPr algn="ctr"/>
            <a:r>
              <a:rPr lang="en-IN" sz="2400" b="1" u="sng" dirty="0">
                <a:latin typeface="Calibri "/>
              </a:rPr>
              <a:t>Non-Functional Requirements</a:t>
            </a:r>
          </a:p>
        </p:txBody>
      </p:sp>
      <p:graphicFrame>
        <p:nvGraphicFramePr>
          <p:cNvPr id="4" name="Table 3">
            <a:extLst>
              <a:ext uri="{FF2B5EF4-FFF2-40B4-BE49-F238E27FC236}">
                <a16:creationId xmlns:a16="http://schemas.microsoft.com/office/drawing/2014/main" id="{0A0C90B5-DE57-2D6D-F558-162C696C0DD8}"/>
              </a:ext>
            </a:extLst>
          </p:cNvPr>
          <p:cNvGraphicFramePr>
            <a:graphicFrameLocks noGrp="1"/>
          </p:cNvGraphicFramePr>
          <p:nvPr>
            <p:extLst>
              <p:ext uri="{D42A27DB-BD31-4B8C-83A1-F6EECF244321}">
                <p14:modId xmlns:p14="http://schemas.microsoft.com/office/powerpoint/2010/main" val="633149035"/>
              </p:ext>
            </p:extLst>
          </p:nvPr>
        </p:nvGraphicFramePr>
        <p:xfrm>
          <a:off x="971773" y="1873567"/>
          <a:ext cx="10216180" cy="2301200"/>
        </p:xfrm>
        <a:graphic>
          <a:graphicData uri="http://schemas.openxmlformats.org/drawingml/2006/table">
            <a:tbl>
              <a:tblPr/>
              <a:tblGrid>
                <a:gridCol w="1079759">
                  <a:extLst>
                    <a:ext uri="{9D8B030D-6E8A-4147-A177-3AD203B41FA5}">
                      <a16:colId xmlns:a16="http://schemas.microsoft.com/office/drawing/2014/main" val="441200300"/>
                    </a:ext>
                  </a:extLst>
                </a:gridCol>
                <a:gridCol w="913642">
                  <a:extLst>
                    <a:ext uri="{9D8B030D-6E8A-4147-A177-3AD203B41FA5}">
                      <a16:colId xmlns:a16="http://schemas.microsoft.com/office/drawing/2014/main" val="3932151298"/>
                    </a:ext>
                  </a:extLst>
                </a:gridCol>
                <a:gridCol w="4734327">
                  <a:extLst>
                    <a:ext uri="{9D8B030D-6E8A-4147-A177-3AD203B41FA5}">
                      <a16:colId xmlns:a16="http://schemas.microsoft.com/office/drawing/2014/main" val="4289869908"/>
                    </a:ext>
                  </a:extLst>
                </a:gridCol>
                <a:gridCol w="3488452">
                  <a:extLst>
                    <a:ext uri="{9D8B030D-6E8A-4147-A177-3AD203B41FA5}">
                      <a16:colId xmlns:a16="http://schemas.microsoft.com/office/drawing/2014/main" val="2141846239"/>
                    </a:ext>
                  </a:extLst>
                </a:gridCol>
              </a:tblGrid>
              <a:tr h="320000">
                <a:tc>
                  <a:txBody>
                    <a:bodyPr/>
                    <a:lstStyle/>
                    <a:p>
                      <a:pPr algn="ctr"/>
                      <a:r>
                        <a:rPr lang="en-US" sz="1250" b="1">
                          <a:solidFill>
                            <a:srgbClr val="E3E3E3"/>
                          </a:solidFill>
                        </a:rPr>
                        <a:t>Category</a:t>
                      </a:r>
                    </a:p>
                  </a:txBody>
                  <a:tcPr marL="57150" marR="57150" marT="38100" marB="38100"/>
                </a:tc>
                <a:tc>
                  <a:txBody>
                    <a:bodyPr/>
                    <a:lstStyle/>
                    <a:p>
                      <a:pPr algn="ctr"/>
                      <a:r>
                        <a:rPr lang="en-US" sz="1250" b="1">
                          <a:solidFill>
                            <a:srgbClr val="E3E3E3"/>
                          </a:solidFill>
                        </a:rPr>
                        <a:t>NFRN</a:t>
                      </a:r>
                    </a:p>
                  </a:txBody>
                  <a:tcPr marL="57150" marR="57150" marT="38100" marB="38100"/>
                </a:tc>
                <a:tc>
                  <a:txBody>
                    <a:bodyPr/>
                    <a:lstStyle/>
                    <a:p>
                      <a:pPr algn="ctr"/>
                      <a:r>
                        <a:rPr lang="en-US" sz="1250" b="1">
                          <a:solidFill>
                            <a:srgbClr val="E3E3E3"/>
                          </a:solidFill>
                        </a:rPr>
                        <a:t>Description</a:t>
                      </a:r>
                    </a:p>
                  </a:txBody>
                  <a:tcPr marL="57150" marR="57150" marT="38100" marB="38100"/>
                </a:tc>
                <a:tc>
                  <a:txBody>
                    <a:bodyPr/>
                    <a:lstStyle/>
                    <a:p>
                      <a:pPr algn="ctr"/>
                      <a:r>
                        <a:rPr lang="en-US" sz="1250" b="1">
                          <a:solidFill>
                            <a:srgbClr val="E3E3E3"/>
                          </a:solidFill>
                        </a:rPr>
                        <a:t>Comment / Purpose</a:t>
                      </a:r>
                    </a:p>
                  </a:txBody>
                  <a:tcPr marL="57150" marR="57150" marT="38100" marB="38100"/>
                </a:tc>
                <a:extLst>
                  <a:ext uri="{0D108BD9-81ED-4DB2-BD59-A6C34878D82A}">
                    <a16:rowId xmlns:a16="http://schemas.microsoft.com/office/drawing/2014/main" val="10000"/>
                  </a:ext>
                </a:extLst>
              </a:tr>
              <a:tr h="420000">
                <a:tc>
                  <a:txBody>
                    <a:bodyPr/>
                    <a:lstStyle/>
                    <a:p>
                      <a:pPr algn="l"/>
                      <a:r>
                        <a:rPr lang="en-US" sz="1150" b="0">
                          <a:solidFill>
                            <a:srgbClr val="2A2A2A"/>
                          </a:solidFill>
                        </a:rPr>
                        <a:t>Security</a:t>
                      </a:r>
                    </a:p>
                  </a:txBody>
                  <a:tcPr marL="57150" marR="57150" marT="38100" marB="38100"/>
                </a:tc>
                <a:tc>
                  <a:txBody>
                    <a:bodyPr/>
                    <a:lstStyle/>
                    <a:p>
                      <a:pPr algn="ctr"/>
                      <a:r>
                        <a:rPr lang="en-US" sz="1150" b="0">
                          <a:solidFill>
                            <a:srgbClr val="2A2A2A"/>
                          </a:solidFill>
                        </a:rPr>
                        <a:t>NFR-01</a:t>
                      </a:r>
                    </a:p>
                  </a:txBody>
                  <a:tcPr marL="57150" marR="57150" marT="38100" marB="38100"/>
                </a:tc>
                <a:tc>
                  <a:txBody>
                    <a:bodyPr/>
                    <a:lstStyle/>
                    <a:p>
                      <a:pPr algn="l"/>
                      <a:r>
                        <a:rPr lang="en-US" sz="1150" b="0">
                          <a:solidFill>
                            <a:srgbClr val="2A2A2A"/>
                          </a:solidFill>
                        </a:rPr>
                        <a:t>User passwords must be stored using cryptographic hashing (bcrypt). Email OTP verification must expire after set duration. Administrative endpoints must enforce role-based access control (isAdmin()). Online checkout must use 256-bit SSL encryption via Razorpay.</a:t>
                      </a:r>
                    </a:p>
                  </a:txBody>
                  <a:tcPr marL="57150" marR="57150" marT="38100" marB="38100"/>
                </a:tc>
                <a:tc>
                  <a:txBody>
                    <a:bodyPr/>
                    <a:lstStyle/>
                    <a:p>
                      <a:pPr algn="l"/>
                      <a:r>
                        <a:rPr lang="en-US" sz="1150" b="0">
                          <a:solidFill>
                            <a:srgbClr val="2A2A2A"/>
                          </a:solidFill>
                        </a:rPr>
                        <a:t>Protects user credentials, prevents unauthorized administrative access, and ensures safe financial transactions.</a:t>
                      </a:r>
                    </a:p>
                  </a:txBody>
                  <a:tcPr marL="57150" marR="57150" marT="38100" marB="38100"/>
                </a:tc>
                <a:extLst>
                  <a:ext uri="{0D108BD9-81ED-4DB2-BD59-A6C34878D82A}">
                    <a16:rowId xmlns:a16="http://schemas.microsoft.com/office/drawing/2014/main" val="10001"/>
                  </a:ext>
                </a:extLst>
              </a:tr>
              <a:tr h="420000">
                <a:tc>
                  <a:txBody>
                    <a:bodyPr/>
                    <a:lstStyle/>
                    <a:p>
                      <a:pPr algn="l"/>
                      <a:r>
                        <a:rPr lang="en-US" sz="1150" b="0">
                          <a:solidFill>
                            <a:srgbClr val="2A2A2A"/>
                          </a:solidFill>
                        </a:rPr>
                        <a:t>Usability</a:t>
                      </a:r>
                    </a:p>
                  </a:txBody>
                  <a:tcPr marL="57150" marR="57150" marT="38100" marB="38100"/>
                </a:tc>
                <a:tc>
                  <a:txBody>
                    <a:bodyPr/>
                    <a:lstStyle/>
                    <a:p>
                      <a:pPr algn="ctr"/>
                      <a:r>
                        <a:rPr lang="en-US" sz="1150" b="0">
                          <a:solidFill>
                            <a:srgbClr val="2A2A2A"/>
                          </a:solidFill>
                        </a:rPr>
                        <a:t>NFR-02</a:t>
                      </a:r>
                    </a:p>
                  </a:txBody>
                  <a:tcPr marL="57150" marR="57150" marT="38100" marB="38100"/>
                </a:tc>
                <a:tc>
                  <a:txBody>
                    <a:bodyPr/>
                    <a:lstStyle/>
                    <a:p>
                      <a:pPr algn="l"/>
                      <a:r>
                        <a:rPr lang="en-US" sz="1150" b="0">
                          <a:solidFill>
                            <a:srgbClr val="2A2A2A"/>
                          </a:solidFill>
                        </a:rPr>
                        <a:t>The web application interface must feature a responsive dark-mode cyberpunk design with intuitive navigation, calendar date pickers, live cart badge counter, and multi-image photo gallery modals.</a:t>
                      </a:r>
                    </a:p>
                  </a:txBody>
                  <a:tcPr marL="57150" marR="57150" marT="38100" marB="38100"/>
                </a:tc>
                <a:tc>
                  <a:txBody>
                    <a:bodyPr/>
                    <a:lstStyle/>
                    <a:p>
                      <a:pPr algn="l"/>
                      <a:r>
                        <a:rPr lang="en-US" sz="1150" b="0">
                          <a:solidFill>
                            <a:srgbClr val="2A2A2A"/>
                          </a:solidFill>
                        </a:rPr>
                        <a:t>Delivers a modern, gamer-centric, and user-friendly experience across smartphones, tablets, and desktop browsers.</a:t>
                      </a:r>
                    </a:p>
                  </a:txBody>
                  <a:tcPr marL="57150" marR="57150" marT="38100" marB="38100"/>
                </a:tc>
                <a:extLst>
                  <a:ext uri="{0D108BD9-81ED-4DB2-BD59-A6C34878D82A}">
                    <a16:rowId xmlns:a16="http://schemas.microsoft.com/office/drawing/2014/main" val="10002"/>
                  </a:ext>
                </a:extLst>
              </a:tr>
              <a:tr h="420000">
                <a:tc>
                  <a:txBody>
                    <a:bodyPr/>
                    <a:lstStyle/>
                    <a:p>
                      <a:pPr algn="l"/>
                      <a:r>
                        <a:rPr lang="en-US" sz="1150" b="0">
                          <a:solidFill>
                            <a:srgbClr val="2A2A2A"/>
                          </a:solidFill>
                        </a:rPr>
                        <a:t>Performance</a:t>
                      </a:r>
                    </a:p>
                  </a:txBody>
                  <a:tcPr marL="57150" marR="57150" marT="38100" marB="38100"/>
                </a:tc>
                <a:tc>
                  <a:txBody>
                    <a:bodyPr/>
                    <a:lstStyle/>
                    <a:p>
                      <a:pPr algn="ctr"/>
                      <a:r>
                        <a:rPr lang="en-US" sz="1150" b="0">
                          <a:solidFill>
                            <a:srgbClr val="2A2A2A"/>
                          </a:solidFill>
                        </a:rPr>
                        <a:t>NFR-03</a:t>
                      </a:r>
                    </a:p>
                  </a:txBody>
                  <a:tcPr marL="57150" marR="57150" marT="38100" marB="38100"/>
                </a:tc>
                <a:tc>
                  <a:txBody>
                    <a:bodyPr/>
                    <a:lstStyle/>
                    <a:p>
                      <a:pPr algn="l"/>
                      <a:r>
                        <a:rPr lang="en-US" sz="1150" b="0">
                          <a:solidFill>
                            <a:srgbClr val="2A2A2A"/>
                          </a:solidFill>
                        </a:rPr>
                        <a:t>Page load times for catalog search and item filtering must not exceed 2 seconds. Foreign keys (category_id, user_id, hardware_unit_id) must be indexed for rapid querying.</a:t>
                      </a:r>
                    </a:p>
                  </a:txBody>
                  <a:tcPr marL="57150" marR="57150" marT="38100" marB="38100"/>
                </a:tc>
                <a:tc>
                  <a:txBody>
                    <a:bodyPr/>
                    <a:lstStyle/>
                    <a:p>
                      <a:pPr algn="l"/>
                      <a:r>
                        <a:rPr lang="en-US" sz="1150" b="0">
                          <a:solidFill>
                            <a:srgbClr val="2A2A2A"/>
                          </a:solidFill>
                        </a:rPr>
                        <a:t>Delivers fast browsing experiences to prevent user drop-off during peak catalog browsing.</a:t>
                      </a:r>
                    </a:p>
                  </a:txBody>
                  <a:tcPr marL="57150" marR="57150" marT="38100" marB="381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60664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B04CB-5597-C74D-547F-BE8A37F81BE6}"/>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0BE40495-EB4F-39BD-1B96-AE2546BF95E4}"/>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E4AFCC85-1A9D-7C43-5366-984E33466E00}"/>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35DA48C0-F085-5549-8A44-E08AD06993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019" y="-266700"/>
            <a:ext cx="3200400" cy="2133600"/>
          </a:xfrm>
          <a:prstGeom prst="rect">
            <a:avLst/>
          </a:prstGeom>
        </p:spPr>
      </p:pic>
      <p:pic>
        <p:nvPicPr>
          <p:cNvPr id="21" name="Picture 20">
            <a:extLst>
              <a:ext uri="{FF2B5EF4-FFF2-40B4-BE49-F238E27FC236}">
                <a16:creationId xmlns:a16="http://schemas.microsoft.com/office/drawing/2014/main" id="{C71134DD-DFAD-8562-3BB9-DBC5EBA0E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0382FCF5-AFA8-45F0-65C4-450141FF48B5}"/>
              </a:ext>
            </a:extLst>
          </p:cNvPr>
          <p:cNvSpPr txBox="1"/>
          <p:nvPr/>
        </p:nvSpPr>
        <p:spPr>
          <a:xfrm>
            <a:off x="2545975" y="626072"/>
            <a:ext cx="6248400" cy="461665"/>
          </a:xfrm>
          <a:prstGeom prst="rect">
            <a:avLst/>
          </a:prstGeom>
          <a:noFill/>
        </p:spPr>
        <p:txBody>
          <a:bodyPr wrap="square">
            <a:spAutoFit/>
          </a:bodyPr>
          <a:lstStyle/>
          <a:p>
            <a:pPr algn="ctr"/>
            <a:r>
              <a:rPr lang="en-IN" sz="2400" b="1" u="sng" dirty="0">
                <a:latin typeface="Calibri "/>
              </a:rPr>
              <a:t>Non-Functional Requirements</a:t>
            </a:r>
          </a:p>
        </p:txBody>
      </p:sp>
      <p:graphicFrame>
        <p:nvGraphicFramePr>
          <p:cNvPr id="2" name="Table 1">
            <a:extLst>
              <a:ext uri="{FF2B5EF4-FFF2-40B4-BE49-F238E27FC236}">
                <a16:creationId xmlns:a16="http://schemas.microsoft.com/office/drawing/2014/main" id="{3E70FF75-87D9-839B-1531-0709355294A1}"/>
              </a:ext>
            </a:extLst>
          </p:cNvPr>
          <p:cNvGraphicFramePr>
            <a:graphicFrameLocks noGrp="1"/>
          </p:cNvGraphicFramePr>
          <p:nvPr>
            <p:extLst>
              <p:ext uri="{D42A27DB-BD31-4B8C-83A1-F6EECF244321}">
                <p14:modId xmlns:p14="http://schemas.microsoft.com/office/powerpoint/2010/main" val="1925668190"/>
              </p:ext>
            </p:extLst>
          </p:nvPr>
        </p:nvGraphicFramePr>
        <p:xfrm>
          <a:off x="944880" y="1842321"/>
          <a:ext cx="10243073" cy="1752560"/>
        </p:xfrm>
        <a:graphic>
          <a:graphicData uri="http://schemas.openxmlformats.org/drawingml/2006/table">
            <a:tbl>
              <a:tblPr/>
              <a:tblGrid>
                <a:gridCol w="1082601">
                  <a:extLst>
                    <a:ext uri="{9D8B030D-6E8A-4147-A177-3AD203B41FA5}">
                      <a16:colId xmlns:a16="http://schemas.microsoft.com/office/drawing/2014/main" val="4066895256"/>
                    </a:ext>
                  </a:extLst>
                </a:gridCol>
                <a:gridCol w="916047">
                  <a:extLst>
                    <a:ext uri="{9D8B030D-6E8A-4147-A177-3AD203B41FA5}">
                      <a16:colId xmlns:a16="http://schemas.microsoft.com/office/drawing/2014/main" val="2766731315"/>
                    </a:ext>
                  </a:extLst>
                </a:gridCol>
                <a:gridCol w="4746790">
                  <a:extLst>
                    <a:ext uri="{9D8B030D-6E8A-4147-A177-3AD203B41FA5}">
                      <a16:colId xmlns:a16="http://schemas.microsoft.com/office/drawing/2014/main" val="602853088"/>
                    </a:ext>
                  </a:extLst>
                </a:gridCol>
                <a:gridCol w="3497635">
                  <a:extLst>
                    <a:ext uri="{9D8B030D-6E8A-4147-A177-3AD203B41FA5}">
                      <a16:colId xmlns:a16="http://schemas.microsoft.com/office/drawing/2014/main" val="2824102790"/>
                    </a:ext>
                  </a:extLst>
                </a:gridCol>
              </a:tblGrid>
              <a:tr h="320000">
                <a:tc>
                  <a:txBody>
                    <a:bodyPr/>
                    <a:lstStyle/>
                    <a:p>
                      <a:pPr algn="ctr"/>
                      <a:r>
                        <a:rPr lang="en-US" sz="1300" b="1">
                          <a:solidFill>
                            <a:srgbClr val="E3E3E3"/>
                          </a:solidFill>
                        </a:rPr>
                        <a:t>Category</a:t>
                      </a:r>
                    </a:p>
                  </a:txBody>
                  <a:tcPr marL="57150" marR="57150" marT="38100" marB="38100"/>
                </a:tc>
                <a:tc>
                  <a:txBody>
                    <a:bodyPr/>
                    <a:lstStyle/>
                    <a:p>
                      <a:pPr algn="ctr"/>
                      <a:r>
                        <a:rPr lang="en-US" sz="1300" b="1">
                          <a:solidFill>
                            <a:srgbClr val="E3E3E3"/>
                          </a:solidFill>
                        </a:rPr>
                        <a:t>NFRN</a:t>
                      </a:r>
                    </a:p>
                  </a:txBody>
                  <a:tcPr marL="57150" marR="57150" marT="38100" marB="38100"/>
                </a:tc>
                <a:tc>
                  <a:txBody>
                    <a:bodyPr/>
                    <a:lstStyle/>
                    <a:p>
                      <a:pPr algn="ctr"/>
                      <a:r>
                        <a:rPr lang="en-US" sz="1300" b="1">
                          <a:solidFill>
                            <a:srgbClr val="E3E3E3"/>
                          </a:solidFill>
                        </a:rPr>
                        <a:t>Description</a:t>
                      </a:r>
                    </a:p>
                  </a:txBody>
                  <a:tcPr marL="57150" marR="57150" marT="38100" marB="38100"/>
                </a:tc>
                <a:tc>
                  <a:txBody>
                    <a:bodyPr/>
                    <a:lstStyle/>
                    <a:p>
                      <a:pPr algn="ctr"/>
                      <a:r>
                        <a:rPr lang="en-US" sz="1300" b="1">
                          <a:solidFill>
                            <a:srgbClr val="E3E3E3"/>
                          </a:solidFill>
                        </a:rPr>
                        <a:t>Comment / Purpose</a:t>
                      </a:r>
                    </a:p>
                  </a:txBody>
                  <a:tcPr marL="57150" marR="57150" marT="38100" marB="38100"/>
                </a:tc>
                <a:extLst>
                  <a:ext uri="{0D108BD9-81ED-4DB2-BD59-A6C34878D82A}">
                    <a16:rowId xmlns:a16="http://schemas.microsoft.com/office/drawing/2014/main" val="10000"/>
                  </a:ext>
                </a:extLst>
              </a:tr>
              <a:tr h="450000">
                <a:tc>
                  <a:txBody>
                    <a:bodyPr/>
                    <a:lstStyle/>
                    <a:p>
                      <a:pPr algn="l"/>
                      <a:r>
                        <a:rPr lang="en-US" sz="1200" b="0">
                          <a:solidFill>
                            <a:srgbClr val="2A2A2A"/>
                          </a:solidFill>
                        </a:rPr>
                        <a:t>Data Integrity</a:t>
                      </a:r>
                    </a:p>
                  </a:txBody>
                  <a:tcPr marL="57150" marR="57150" marT="38100" marB="38100"/>
                </a:tc>
                <a:tc>
                  <a:txBody>
                    <a:bodyPr/>
                    <a:lstStyle/>
                    <a:p>
                      <a:pPr algn="ctr"/>
                      <a:r>
                        <a:rPr lang="en-US" sz="1200" b="0">
                          <a:solidFill>
                            <a:srgbClr val="2A2A2A"/>
                          </a:solidFill>
                        </a:rPr>
                        <a:t>NFR-04</a:t>
                      </a:r>
                    </a:p>
                  </a:txBody>
                  <a:tcPr marL="57150" marR="57150" marT="38100" marB="38100"/>
                </a:tc>
                <a:tc>
                  <a:txBody>
                    <a:bodyPr/>
                    <a:lstStyle/>
                    <a:p>
                      <a:pPr algn="l"/>
                      <a:r>
                        <a:rPr lang="en-US" sz="1200" b="0">
                          <a:solidFill>
                            <a:srgbClr val="2A2A2A"/>
                          </a:solidFill>
                        </a:rPr>
                        <a:t>The system must prevent concurrent double-booking of the exact same physical hardware serial number. Checkout and cancellation operations must use atomic database transactions (mysqli_begin_transaction) with rollback on error.</a:t>
                      </a:r>
                    </a:p>
                  </a:txBody>
                  <a:tcPr marL="57150" marR="57150" marT="38100" marB="38100"/>
                </a:tc>
                <a:tc>
                  <a:txBody>
                    <a:bodyPr/>
                    <a:lstStyle/>
                    <a:p>
                      <a:pPr algn="l"/>
                      <a:r>
                        <a:rPr lang="en-US" sz="1200" b="0">
                          <a:solidFill>
                            <a:srgbClr val="2A2A2A"/>
                          </a:solidFill>
                        </a:rPr>
                        <a:t>Guarantees stock availability accuracy, prevents orphaned records, and eliminates double-booking errors.</a:t>
                      </a:r>
                    </a:p>
                  </a:txBody>
                  <a:tcPr marL="57150" marR="57150" marT="38100" marB="38100"/>
                </a:tc>
                <a:extLst>
                  <a:ext uri="{0D108BD9-81ED-4DB2-BD59-A6C34878D82A}">
                    <a16:rowId xmlns:a16="http://schemas.microsoft.com/office/drawing/2014/main" val="10001"/>
                  </a:ext>
                </a:extLst>
              </a:tr>
              <a:tr h="450000">
                <a:tc>
                  <a:txBody>
                    <a:bodyPr/>
                    <a:lstStyle/>
                    <a:p>
                      <a:pPr algn="l"/>
                      <a:r>
                        <a:rPr lang="en-US" sz="1200" b="0">
                          <a:solidFill>
                            <a:srgbClr val="2A2A2A"/>
                          </a:solidFill>
                        </a:rPr>
                        <a:t>Availability</a:t>
                      </a:r>
                    </a:p>
                  </a:txBody>
                  <a:tcPr marL="57150" marR="57150" marT="38100" marB="38100"/>
                </a:tc>
                <a:tc>
                  <a:txBody>
                    <a:bodyPr/>
                    <a:lstStyle/>
                    <a:p>
                      <a:pPr algn="ctr"/>
                      <a:r>
                        <a:rPr lang="en-US" sz="1200" b="0">
                          <a:solidFill>
                            <a:srgbClr val="2A2A2A"/>
                          </a:solidFill>
                        </a:rPr>
                        <a:t>NFR-05</a:t>
                      </a:r>
                    </a:p>
                  </a:txBody>
                  <a:tcPr marL="57150" marR="57150" marT="38100" marB="38100"/>
                </a:tc>
                <a:tc>
                  <a:txBody>
                    <a:bodyPr/>
                    <a:lstStyle/>
                    <a:p>
                      <a:pPr algn="l"/>
                      <a:r>
                        <a:rPr lang="en-US" sz="1200" b="0">
                          <a:solidFill>
                            <a:srgbClr val="2A2A2A"/>
                          </a:solidFill>
                        </a:rPr>
                        <a:t>The web application should maintain 99.5% operational uptime to support constant online rental bookings and catalog browsing.</a:t>
                      </a:r>
                    </a:p>
                  </a:txBody>
                  <a:tcPr marL="57150" marR="57150" marT="38100" marB="38100"/>
                </a:tc>
                <a:tc>
                  <a:txBody>
                    <a:bodyPr/>
                    <a:lstStyle/>
                    <a:p>
                      <a:pPr algn="l"/>
                      <a:r>
                        <a:rPr lang="en-US" sz="1200" b="0">
                          <a:solidFill>
                            <a:srgbClr val="2A2A2A"/>
                          </a:solidFill>
                        </a:rPr>
                        <a:t>Ensures system reliability, fault-tolerant database connections, and continuous availability for customers.</a:t>
                      </a:r>
                    </a:p>
                  </a:txBody>
                  <a:tcPr marL="57150" marR="57150" marT="38100" marB="3810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02170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7AADD-0EB6-C555-C4B3-1C5403800E0E}"/>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EB5F992D-9B3C-FB03-717A-8375E9157EF5}"/>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334C4CEC-2FA7-62AC-3E31-C3FABA942920}"/>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EC67CE84-3C0C-18B1-153D-39F025DACD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87" y="-267018"/>
            <a:ext cx="3200401" cy="2133600"/>
          </a:xfrm>
          <a:prstGeom prst="rect">
            <a:avLst/>
          </a:prstGeom>
        </p:spPr>
      </p:pic>
      <p:pic>
        <p:nvPicPr>
          <p:cNvPr id="21" name="Picture 20">
            <a:extLst>
              <a:ext uri="{FF2B5EF4-FFF2-40B4-BE49-F238E27FC236}">
                <a16:creationId xmlns:a16="http://schemas.microsoft.com/office/drawing/2014/main" id="{4D1DD071-A79D-F592-232B-8A518D0031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47943"/>
            <a:ext cx="1600200" cy="1600200"/>
          </a:xfrm>
          <a:prstGeom prst="rect">
            <a:avLst/>
          </a:prstGeom>
        </p:spPr>
      </p:pic>
      <p:sp>
        <p:nvSpPr>
          <p:cNvPr id="6" name="TextBox 5">
            <a:extLst>
              <a:ext uri="{FF2B5EF4-FFF2-40B4-BE49-F238E27FC236}">
                <a16:creationId xmlns:a16="http://schemas.microsoft.com/office/drawing/2014/main" id="{A6D6AC73-5881-6966-471B-18EC70616E87}"/>
              </a:ext>
            </a:extLst>
          </p:cNvPr>
          <p:cNvSpPr txBox="1"/>
          <p:nvPr/>
        </p:nvSpPr>
        <p:spPr>
          <a:xfrm>
            <a:off x="2545975" y="220000"/>
            <a:ext cx="6248400" cy="380000"/>
          </a:xfrm>
          <a:prstGeom prst="rect">
            <a:avLst/>
          </a:prstGeom>
          <a:noFill/>
        </p:spPr>
        <p:txBody>
          <a:bodyPr wrap="square">
            <a:spAutoFit/>
          </a:bodyPr>
          <a:lstStyle/>
          <a:p>
            <a:pPr algn="ctr"/>
            <a:r>
              <a:rPr lang="en-US" sz="2400" b="1" u="sng" dirty="0"/>
              <a:t>Use Case Diagram</a:t>
            </a:r>
            <a:endParaRPr lang="en-IN" sz="2400" b="1" u="sng" dirty="0"/>
          </a:p>
        </p:txBody>
      </p:sp>
      <p:pic>
        <p:nvPicPr>
          <p:cNvPr id="25" name="UseCaseDiagram">
            <a:extLst>
              <a:ext uri="{FF2B5EF4-FFF2-40B4-BE49-F238E27FC236}">
                <a16:creationId xmlns:a16="http://schemas.microsoft.com/office/drawing/2014/main" id="{A1B2C3D4-E5F6-4A5B-8C9D-0E1F2A3B4C5D}"/>
              </a:ext>
            </a:extLst>
          </p:cNvPr>
          <p:cNvPicPr>
            <a:picLocks noChangeAspect="1"/>
          </p:cNvPicPr>
          <p:nvPr/>
        </p:nvPicPr>
        <p:blipFill>
          <a:blip r:embed="rId4"/>
          <a:stretch>
            <a:fillRect/>
          </a:stretch>
        </p:blipFill>
        <p:spPr>
          <a:xfrm>
            <a:off x="996000" y="950000"/>
            <a:ext cx="10200000" cy="5737500"/>
          </a:xfrm>
          <a:prstGeom prst="rect">
            <a:avLst/>
          </a:prstGeom>
          <a:ln w="25400">
            <a:solidFill>
              <a:srgbClr val="0284C7"/>
            </a:solidFill>
          </a:ln>
        </p:spPr>
      </p:pic>
    </p:spTree>
    <p:extLst>
      <p:ext uri="{BB962C8B-B14F-4D97-AF65-F5344CB8AC3E}">
        <p14:creationId xmlns:p14="http://schemas.microsoft.com/office/powerpoint/2010/main" val="1619425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D99D-5FCB-B06B-DD65-1676661D49F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8E0B45BF-F8A0-A4A5-D683-497E741391CD}"/>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D170F5AB-0414-006E-A7B9-230E0C4152A2}"/>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6CD3FCF0-7201-C85D-2015-A585C08C4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EB11A115-392A-8F0A-C6C7-C7224BB91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E6D0102A-1DB6-E240-67C9-27BA3AB88ED5}"/>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sp>
        <p:nvSpPr>
          <p:cNvPr id="3" name="TextBox 2">
            <a:extLst>
              <a:ext uri="{FF2B5EF4-FFF2-40B4-BE49-F238E27FC236}">
                <a16:creationId xmlns:a16="http://schemas.microsoft.com/office/drawing/2014/main" id="{7A3BCB94-ED30-30D7-2E73-8095B75E3D50}"/>
              </a:ext>
            </a:extLst>
          </p:cNvPr>
          <p:cNvSpPr txBox="1"/>
          <p:nvPr/>
        </p:nvSpPr>
        <p:spPr>
          <a:xfrm>
            <a:off x="-1077191" y="1411903"/>
            <a:ext cx="6288740" cy="461665"/>
          </a:xfrm>
          <a:prstGeom prst="rect">
            <a:avLst/>
          </a:prstGeom>
          <a:noFill/>
        </p:spPr>
        <p:txBody>
          <a:bodyPr wrap="square">
            <a:spAutoFit/>
          </a:bodyPr>
          <a:lstStyle/>
          <a:p>
            <a:pPr algn="ctr"/>
            <a:r>
              <a:rPr lang="en-US" sz="2400" b="1" dirty="0"/>
              <a:t>User Registration :</a:t>
            </a:r>
            <a:endParaRPr lang="en-IN" sz="2400" b="1" dirty="0"/>
          </a:p>
        </p:txBody>
      </p:sp>
      <p:pic>
        <p:nvPicPr>
          <p:cNvPr id="4" name="Picture 3">
            <a:extLst>
              <a:ext uri="{FF2B5EF4-FFF2-40B4-BE49-F238E27FC236}">
                <a16:creationId xmlns:a16="http://schemas.microsoft.com/office/drawing/2014/main" id="{E32E0FDE-507B-1DB3-E120-F5B006B10D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0709" y="578027"/>
            <a:ext cx="4540760" cy="6022232"/>
          </a:xfrm>
          <a:prstGeom prst="rect">
            <a:avLst/>
          </a:prstGeom>
        </p:spPr>
      </p:pic>
    </p:spTree>
    <p:extLst>
      <p:ext uri="{BB962C8B-B14F-4D97-AF65-F5344CB8AC3E}">
        <p14:creationId xmlns:p14="http://schemas.microsoft.com/office/powerpoint/2010/main" val="2078328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418B5-8045-EB15-8516-5A29985A2586}"/>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737E4DF1-AE86-F681-20F9-CCB0AB306D1A}"/>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D1DE5E5E-698D-BF6D-9439-B921BFC0360F}"/>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CD5A3D83-476A-758F-6BE6-0F87D4771E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2824CE1F-89F1-6CD1-1869-FD886DE26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EDFF14B0-3F69-EEC4-0006-2E6294D99129}"/>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4" name="Picture 3">
            <a:extLst>
              <a:ext uri="{FF2B5EF4-FFF2-40B4-BE49-F238E27FC236}">
                <a16:creationId xmlns:a16="http://schemas.microsoft.com/office/drawing/2014/main" id="{A0EEC1D8-572D-319E-2E5C-EF9C0D3806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8318" y="1243646"/>
            <a:ext cx="7678303" cy="5400000"/>
          </a:xfrm>
          <a:prstGeom prst="rect">
            <a:avLst/>
          </a:prstGeom>
        </p:spPr>
      </p:pic>
      <p:sp>
        <p:nvSpPr>
          <p:cNvPr id="3" name="TextBox 2">
            <a:extLst>
              <a:ext uri="{FF2B5EF4-FFF2-40B4-BE49-F238E27FC236}">
                <a16:creationId xmlns:a16="http://schemas.microsoft.com/office/drawing/2014/main" id="{6C831B72-4DFE-FF48-3331-D604743C89D7}"/>
              </a:ext>
            </a:extLst>
          </p:cNvPr>
          <p:cNvSpPr txBox="1"/>
          <p:nvPr/>
        </p:nvSpPr>
        <p:spPr>
          <a:xfrm>
            <a:off x="-1077191" y="1411903"/>
            <a:ext cx="6288740" cy="461665"/>
          </a:xfrm>
          <a:prstGeom prst="rect">
            <a:avLst/>
          </a:prstGeom>
          <a:noFill/>
        </p:spPr>
        <p:txBody>
          <a:bodyPr wrap="square">
            <a:spAutoFit/>
          </a:bodyPr>
          <a:lstStyle/>
          <a:p>
            <a:pPr algn="ctr"/>
            <a:r>
              <a:rPr lang="en-US" sz="2400" b="1" dirty="0"/>
              <a:t>User Login :</a:t>
            </a:r>
            <a:endParaRPr lang="en-IN" sz="2400" b="1" dirty="0"/>
          </a:p>
        </p:txBody>
      </p:sp>
    </p:spTree>
    <p:extLst>
      <p:ext uri="{BB962C8B-B14F-4D97-AF65-F5344CB8AC3E}">
        <p14:creationId xmlns:p14="http://schemas.microsoft.com/office/powerpoint/2010/main" val="2007833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B7B4A-CEC9-2D3F-6887-B5DF92A0AD8A}"/>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301734E-6A39-809A-CD5E-3BA841F67D74}"/>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FBCDE609-B733-1C20-4714-4EBAACD58BF1}"/>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4D1030BC-9BC7-0325-239A-02FBD25859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65D54D83-438A-E3AF-58A5-A86F6A71A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7CB55F59-0A64-DC15-66BD-F955DA586670}"/>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sp>
        <p:nvSpPr>
          <p:cNvPr id="3" name="TextBox 2">
            <a:extLst>
              <a:ext uri="{FF2B5EF4-FFF2-40B4-BE49-F238E27FC236}">
                <a16:creationId xmlns:a16="http://schemas.microsoft.com/office/drawing/2014/main" id="{73DC612D-111B-5099-D0AC-6C3DE641497F}"/>
              </a:ext>
            </a:extLst>
          </p:cNvPr>
          <p:cNvSpPr txBox="1"/>
          <p:nvPr/>
        </p:nvSpPr>
        <p:spPr>
          <a:xfrm>
            <a:off x="-1077191" y="1411903"/>
            <a:ext cx="6288740" cy="461665"/>
          </a:xfrm>
          <a:prstGeom prst="rect">
            <a:avLst/>
          </a:prstGeom>
          <a:noFill/>
        </p:spPr>
        <p:txBody>
          <a:bodyPr wrap="square">
            <a:spAutoFit/>
          </a:bodyPr>
          <a:lstStyle/>
          <a:p>
            <a:pPr algn="ctr"/>
            <a:r>
              <a:rPr lang="en-US" sz="2400" b="1" dirty="0"/>
              <a:t>User Logout :</a:t>
            </a:r>
            <a:endParaRPr lang="en-IN" sz="2400" b="1" dirty="0"/>
          </a:p>
        </p:txBody>
      </p:sp>
      <p:pic>
        <p:nvPicPr>
          <p:cNvPr id="5" name="Picture 4">
            <a:extLst>
              <a:ext uri="{FF2B5EF4-FFF2-40B4-BE49-F238E27FC236}">
                <a16:creationId xmlns:a16="http://schemas.microsoft.com/office/drawing/2014/main" id="{2B726E81-29B4-0ED8-BD2A-0DFF2FCCEC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3263" y="1411903"/>
            <a:ext cx="4085934" cy="3996000"/>
          </a:xfrm>
          <a:prstGeom prst="rect">
            <a:avLst/>
          </a:prstGeom>
        </p:spPr>
      </p:pic>
    </p:spTree>
    <p:extLst>
      <p:ext uri="{BB962C8B-B14F-4D97-AF65-F5344CB8AC3E}">
        <p14:creationId xmlns:p14="http://schemas.microsoft.com/office/powerpoint/2010/main" val="457907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FE82-D046-BCA3-5065-AC66FD34E5C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BBEBA719-0E0B-5081-3CA1-020B70EF1C61}"/>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6041D405-F558-26C8-18E4-D3A6BE236AD6}"/>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249D7D23-C561-7F92-EB40-3A4729E7E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79ECDE83-7E46-4BE4-6EB9-6FA6355B3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C6B85822-3CA5-BB26-EBD4-5E1D3CCB4769}"/>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4" name="Picture 3">
            <a:extLst>
              <a:ext uri="{FF2B5EF4-FFF2-40B4-BE49-F238E27FC236}">
                <a16:creationId xmlns:a16="http://schemas.microsoft.com/office/drawing/2014/main" id="{A259C152-7E74-A551-0AB1-75F8A32E4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3355" y="1032510"/>
            <a:ext cx="5850180" cy="5292000"/>
          </a:xfrm>
          <a:prstGeom prst="rect">
            <a:avLst/>
          </a:prstGeom>
        </p:spPr>
      </p:pic>
      <p:sp>
        <p:nvSpPr>
          <p:cNvPr id="3" name="TextBox 2">
            <a:extLst>
              <a:ext uri="{FF2B5EF4-FFF2-40B4-BE49-F238E27FC236}">
                <a16:creationId xmlns:a16="http://schemas.microsoft.com/office/drawing/2014/main" id="{8AFAC3B3-7C7C-6FAC-2E50-6792C09CF3E9}"/>
              </a:ext>
            </a:extLst>
          </p:cNvPr>
          <p:cNvSpPr txBox="1"/>
          <p:nvPr/>
        </p:nvSpPr>
        <p:spPr>
          <a:xfrm>
            <a:off x="-741829" y="1479371"/>
            <a:ext cx="6288740" cy="461665"/>
          </a:xfrm>
          <a:prstGeom prst="rect">
            <a:avLst/>
          </a:prstGeom>
          <a:noFill/>
        </p:spPr>
        <p:txBody>
          <a:bodyPr wrap="square">
            <a:spAutoFit/>
          </a:bodyPr>
          <a:lstStyle/>
          <a:p>
            <a:pPr algn="ctr"/>
            <a:r>
              <a:rPr lang="en-US" sz="2400" b="1" dirty="0"/>
              <a:t>Browse And Search :</a:t>
            </a:r>
            <a:endParaRPr lang="en-IN" sz="2400" b="1" dirty="0"/>
          </a:p>
        </p:txBody>
      </p:sp>
    </p:spTree>
    <p:extLst>
      <p:ext uri="{BB962C8B-B14F-4D97-AF65-F5344CB8AC3E}">
        <p14:creationId xmlns:p14="http://schemas.microsoft.com/office/powerpoint/2010/main" val="1740540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1336F-2C6D-29B2-AF4F-C40A3F42A74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8F2EC9DF-1385-E72F-58C8-CDEBFF754675}"/>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9604489C-56BF-116A-A142-8D469958DDCA}"/>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5C47D649-98BE-DFC7-C69C-FC89EF5F04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DAEFC459-F216-2AA3-98E1-0F8961F11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EB6305E5-2A24-0A5A-0DA3-934FF8157D78}"/>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5" name="Picture 4">
            <a:extLst>
              <a:ext uri="{FF2B5EF4-FFF2-40B4-BE49-F238E27FC236}">
                <a16:creationId xmlns:a16="http://schemas.microsoft.com/office/drawing/2014/main" id="{BDCDD174-7D87-CE9B-70AA-CBCA41C44E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5216" y="1072970"/>
            <a:ext cx="8154296" cy="5400000"/>
          </a:xfrm>
          <a:prstGeom prst="rect">
            <a:avLst/>
          </a:prstGeom>
        </p:spPr>
      </p:pic>
      <p:sp>
        <p:nvSpPr>
          <p:cNvPr id="3" name="TextBox 2">
            <a:extLst>
              <a:ext uri="{FF2B5EF4-FFF2-40B4-BE49-F238E27FC236}">
                <a16:creationId xmlns:a16="http://schemas.microsoft.com/office/drawing/2014/main" id="{FB524A57-C0F3-B91E-E030-EE567F0D7C02}"/>
              </a:ext>
            </a:extLst>
          </p:cNvPr>
          <p:cNvSpPr txBox="1"/>
          <p:nvPr/>
        </p:nvSpPr>
        <p:spPr>
          <a:xfrm>
            <a:off x="-741829" y="1479371"/>
            <a:ext cx="6288740" cy="461665"/>
          </a:xfrm>
          <a:prstGeom prst="rect">
            <a:avLst/>
          </a:prstGeom>
          <a:noFill/>
        </p:spPr>
        <p:txBody>
          <a:bodyPr wrap="square">
            <a:spAutoFit/>
          </a:bodyPr>
          <a:lstStyle/>
          <a:p>
            <a:pPr algn="ctr"/>
            <a:r>
              <a:rPr lang="en-US" sz="2400" b="1" dirty="0"/>
              <a:t>Rental Dates :</a:t>
            </a:r>
            <a:endParaRPr lang="en-IN" sz="2400" b="1" dirty="0"/>
          </a:p>
        </p:txBody>
      </p:sp>
    </p:spTree>
    <p:extLst>
      <p:ext uri="{BB962C8B-B14F-4D97-AF65-F5344CB8AC3E}">
        <p14:creationId xmlns:p14="http://schemas.microsoft.com/office/powerpoint/2010/main" val="3783345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6C30C-9322-4A02-3D0D-BAFD53196F9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094010B-7915-D320-F7EA-A7CFAFF8DF9A}"/>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DFA8C93C-D7F6-8D0A-6969-77A89F04A4D9}"/>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8115E234-45E2-FA07-9E5A-B5A2F551E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7F00D25C-5118-8C29-4959-D6AE44017F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F410AA6C-30E2-B676-27D4-CE335F487E0C}"/>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4" name="Picture 3">
            <a:extLst>
              <a:ext uri="{FF2B5EF4-FFF2-40B4-BE49-F238E27FC236}">
                <a16:creationId xmlns:a16="http://schemas.microsoft.com/office/drawing/2014/main" id="{6F1D6331-D074-FEA2-B8C3-20BDA00F0F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0853" y="578027"/>
            <a:ext cx="6412223" cy="6120000"/>
          </a:xfrm>
          <a:prstGeom prst="rect">
            <a:avLst/>
          </a:prstGeom>
        </p:spPr>
      </p:pic>
      <p:sp>
        <p:nvSpPr>
          <p:cNvPr id="3" name="TextBox 2">
            <a:extLst>
              <a:ext uri="{FF2B5EF4-FFF2-40B4-BE49-F238E27FC236}">
                <a16:creationId xmlns:a16="http://schemas.microsoft.com/office/drawing/2014/main" id="{C961D9D4-173F-6C50-E4E4-FFEA306F0610}"/>
              </a:ext>
            </a:extLst>
          </p:cNvPr>
          <p:cNvSpPr txBox="1"/>
          <p:nvPr/>
        </p:nvSpPr>
        <p:spPr>
          <a:xfrm>
            <a:off x="-741829" y="1479371"/>
            <a:ext cx="6288740" cy="461665"/>
          </a:xfrm>
          <a:prstGeom prst="rect">
            <a:avLst/>
          </a:prstGeom>
          <a:noFill/>
        </p:spPr>
        <p:txBody>
          <a:bodyPr wrap="square">
            <a:spAutoFit/>
          </a:bodyPr>
          <a:lstStyle/>
          <a:p>
            <a:pPr algn="ctr"/>
            <a:r>
              <a:rPr lang="en-US" sz="2400" b="1" dirty="0"/>
              <a:t>Review Cart :</a:t>
            </a:r>
            <a:endParaRPr lang="en-IN" sz="2400" b="1" dirty="0"/>
          </a:p>
        </p:txBody>
      </p:sp>
    </p:spTree>
    <p:extLst>
      <p:ext uri="{BB962C8B-B14F-4D97-AF65-F5344CB8AC3E}">
        <p14:creationId xmlns:p14="http://schemas.microsoft.com/office/powerpoint/2010/main" val="1303011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3BCA1-0274-19DC-7C6E-6FB7497412D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068FDA70-9C7A-9FA2-8061-66BAFB44751C}"/>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304546D0-C997-00DA-83EF-FE81E68800C0}"/>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6CFBE859-504E-ABF4-D952-348DAC363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2D032217-7C5C-E384-5CB3-5E004558A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7AFB7C68-8348-8F67-7644-E793D2F921BF}"/>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5" name="Picture 4">
            <a:extLst>
              <a:ext uri="{FF2B5EF4-FFF2-40B4-BE49-F238E27FC236}">
                <a16:creationId xmlns:a16="http://schemas.microsoft.com/office/drawing/2014/main" id="{150B0FF5-B915-3C67-AD89-67A92FEAAC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3919" y="578026"/>
            <a:ext cx="7105576" cy="6264000"/>
          </a:xfrm>
          <a:prstGeom prst="rect">
            <a:avLst/>
          </a:prstGeom>
        </p:spPr>
      </p:pic>
      <p:sp>
        <p:nvSpPr>
          <p:cNvPr id="3" name="TextBox 2">
            <a:extLst>
              <a:ext uri="{FF2B5EF4-FFF2-40B4-BE49-F238E27FC236}">
                <a16:creationId xmlns:a16="http://schemas.microsoft.com/office/drawing/2014/main" id="{B7974997-24B3-7515-2196-A9179D2937D1}"/>
              </a:ext>
            </a:extLst>
          </p:cNvPr>
          <p:cNvSpPr txBox="1"/>
          <p:nvPr/>
        </p:nvSpPr>
        <p:spPr>
          <a:xfrm>
            <a:off x="-741829" y="1479371"/>
            <a:ext cx="6288740" cy="461665"/>
          </a:xfrm>
          <a:prstGeom prst="rect">
            <a:avLst/>
          </a:prstGeom>
          <a:noFill/>
        </p:spPr>
        <p:txBody>
          <a:bodyPr wrap="square">
            <a:spAutoFit/>
          </a:bodyPr>
          <a:lstStyle/>
          <a:p>
            <a:pPr algn="ctr"/>
            <a:r>
              <a:rPr lang="en-US" sz="2400" b="1" dirty="0"/>
              <a:t>Order Cancellation :</a:t>
            </a:r>
            <a:endParaRPr lang="en-IN" sz="2400" b="1" dirty="0"/>
          </a:p>
        </p:txBody>
      </p:sp>
    </p:spTree>
    <p:extLst>
      <p:ext uri="{BB962C8B-B14F-4D97-AF65-F5344CB8AC3E}">
        <p14:creationId xmlns:p14="http://schemas.microsoft.com/office/powerpoint/2010/main" val="1344092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1A225-1F53-8F03-370D-5A2F5063CE5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D381FD6-6EE6-196F-D71F-C1BB736630D7}"/>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FA2E75F3-98EB-9B79-57C8-B70A7DBC97FE}"/>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5275CEF9-281B-A3D5-D611-B4E1399A9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BF51E68D-92E2-A2A1-43D1-2CD2817BD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6" name="TextBox 5">
            <a:extLst>
              <a:ext uri="{FF2B5EF4-FFF2-40B4-BE49-F238E27FC236}">
                <a16:creationId xmlns:a16="http://schemas.microsoft.com/office/drawing/2014/main" id="{C07A20A1-43BA-E6BF-87BA-D916D08F6F76}"/>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4" name="Picture 3">
            <a:extLst>
              <a:ext uri="{FF2B5EF4-FFF2-40B4-BE49-F238E27FC236}">
                <a16:creationId xmlns:a16="http://schemas.microsoft.com/office/drawing/2014/main" id="{D4468258-4DA3-7910-27C0-66E2D2E9D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9039" y="1479371"/>
            <a:ext cx="7464000" cy="4500000"/>
          </a:xfrm>
          <a:prstGeom prst="rect">
            <a:avLst/>
          </a:prstGeom>
        </p:spPr>
      </p:pic>
      <p:sp>
        <p:nvSpPr>
          <p:cNvPr id="3" name="TextBox 2">
            <a:extLst>
              <a:ext uri="{FF2B5EF4-FFF2-40B4-BE49-F238E27FC236}">
                <a16:creationId xmlns:a16="http://schemas.microsoft.com/office/drawing/2014/main" id="{802666F9-5378-8801-D6FD-710B596E1DBF}"/>
              </a:ext>
            </a:extLst>
          </p:cNvPr>
          <p:cNvSpPr txBox="1"/>
          <p:nvPr/>
        </p:nvSpPr>
        <p:spPr>
          <a:xfrm>
            <a:off x="-741829" y="1479371"/>
            <a:ext cx="6288740" cy="461665"/>
          </a:xfrm>
          <a:prstGeom prst="rect">
            <a:avLst/>
          </a:prstGeom>
          <a:noFill/>
        </p:spPr>
        <p:txBody>
          <a:bodyPr wrap="square">
            <a:spAutoFit/>
          </a:bodyPr>
          <a:lstStyle/>
          <a:p>
            <a:pPr algn="ctr"/>
            <a:r>
              <a:rPr lang="en-US" sz="2400" b="1" dirty="0"/>
              <a:t>View Order History :</a:t>
            </a:r>
            <a:endParaRPr lang="en-IN" sz="2400" b="1" dirty="0"/>
          </a:p>
        </p:txBody>
      </p:sp>
    </p:spTree>
    <p:extLst>
      <p:ext uri="{BB962C8B-B14F-4D97-AF65-F5344CB8AC3E}">
        <p14:creationId xmlns:p14="http://schemas.microsoft.com/office/powerpoint/2010/main" val="3115974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70C-6AAC-0839-541E-094CC03E2C5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DA5433B-AA05-8640-D59D-8835499423A0}"/>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18E0B27E-4CDE-107F-9CF8-7FEAFAD3EC36}"/>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5ECB498-30F2-8002-88FF-4ED4F88E3FBB}"/>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5" name="Picture 4">
            <a:extLst>
              <a:ext uri="{FF2B5EF4-FFF2-40B4-BE49-F238E27FC236}">
                <a16:creationId xmlns:a16="http://schemas.microsoft.com/office/drawing/2014/main" id="{974048BB-5D69-D01C-51D3-28169C7F25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 y="1281748"/>
            <a:ext cx="11906250" cy="5600700"/>
          </a:xfrm>
          <a:prstGeom prst="rect">
            <a:avLst/>
          </a:prstGeom>
        </p:spPr>
      </p:pic>
      <p:pic>
        <p:nvPicPr>
          <p:cNvPr id="19" name="Picture 18">
            <a:extLst>
              <a:ext uri="{FF2B5EF4-FFF2-40B4-BE49-F238E27FC236}">
                <a16:creationId xmlns:a16="http://schemas.microsoft.com/office/drawing/2014/main" id="{A59F662F-1FFA-3B7F-A9DD-1E17085CC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763075AB-2A14-7941-3099-F789BD5BFA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3" name="TextBox 2">
            <a:extLst>
              <a:ext uri="{FF2B5EF4-FFF2-40B4-BE49-F238E27FC236}">
                <a16:creationId xmlns:a16="http://schemas.microsoft.com/office/drawing/2014/main" id="{3AC25F0B-150F-EC5D-6A69-97395AC879FF}"/>
              </a:ext>
            </a:extLst>
          </p:cNvPr>
          <p:cNvSpPr txBox="1"/>
          <p:nvPr/>
        </p:nvSpPr>
        <p:spPr>
          <a:xfrm>
            <a:off x="-741829" y="1479371"/>
            <a:ext cx="6288740" cy="461665"/>
          </a:xfrm>
          <a:prstGeom prst="rect">
            <a:avLst/>
          </a:prstGeom>
          <a:noFill/>
        </p:spPr>
        <p:txBody>
          <a:bodyPr wrap="square">
            <a:spAutoFit/>
          </a:bodyPr>
          <a:lstStyle/>
          <a:p>
            <a:pPr algn="ctr"/>
            <a:r>
              <a:rPr lang="en-US" sz="2400" b="1" dirty="0"/>
              <a:t>Admin Operations(CRUD) :</a:t>
            </a:r>
            <a:endParaRPr lang="en-IN" sz="2400" b="1" dirty="0"/>
          </a:p>
        </p:txBody>
      </p:sp>
    </p:spTree>
    <p:extLst>
      <p:ext uri="{BB962C8B-B14F-4D97-AF65-F5344CB8AC3E}">
        <p14:creationId xmlns:p14="http://schemas.microsoft.com/office/powerpoint/2010/main" val="4046975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84C40-765F-6B46-47C2-AA958B907F93}"/>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DBD5393E-35BE-DE52-7087-69CAA07F8C1A}"/>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38BD7505-8FA4-EFC3-CB7E-6B25761FC3AD}"/>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73CE74D-9580-B3E3-2882-7C15A0AFDF49}"/>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19" name="Picture 18">
            <a:extLst>
              <a:ext uri="{FF2B5EF4-FFF2-40B4-BE49-F238E27FC236}">
                <a16:creationId xmlns:a16="http://schemas.microsoft.com/office/drawing/2014/main" id="{85AA27AA-DB9F-55E9-C134-F417BC6974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A2FE6523-1DF8-CA84-E22E-F89EF47C9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
        <p:nvSpPr>
          <p:cNvPr id="3" name="TextBox 2">
            <a:extLst>
              <a:ext uri="{FF2B5EF4-FFF2-40B4-BE49-F238E27FC236}">
                <a16:creationId xmlns:a16="http://schemas.microsoft.com/office/drawing/2014/main" id="{2AE5DA17-FB19-0375-6BD4-AA088293647E}"/>
              </a:ext>
            </a:extLst>
          </p:cNvPr>
          <p:cNvSpPr txBox="1"/>
          <p:nvPr/>
        </p:nvSpPr>
        <p:spPr>
          <a:xfrm>
            <a:off x="-741829" y="1479371"/>
            <a:ext cx="6288740" cy="461665"/>
          </a:xfrm>
          <a:prstGeom prst="rect">
            <a:avLst/>
          </a:prstGeom>
          <a:noFill/>
        </p:spPr>
        <p:txBody>
          <a:bodyPr wrap="square">
            <a:spAutoFit/>
          </a:bodyPr>
          <a:lstStyle/>
          <a:p>
            <a:pPr algn="ctr"/>
            <a:r>
              <a:rPr lang="en-US" sz="2400" b="1" dirty="0"/>
              <a:t>Inventory Check(conditions) :</a:t>
            </a:r>
            <a:endParaRPr lang="en-IN" sz="2400" b="1" dirty="0"/>
          </a:p>
        </p:txBody>
      </p:sp>
      <p:pic>
        <p:nvPicPr>
          <p:cNvPr id="4" name="Picture 3">
            <a:extLst>
              <a:ext uri="{FF2B5EF4-FFF2-40B4-BE49-F238E27FC236}">
                <a16:creationId xmlns:a16="http://schemas.microsoft.com/office/drawing/2014/main" id="{2576ED5B-CA7A-F20B-178E-A20E991DF1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9734" y="1279420"/>
            <a:ext cx="4522610" cy="5256000"/>
          </a:xfrm>
          <a:prstGeom prst="rect">
            <a:avLst/>
          </a:prstGeom>
        </p:spPr>
      </p:pic>
    </p:spTree>
    <p:extLst>
      <p:ext uri="{BB962C8B-B14F-4D97-AF65-F5344CB8AC3E}">
        <p14:creationId xmlns:p14="http://schemas.microsoft.com/office/powerpoint/2010/main" val="810266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71C5B-5CBF-23E4-AD86-F0CE56333DBD}"/>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8BE3222D-BD9E-3286-6FE9-AC2E39986C4E}"/>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FE67DB76-1CED-F972-D412-A53786729C8C}"/>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83797330-6CA7-039B-B01B-C54A2EF995C0}"/>
              </a:ext>
            </a:extLst>
          </p:cNvPr>
          <p:cNvSpPr txBox="1"/>
          <p:nvPr/>
        </p:nvSpPr>
        <p:spPr>
          <a:xfrm>
            <a:off x="2609272" y="116362"/>
            <a:ext cx="6248400" cy="461665"/>
          </a:xfrm>
          <a:prstGeom prst="rect">
            <a:avLst/>
          </a:prstGeom>
          <a:noFill/>
        </p:spPr>
        <p:txBody>
          <a:bodyPr wrap="square">
            <a:spAutoFit/>
          </a:bodyPr>
          <a:lstStyle/>
          <a:p>
            <a:pPr algn="ctr"/>
            <a:r>
              <a:rPr lang="en-US" sz="2400" b="1" u="sng" dirty="0"/>
              <a:t>Activity Diagram</a:t>
            </a:r>
            <a:endParaRPr lang="en-IN" sz="2400" b="1" u="sng" dirty="0"/>
          </a:p>
        </p:txBody>
      </p:sp>
      <p:pic>
        <p:nvPicPr>
          <p:cNvPr id="19" name="Picture 18">
            <a:extLst>
              <a:ext uri="{FF2B5EF4-FFF2-40B4-BE49-F238E27FC236}">
                <a16:creationId xmlns:a16="http://schemas.microsoft.com/office/drawing/2014/main" id="{697C1088-4F42-B6C7-E863-34CE624F2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D1751B52-F8E6-0E24-F8BF-946A3F80BA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pic>
        <p:nvPicPr>
          <p:cNvPr id="5" name="Picture 4">
            <a:extLst>
              <a:ext uri="{FF2B5EF4-FFF2-40B4-BE49-F238E27FC236}">
                <a16:creationId xmlns:a16="http://schemas.microsoft.com/office/drawing/2014/main" id="{00019EBB-2188-0492-97AC-D03BFC6398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4724" y="1963420"/>
            <a:ext cx="8337176" cy="4572000"/>
          </a:xfrm>
          <a:prstGeom prst="rect">
            <a:avLst/>
          </a:prstGeom>
        </p:spPr>
      </p:pic>
      <p:sp>
        <p:nvSpPr>
          <p:cNvPr id="3" name="TextBox 2">
            <a:extLst>
              <a:ext uri="{FF2B5EF4-FFF2-40B4-BE49-F238E27FC236}">
                <a16:creationId xmlns:a16="http://schemas.microsoft.com/office/drawing/2014/main" id="{E9FE0A6E-B1D5-0E74-FB36-01B3BF755327}"/>
              </a:ext>
            </a:extLst>
          </p:cNvPr>
          <p:cNvSpPr txBox="1"/>
          <p:nvPr/>
        </p:nvSpPr>
        <p:spPr>
          <a:xfrm>
            <a:off x="-741829" y="1479371"/>
            <a:ext cx="6288740" cy="461665"/>
          </a:xfrm>
          <a:prstGeom prst="rect">
            <a:avLst/>
          </a:prstGeom>
          <a:noFill/>
        </p:spPr>
        <p:txBody>
          <a:bodyPr wrap="square">
            <a:spAutoFit/>
          </a:bodyPr>
          <a:lstStyle/>
          <a:p>
            <a:pPr algn="ctr"/>
            <a:r>
              <a:rPr lang="en-US" sz="2400" b="1" dirty="0"/>
              <a:t>Admin Check Order Status :</a:t>
            </a:r>
            <a:endParaRPr lang="en-IN" sz="2400" b="1" dirty="0"/>
          </a:p>
        </p:txBody>
      </p:sp>
    </p:spTree>
    <p:extLst>
      <p:ext uri="{BB962C8B-B14F-4D97-AF65-F5344CB8AC3E}">
        <p14:creationId xmlns:p14="http://schemas.microsoft.com/office/powerpoint/2010/main" val="1575440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9C8CC-4070-B543-1172-BBDBF3FB23A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3D728DC7-B0DE-3DD6-7DDB-D206A77EAD24}"/>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135F741A-2E9E-4F81-1046-CC8C10BF4DA1}"/>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576E0FA-ECCD-186A-C1DA-8A500FCFEC25}"/>
              </a:ext>
            </a:extLst>
          </p:cNvPr>
          <p:cNvSpPr txBox="1"/>
          <p:nvPr/>
        </p:nvSpPr>
        <p:spPr>
          <a:xfrm>
            <a:off x="2867890" y="2575854"/>
            <a:ext cx="6248400" cy="1015663"/>
          </a:xfrm>
          <a:prstGeom prst="rect">
            <a:avLst/>
          </a:prstGeom>
          <a:noFill/>
        </p:spPr>
        <p:txBody>
          <a:bodyPr wrap="square">
            <a:spAutoFit/>
          </a:bodyPr>
          <a:lstStyle/>
          <a:p>
            <a:pPr algn="ctr"/>
            <a:r>
              <a:rPr lang="en-US" sz="6000" b="1" u="sng" dirty="0">
                <a:latin typeface="Google Sans Text"/>
              </a:rPr>
              <a:t>Data Dictionary</a:t>
            </a:r>
            <a:endParaRPr lang="en-IN" sz="6000" b="1" u="sng" dirty="0">
              <a:latin typeface="Google Sans Text"/>
            </a:endParaRPr>
          </a:p>
        </p:txBody>
      </p:sp>
      <p:pic>
        <p:nvPicPr>
          <p:cNvPr id="19" name="Picture 18">
            <a:extLst>
              <a:ext uri="{FF2B5EF4-FFF2-40B4-BE49-F238E27FC236}">
                <a16:creationId xmlns:a16="http://schemas.microsoft.com/office/drawing/2014/main" id="{AF0A09BD-52E9-C1E0-8774-00423647A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7B67AC7C-DDCF-EFDB-0C00-C25C21C9C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spTree>
    <p:extLst>
      <p:ext uri="{BB962C8B-B14F-4D97-AF65-F5344CB8AC3E}">
        <p14:creationId xmlns:p14="http://schemas.microsoft.com/office/powerpoint/2010/main" val="2934704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EC76-0FBB-1370-5B67-23D418C7C923}"/>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EFBFF685-23E1-0D90-14FC-46FB2267D637}"/>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E2907707-7C88-B9D6-DBD3-A3ADA41FFA45}"/>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4D0E4176-90B6-2919-2447-6D7C16AA0A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580" y="-268997"/>
            <a:ext cx="3200400" cy="2133600"/>
          </a:xfrm>
          <a:prstGeom prst="rect">
            <a:avLst/>
          </a:prstGeom>
        </p:spPr>
      </p:pic>
      <p:pic>
        <p:nvPicPr>
          <p:cNvPr id="21" name="Picture 20">
            <a:extLst>
              <a:ext uri="{FF2B5EF4-FFF2-40B4-BE49-F238E27FC236}">
                <a16:creationId xmlns:a16="http://schemas.microsoft.com/office/drawing/2014/main" id="{9BA8EAF4-8398-AFBA-73AB-A3CD36EB8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2" name="Table 1">
            <a:extLst>
              <a:ext uri="{FF2B5EF4-FFF2-40B4-BE49-F238E27FC236}">
                <a16:creationId xmlns:a16="http://schemas.microsoft.com/office/drawing/2014/main" id="{0CDD44C4-B721-4A62-A403-2D93CC043E24}"/>
              </a:ext>
            </a:extLst>
          </p:cNvPr>
          <p:cNvGraphicFramePr>
            <a:graphicFrameLocks noGrp="1"/>
          </p:cNvGraphicFramePr>
          <p:nvPr>
            <p:extLst>
              <p:ext uri="{D42A27DB-BD31-4B8C-83A1-F6EECF244321}">
                <p14:modId xmlns:p14="http://schemas.microsoft.com/office/powerpoint/2010/main" val="4155115977"/>
              </p:ext>
            </p:extLst>
          </p:nvPr>
        </p:nvGraphicFramePr>
        <p:xfrm>
          <a:off x="149024" y="1735137"/>
          <a:ext cx="11893950" cy="3946880"/>
        </p:xfrm>
        <a:graphic>
          <a:graphicData uri="http://schemas.openxmlformats.org/drawingml/2006/table">
            <a:tbl>
              <a:tblPr firstRow="1" bandRow="1">
                <a:tableStyleId>{D03447BB-5D67-496B-8E87-E561075AD55C}</a:tableStyleId>
              </a:tblPr>
              <a:tblGrid>
                <a:gridCol w="2378790">
                  <a:extLst>
                    <a:ext uri="{9D8B030D-6E8A-4147-A177-3AD203B41FA5}">
                      <a16:colId xmlns:a16="http://schemas.microsoft.com/office/drawing/2014/main" val="296035505"/>
                    </a:ext>
                  </a:extLst>
                </a:gridCol>
                <a:gridCol w="2378790">
                  <a:extLst>
                    <a:ext uri="{9D8B030D-6E8A-4147-A177-3AD203B41FA5}">
                      <a16:colId xmlns:a16="http://schemas.microsoft.com/office/drawing/2014/main" val="3880913178"/>
                    </a:ext>
                  </a:extLst>
                </a:gridCol>
                <a:gridCol w="2439127">
                  <a:extLst>
                    <a:ext uri="{9D8B030D-6E8A-4147-A177-3AD203B41FA5}">
                      <a16:colId xmlns:a16="http://schemas.microsoft.com/office/drawing/2014/main" val="598705947"/>
                    </a:ext>
                  </a:extLst>
                </a:gridCol>
                <a:gridCol w="2318453">
                  <a:extLst>
                    <a:ext uri="{9D8B030D-6E8A-4147-A177-3AD203B41FA5}">
                      <a16:colId xmlns:a16="http://schemas.microsoft.com/office/drawing/2014/main" val="1074180827"/>
                    </a:ext>
                  </a:extLst>
                </a:gridCol>
                <a:gridCol w="2378790">
                  <a:extLst>
                    <a:ext uri="{9D8B030D-6E8A-4147-A177-3AD203B41FA5}">
                      <a16:colId xmlns:a16="http://schemas.microsoft.com/office/drawing/2014/main" val="3136801886"/>
                    </a:ext>
                  </a:extLst>
                </a:gridCol>
              </a:tblGrid>
              <a:tr h="320000">
                <a:tc>
                  <a:txBody>
                    <a:bodyPr/>
                    <a:lstStyle/>
                    <a:p>
                      <a:pPr algn="ctr"/>
                      <a:r>
                        <a:rPr lang="en-US" sz="1250" b="1">
                          <a:solidFill>
                            <a:srgbClr val="E3E3E3"/>
                          </a:solidFill>
                        </a:rPr>
                        <a:t>Field Name</a:t>
                      </a:r>
                    </a:p>
                  </a:txBody>
                  <a:tcPr marL="57150" marR="57150" marT="38100" marB="38100"/>
                </a:tc>
                <a:tc>
                  <a:txBody>
                    <a:bodyPr/>
                    <a:lstStyle/>
                    <a:p>
                      <a:pPr algn="ctr"/>
                      <a:r>
                        <a:rPr lang="en-US" sz="1250" b="1">
                          <a:solidFill>
                            <a:srgbClr val="E3E3E3"/>
                          </a:solidFill>
                        </a:rPr>
                        <a:t>Data Type</a:t>
                      </a:r>
                    </a:p>
                  </a:txBody>
                  <a:tcPr marL="57150" marR="57150" marT="38100" marB="38100"/>
                </a:tc>
                <a:tc>
                  <a:txBody>
                    <a:bodyPr/>
                    <a:lstStyle/>
                    <a:p>
                      <a:pPr algn="ctr"/>
                      <a:r>
                        <a:rPr lang="en-US" sz="1250" b="1">
                          <a:solidFill>
                            <a:srgbClr val="E3E3E3"/>
                          </a:solidFill>
                        </a:rPr>
                        <a:t>Size</a:t>
                      </a:r>
                    </a:p>
                  </a:txBody>
                  <a:tcPr marL="57150" marR="57150" marT="38100" marB="38100"/>
                </a:tc>
                <a:tc>
                  <a:txBody>
                    <a:bodyPr/>
                    <a:lstStyle/>
                    <a:p>
                      <a:pPr algn="ctr"/>
                      <a:r>
                        <a:rPr lang="en-US" sz="1250" b="1">
                          <a:solidFill>
                            <a:srgbClr val="E3E3E3"/>
                          </a:solidFill>
                        </a:rPr>
                        <a:t>Constraints</a:t>
                      </a:r>
                    </a:p>
                  </a:txBody>
                  <a:tcPr marL="57150" marR="57150" marT="38100" marB="38100"/>
                </a:tc>
                <a:tc>
                  <a:txBody>
                    <a:bodyPr/>
                    <a:lstStyle/>
                    <a:p>
                      <a:pPr algn="ctr"/>
                      <a:r>
                        <a:rPr lang="en-US" sz="1250" b="1">
                          <a:solidFill>
                            <a:srgbClr val="E3E3E3"/>
                          </a:solidFill>
                        </a:rPr>
                        <a:t>Description</a:t>
                      </a:r>
                    </a:p>
                  </a:txBody>
                  <a:tcPr marL="57150" marR="57150" marT="38100" marB="38100"/>
                </a:tc>
                <a:extLst>
                  <a:ext uri="{0D108BD9-81ED-4DB2-BD59-A6C34878D82A}">
                    <a16:rowId xmlns:a16="http://schemas.microsoft.com/office/drawing/2014/main" val="10000"/>
                  </a:ext>
                </a:extLst>
              </a:tr>
              <a:tr h="320000">
                <a:tc>
                  <a:txBody>
                    <a:bodyPr/>
                    <a:lstStyle/>
                    <a:p>
                      <a:pPr algn="l"/>
                      <a:r>
                        <a:rPr lang="en-US" sz="1150" b="0">
                          <a:solidFill>
                            <a:srgbClr val="2A2A2A"/>
                          </a:solidFill>
                        </a:rPr>
                        <a:t>id</a:t>
                      </a:r>
                    </a:p>
                  </a:txBody>
                  <a:tcPr marL="57150" marR="57150" marT="38100" marB="38100"/>
                </a:tc>
                <a:tc>
                  <a:txBody>
                    <a:bodyPr/>
                    <a:lstStyle/>
                    <a:p>
                      <a:pPr algn="ctr"/>
                      <a:r>
                        <a:rPr lang="en-US" sz="1150" b="0">
                          <a:solidFill>
                            <a:srgbClr val="2A2A2A"/>
                          </a:solidFill>
                        </a:rPr>
                        <a:t>INT</a:t>
                      </a:r>
                    </a:p>
                  </a:txBody>
                  <a:tcPr marL="57150" marR="57150" marT="38100" marB="38100"/>
                </a:tc>
                <a:tc>
                  <a:txBody>
                    <a:bodyPr/>
                    <a:lstStyle/>
                    <a:p>
                      <a:pPr algn="ctr"/>
                      <a:r>
                        <a:rPr lang="en-US" sz="1150" b="0">
                          <a:solidFill>
                            <a:srgbClr val="2A2A2A"/>
                          </a:solidFill>
                        </a:rPr>
                        <a:t>11</a:t>
                      </a:r>
                    </a:p>
                  </a:txBody>
                  <a:tcPr marL="57150" marR="57150" marT="38100" marB="38100"/>
                </a:tc>
                <a:tc>
                  <a:txBody>
                    <a:bodyPr/>
                    <a:lstStyle/>
                    <a:p>
                      <a:pPr algn="l"/>
                      <a:r>
                        <a:rPr lang="en-US" sz="1150" b="0">
                          <a:solidFill>
                            <a:srgbClr val="2A2A2A"/>
                          </a:solidFill>
                        </a:rPr>
                        <a:t>Primary Key, Auto Increment</a:t>
                      </a:r>
                    </a:p>
                  </a:txBody>
                  <a:tcPr marL="57150" marR="57150" marT="38100" marB="38100"/>
                </a:tc>
                <a:tc>
                  <a:txBody>
                    <a:bodyPr/>
                    <a:lstStyle/>
                    <a:p>
                      <a:pPr algn="l"/>
                      <a:r>
                        <a:rPr lang="en-US" sz="1150" b="0">
                          <a:solidFill>
                            <a:srgbClr val="2A2A2A"/>
                          </a:solidFill>
                        </a:rPr>
                        <a:t>Unique user/customer identifier</a:t>
                      </a:r>
                    </a:p>
                  </a:txBody>
                  <a:tcPr marL="57150" marR="57150" marT="38100" marB="38100"/>
                </a:tc>
                <a:extLst>
                  <a:ext uri="{0D108BD9-81ED-4DB2-BD59-A6C34878D82A}">
                    <a16:rowId xmlns:a16="http://schemas.microsoft.com/office/drawing/2014/main" val="10001"/>
                  </a:ext>
                </a:extLst>
              </a:tr>
              <a:tr h="320000">
                <a:tc>
                  <a:txBody>
                    <a:bodyPr/>
                    <a:lstStyle/>
                    <a:p>
                      <a:pPr algn="l"/>
                      <a:r>
                        <a:rPr lang="en-US" sz="1150" b="0">
                          <a:solidFill>
                            <a:srgbClr val="2A2A2A"/>
                          </a:solidFill>
                        </a:rPr>
                        <a:t>role</a:t>
                      </a:r>
                    </a:p>
                  </a:txBody>
                  <a:tcPr marL="57150" marR="57150" marT="38100" marB="38100"/>
                </a:tc>
                <a:tc>
                  <a:txBody>
                    <a:bodyPr/>
                    <a:lstStyle/>
                    <a:p>
                      <a:pPr algn="ctr"/>
                      <a:r>
                        <a:rPr lang="en-US" sz="1150" b="0">
                          <a:solidFill>
                            <a:srgbClr val="2A2A2A"/>
                          </a:solidFill>
                        </a:rPr>
                        <a:t>ENUM</a:t>
                      </a:r>
                    </a:p>
                  </a:txBody>
                  <a:tcPr marL="57150" marR="57150" marT="38100" marB="38100"/>
                </a:tc>
                <a:tc>
                  <a:txBody>
                    <a:bodyPr/>
                    <a:lstStyle/>
                    <a:p>
                      <a:pPr algn="ctr"/>
                      <a:r>
                        <a:rPr lang="en-US" sz="1150" b="0">
                          <a:solidFill>
                            <a:srgbClr val="2A2A2A"/>
                          </a:solidFill>
                        </a:rPr>
                        <a:t>-</a:t>
                      </a:r>
                    </a:p>
                  </a:txBody>
                  <a:tcPr marL="57150" marR="57150" marT="38100" marB="38100"/>
                </a:tc>
                <a:tc>
                  <a:txBody>
                    <a:bodyPr/>
                    <a:lstStyle/>
                    <a:p>
                      <a:pPr algn="l"/>
                      <a:r>
                        <a:rPr lang="en-US" sz="1150" b="0">
                          <a:solidFill>
                            <a:srgbClr val="2A2A2A"/>
                          </a:solidFill>
                        </a:rPr>
                        <a:t>Default 'customer'</a:t>
                      </a:r>
                    </a:p>
                  </a:txBody>
                  <a:tcPr marL="57150" marR="57150" marT="38100" marB="38100"/>
                </a:tc>
                <a:tc>
                  <a:txBody>
                    <a:bodyPr/>
                    <a:lstStyle/>
                    <a:p>
                      <a:pPr algn="l"/>
                      <a:r>
                        <a:rPr lang="en-US" sz="1150" b="0">
                          <a:solidFill>
                            <a:srgbClr val="2A2A2A"/>
                          </a:solidFill>
                        </a:rPr>
                        <a:t>User authorization role ('admin', 'customer')</a:t>
                      </a:r>
                    </a:p>
                  </a:txBody>
                  <a:tcPr marL="57150" marR="57150" marT="38100" marB="38100"/>
                </a:tc>
                <a:extLst>
                  <a:ext uri="{0D108BD9-81ED-4DB2-BD59-A6C34878D82A}">
                    <a16:rowId xmlns:a16="http://schemas.microsoft.com/office/drawing/2014/main" val="10002"/>
                  </a:ext>
                </a:extLst>
              </a:tr>
              <a:tr h="320000">
                <a:tc>
                  <a:txBody>
                    <a:bodyPr/>
                    <a:lstStyle/>
                    <a:p>
                      <a:pPr algn="l"/>
                      <a:r>
                        <a:rPr lang="en-US" sz="1150" b="0">
                          <a:solidFill>
                            <a:srgbClr val="2A2A2A"/>
                          </a:solidFill>
                        </a:rPr>
                        <a:t>name</a:t>
                      </a:r>
                    </a:p>
                  </a:txBody>
                  <a:tcPr marL="57150" marR="57150" marT="38100" marB="38100"/>
                </a:tc>
                <a:tc>
                  <a:txBody>
                    <a:bodyPr/>
                    <a:lstStyle/>
                    <a:p>
                      <a:pPr algn="ctr"/>
                      <a:r>
                        <a:rPr lang="en-US" sz="1150" b="0">
                          <a:solidFill>
                            <a:srgbClr val="2A2A2A"/>
                          </a:solidFill>
                        </a:rPr>
                        <a:t>VARCHAR</a:t>
                      </a:r>
                    </a:p>
                  </a:txBody>
                  <a:tcPr marL="57150" marR="57150" marT="38100" marB="38100"/>
                </a:tc>
                <a:tc>
                  <a:txBody>
                    <a:bodyPr/>
                    <a:lstStyle/>
                    <a:p>
                      <a:pPr algn="ctr"/>
                      <a:r>
                        <a:rPr lang="en-US" sz="1150" b="0">
                          <a:solidFill>
                            <a:srgbClr val="2A2A2A"/>
                          </a:solidFill>
                        </a:rPr>
                        <a:t>100</a:t>
                      </a:r>
                    </a:p>
                  </a:txBody>
                  <a:tcPr marL="57150" marR="57150" marT="38100" marB="38100"/>
                </a:tc>
                <a:tc>
                  <a:txBody>
                    <a:bodyPr/>
                    <a:lstStyle/>
                    <a:p>
                      <a:pPr algn="l"/>
                      <a:r>
                        <a:rPr lang="en-US" sz="1150" b="0">
                          <a:solidFill>
                            <a:srgbClr val="2A2A2A"/>
                          </a:solidFill>
                        </a:rPr>
                        <a:t>NOT NULL</a:t>
                      </a:r>
                    </a:p>
                  </a:txBody>
                  <a:tcPr marL="57150" marR="57150" marT="38100" marB="38100"/>
                </a:tc>
                <a:tc>
                  <a:txBody>
                    <a:bodyPr/>
                    <a:lstStyle/>
                    <a:p>
                      <a:pPr algn="l"/>
                      <a:r>
                        <a:rPr lang="en-US" sz="1150" b="0">
                          <a:solidFill>
                            <a:srgbClr val="2A2A2A"/>
                          </a:solidFill>
                        </a:rPr>
                        <a:t>User's full name</a:t>
                      </a:r>
                    </a:p>
                  </a:txBody>
                  <a:tcPr marL="57150" marR="57150" marT="38100" marB="38100"/>
                </a:tc>
                <a:extLst>
                  <a:ext uri="{0D108BD9-81ED-4DB2-BD59-A6C34878D82A}">
                    <a16:rowId xmlns:a16="http://schemas.microsoft.com/office/drawing/2014/main" val="10003"/>
                  </a:ext>
                </a:extLst>
              </a:tr>
              <a:tr h="320000">
                <a:tc>
                  <a:txBody>
                    <a:bodyPr/>
                    <a:lstStyle/>
                    <a:p>
                      <a:pPr algn="l"/>
                      <a:r>
                        <a:rPr lang="en-US" sz="1150" b="0">
                          <a:solidFill>
                            <a:srgbClr val="2A2A2A"/>
                          </a:solidFill>
                        </a:rPr>
                        <a:t>email</a:t>
                      </a:r>
                    </a:p>
                  </a:txBody>
                  <a:tcPr marL="57150" marR="57150" marT="38100" marB="38100"/>
                </a:tc>
                <a:tc>
                  <a:txBody>
                    <a:bodyPr/>
                    <a:lstStyle/>
                    <a:p>
                      <a:pPr algn="ctr"/>
                      <a:r>
                        <a:rPr lang="en-US" sz="1150" b="0">
                          <a:solidFill>
                            <a:srgbClr val="2A2A2A"/>
                          </a:solidFill>
                        </a:rPr>
                        <a:t>VARCHAR</a:t>
                      </a:r>
                    </a:p>
                  </a:txBody>
                  <a:tcPr marL="57150" marR="57150" marT="38100" marB="38100"/>
                </a:tc>
                <a:tc>
                  <a:txBody>
                    <a:bodyPr/>
                    <a:lstStyle/>
                    <a:p>
                      <a:pPr algn="ctr"/>
                      <a:r>
                        <a:rPr lang="en-US" sz="1150" b="0">
                          <a:solidFill>
                            <a:srgbClr val="2A2A2A"/>
                          </a:solidFill>
                        </a:rPr>
                        <a:t>100</a:t>
                      </a:r>
                    </a:p>
                  </a:txBody>
                  <a:tcPr marL="57150" marR="57150" marT="38100" marB="38100"/>
                </a:tc>
                <a:tc>
                  <a:txBody>
                    <a:bodyPr/>
                    <a:lstStyle/>
                    <a:p>
                      <a:pPr algn="l"/>
                      <a:r>
                        <a:rPr lang="en-US" sz="1150" b="0">
                          <a:solidFill>
                            <a:srgbClr val="2A2A2A"/>
                          </a:solidFill>
                        </a:rPr>
                        <a:t>UNIQUE, NOT NULL</a:t>
                      </a:r>
                    </a:p>
                  </a:txBody>
                  <a:tcPr marL="57150" marR="57150" marT="38100" marB="38100"/>
                </a:tc>
                <a:tc>
                  <a:txBody>
                    <a:bodyPr/>
                    <a:lstStyle/>
                    <a:p>
                      <a:pPr algn="l"/>
                      <a:r>
                        <a:rPr lang="en-US" sz="1150" b="0">
                          <a:solidFill>
                            <a:srgbClr val="2A2A2A"/>
                          </a:solidFill>
                        </a:rPr>
                        <a:t>Customer/Admin email address (used for login)</a:t>
                      </a:r>
                    </a:p>
                  </a:txBody>
                  <a:tcPr marL="57150" marR="57150" marT="38100" marB="38100"/>
                </a:tc>
                <a:extLst>
                  <a:ext uri="{0D108BD9-81ED-4DB2-BD59-A6C34878D82A}">
                    <a16:rowId xmlns:a16="http://schemas.microsoft.com/office/drawing/2014/main" val="10004"/>
                  </a:ext>
                </a:extLst>
              </a:tr>
              <a:tr h="320000">
                <a:tc>
                  <a:txBody>
                    <a:bodyPr/>
                    <a:lstStyle/>
                    <a:p>
                      <a:pPr algn="l"/>
                      <a:r>
                        <a:rPr lang="en-US" sz="1150" b="0">
                          <a:solidFill>
                            <a:srgbClr val="2A2A2A"/>
                          </a:solidFill>
                        </a:rPr>
                        <a:t>phone</a:t>
                      </a:r>
                    </a:p>
                  </a:txBody>
                  <a:tcPr marL="57150" marR="57150" marT="38100" marB="38100"/>
                </a:tc>
                <a:tc>
                  <a:txBody>
                    <a:bodyPr/>
                    <a:lstStyle/>
                    <a:p>
                      <a:pPr algn="ctr"/>
                      <a:r>
                        <a:rPr lang="en-US" sz="1150" b="0">
                          <a:solidFill>
                            <a:srgbClr val="2A2A2A"/>
                          </a:solidFill>
                        </a:rPr>
                        <a:t>VARCHAR</a:t>
                      </a:r>
                    </a:p>
                  </a:txBody>
                  <a:tcPr marL="57150" marR="57150" marT="38100" marB="38100"/>
                </a:tc>
                <a:tc>
                  <a:txBody>
                    <a:bodyPr/>
                    <a:lstStyle/>
                    <a:p>
                      <a:pPr algn="ctr"/>
                      <a:r>
                        <a:rPr lang="en-US" sz="1150" b="0">
                          <a:solidFill>
                            <a:srgbClr val="2A2A2A"/>
                          </a:solidFill>
                        </a:rPr>
                        <a:t>20</a:t>
                      </a:r>
                    </a:p>
                  </a:txBody>
                  <a:tcPr marL="57150" marR="57150" marT="38100" marB="38100"/>
                </a:tc>
                <a:tc>
                  <a:txBody>
                    <a:bodyPr/>
                    <a:lstStyle/>
                    <a:p>
                      <a:pPr algn="l"/>
                      <a:r>
                        <a:rPr lang="en-US" sz="1150" b="0">
                          <a:solidFill>
                            <a:srgbClr val="2A2A2A"/>
                          </a:solidFill>
                        </a:rPr>
                        <a:t>NOT NULL</a:t>
                      </a:r>
                    </a:p>
                  </a:txBody>
                  <a:tcPr marL="57150" marR="57150" marT="38100" marB="38100"/>
                </a:tc>
                <a:tc>
                  <a:txBody>
                    <a:bodyPr/>
                    <a:lstStyle/>
                    <a:p>
                      <a:pPr algn="l"/>
                      <a:r>
                        <a:rPr lang="en-US" sz="1150" b="0">
                          <a:solidFill>
                            <a:srgbClr val="2A2A2A"/>
                          </a:solidFill>
                        </a:rPr>
                        <a:t>User contact phone number</a:t>
                      </a:r>
                    </a:p>
                  </a:txBody>
                  <a:tcPr marL="57150" marR="57150" marT="38100" marB="38100"/>
                </a:tc>
                <a:extLst>
                  <a:ext uri="{0D108BD9-81ED-4DB2-BD59-A6C34878D82A}">
                    <a16:rowId xmlns:a16="http://schemas.microsoft.com/office/drawing/2014/main" val="10005"/>
                  </a:ext>
                </a:extLst>
              </a:tr>
              <a:tr h="320000">
                <a:tc>
                  <a:txBody>
                    <a:bodyPr/>
                    <a:lstStyle/>
                    <a:p>
                      <a:pPr algn="l"/>
                      <a:r>
                        <a:rPr lang="en-US" sz="1150" b="0">
                          <a:solidFill>
                            <a:srgbClr val="2A2A2A"/>
                          </a:solidFill>
                        </a:rPr>
                        <a:t>password</a:t>
                      </a:r>
                    </a:p>
                  </a:txBody>
                  <a:tcPr marL="57150" marR="57150" marT="38100" marB="38100"/>
                </a:tc>
                <a:tc>
                  <a:txBody>
                    <a:bodyPr/>
                    <a:lstStyle/>
                    <a:p>
                      <a:pPr algn="ctr"/>
                      <a:r>
                        <a:rPr lang="en-US" sz="1150" b="0">
                          <a:solidFill>
                            <a:srgbClr val="2A2A2A"/>
                          </a:solidFill>
                        </a:rPr>
                        <a:t>VARCHAR</a:t>
                      </a:r>
                    </a:p>
                  </a:txBody>
                  <a:tcPr marL="57150" marR="57150" marT="38100" marB="38100"/>
                </a:tc>
                <a:tc>
                  <a:txBody>
                    <a:bodyPr/>
                    <a:lstStyle/>
                    <a:p>
                      <a:pPr algn="ctr"/>
                      <a:r>
                        <a:rPr lang="en-US" sz="1150" b="0">
                          <a:solidFill>
                            <a:srgbClr val="2A2A2A"/>
                          </a:solidFill>
                        </a:rPr>
                        <a:t>255</a:t>
                      </a:r>
                    </a:p>
                  </a:txBody>
                  <a:tcPr marL="57150" marR="57150" marT="38100" marB="38100"/>
                </a:tc>
                <a:tc>
                  <a:txBody>
                    <a:bodyPr/>
                    <a:lstStyle/>
                    <a:p>
                      <a:pPr algn="l"/>
                      <a:r>
                        <a:rPr lang="en-US" sz="1150" b="0">
                          <a:solidFill>
                            <a:srgbClr val="2A2A2A"/>
                          </a:solidFill>
                        </a:rPr>
                        <a:t>NOT NULL</a:t>
                      </a:r>
                    </a:p>
                  </a:txBody>
                  <a:tcPr marL="57150" marR="57150" marT="38100" marB="38100"/>
                </a:tc>
                <a:tc>
                  <a:txBody>
                    <a:bodyPr/>
                    <a:lstStyle/>
                    <a:p>
                      <a:pPr algn="l"/>
                      <a:r>
                        <a:rPr lang="en-US" sz="1150" b="0">
                          <a:solidFill>
                            <a:srgbClr val="2A2A2A"/>
                          </a:solidFill>
                        </a:rPr>
                        <a:t>Hashed password string (bcrypt)</a:t>
                      </a:r>
                    </a:p>
                  </a:txBody>
                  <a:tcPr marL="57150" marR="57150" marT="38100" marB="38100"/>
                </a:tc>
                <a:extLst>
                  <a:ext uri="{0D108BD9-81ED-4DB2-BD59-A6C34878D82A}">
                    <a16:rowId xmlns:a16="http://schemas.microsoft.com/office/drawing/2014/main" val="10006"/>
                  </a:ext>
                </a:extLst>
              </a:tr>
              <a:tr h="320000">
                <a:tc>
                  <a:txBody>
                    <a:bodyPr/>
                    <a:lstStyle/>
                    <a:p>
                      <a:pPr algn="l"/>
                      <a:r>
                        <a:rPr lang="en-US" sz="1150" b="0">
                          <a:solidFill>
                            <a:srgbClr val="2A2A2A"/>
                          </a:solidFill>
                        </a:rPr>
                        <a:t>otp_code</a:t>
                      </a:r>
                    </a:p>
                  </a:txBody>
                  <a:tcPr marL="57150" marR="57150" marT="38100" marB="38100"/>
                </a:tc>
                <a:tc>
                  <a:txBody>
                    <a:bodyPr/>
                    <a:lstStyle/>
                    <a:p>
                      <a:pPr algn="ctr"/>
                      <a:r>
                        <a:rPr lang="en-US" sz="1150" b="0">
                          <a:solidFill>
                            <a:srgbClr val="2A2A2A"/>
                          </a:solidFill>
                        </a:rPr>
                        <a:t>VARCHAR</a:t>
                      </a:r>
                    </a:p>
                  </a:txBody>
                  <a:tcPr marL="57150" marR="57150" marT="38100" marB="38100"/>
                </a:tc>
                <a:tc>
                  <a:txBody>
                    <a:bodyPr/>
                    <a:lstStyle/>
                    <a:p>
                      <a:pPr algn="ctr"/>
                      <a:r>
                        <a:rPr lang="en-US" sz="1150" b="0">
                          <a:solidFill>
                            <a:srgbClr val="2A2A2A"/>
                          </a:solidFill>
                        </a:rPr>
                        <a:t>6</a:t>
                      </a:r>
                    </a:p>
                  </a:txBody>
                  <a:tcPr marL="57150" marR="57150" marT="38100" marB="38100"/>
                </a:tc>
                <a:tc>
                  <a:txBody>
                    <a:bodyPr/>
                    <a:lstStyle/>
                    <a:p>
                      <a:pPr algn="l"/>
                      <a:r>
                        <a:rPr lang="en-US" sz="1150" b="0">
                          <a:solidFill>
                            <a:srgbClr val="2A2A2A"/>
                          </a:solidFill>
                        </a:rPr>
                        <a:t>NULL</a:t>
                      </a:r>
                    </a:p>
                  </a:txBody>
                  <a:tcPr marL="57150" marR="57150" marT="38100" marB="38100"/>
                </a:tc>
                <a:tc>
                  <a:txBody>
                    <a:bodyPr/>
                    <a:lstStyle/>
                    <a:p>
                      <a:pPr algn="l"/>
                      <a:r>
                        <a:rPr lang="en-US" sz="1150" b="0">
                          <a:solidFill>
                            <a:srgbClr val="2A2A2A"/>
                          </a:solidFill>
                        </a:rPr>
                        <a:t>6-digit email verification OTP code</a:t>
                      </a:r>
                    </a:p>
                  </a:txBody>
                  <a:tcPr marL="57150" marR="57150" marT="38100" marB="38100"/>
                </a:tc>
                <a:extLst>
                  <a:ext uri="{0D108BD9-81ED-4DB2-BD59-A6C34878D82A}">
                    <a16:rowId xmlns:a16="http://schemas.microsoft.com/office/drawing/2014/main" val="10007"/>
                  </a:ext>
                </a:extLst>
              </a:tr>
              <a:tr h="320000">
                <a:tc>
                  <a:txBody>
                    <a:bodyPr/>
                    <a:lstStyle/>
                    <a:p>
                      <a:pPr algn="l"/>
                      <a:r>
                        <a:rPr lang="en-US" sz="1150" b="0">
                          <a:solidFill>
                            <a:srgbClr val="2A2A2A"/>
                          </a:solidFill>
                        </a:rPr>
                        <a:t>otp_expires_at</a:t>
                      </a:r>
                    </a:p>
                  </a:txBody>
                  <a:tcPr marL="57150" marR="57150" marT="38100" marB="38100"/>
                </a:tc>
                <a:tc>
                  <a:txBody>
                    <a:bodyPr/>
                    <a:lstStyle/>
                    <a:p>
                      <a:pPr algn="ctr"/>
                      <a:r>
                        <a:rPr lang="en-US" sz="1150" b="0">
                          <a:solidFill>
                            <a:srgbClr val="2A2A2A"/>
                          </a:solidFill>
                        </a:rPr>
                        <a:t>DATETIME</a:t>
                      </a:r>
                    </a:p>
                  </a:txBody>
                  <a:tcPr marL="57150" marR="57150" marT="38100" marB="38100"/>
                </a:tc>
                <a:tc>
                  <a:txBody>
                    <a:bodyPr/>
                    <a:lstStyle/>
                    <a:p>
                      <a:pPr algn="ctr"/>
                      <a:r>
                        <a:rPr lang="en-US" sz="1150" b="0">
                          <a:solidFill>
                            <a:srgbClr val="2A2A2A"/>
                          </a:solidFill>
                        </a:rPr>
                        <a:t>-</a:t>
                      </a:r>
                    </a:p>
                  </a:txBody>
                  <a:tcPr marL="57150" marR="57150" marT="38100" marB="38100"/>
                </a:tc>
                <a:tc>
                  <a:txBody>
                    <a:bodyPr/>
                    <a:lstStyle/>
                    <a:p>
                      <a:pPr algn="l"/>
                      <a:r>
                        <a:rPr lang="en-US" sz="1150" b="0">
                          <a:solidFill>
                            <a:srgbClr val="2A2A2A"/>
                          </a:solidFill>
                        </a:rPr>
                        <a:t>NULL</a:t>
                      </a:r>
                    </a:p>
                  </a:txBody>
                  <a:tcPr marL="57150" marR="57150" marT="38100" marB="38100"/>
                </a:tc>
                <a:tc>
                  <a:txBody>
                    <a:bodyPr/>
                    <a:lstStyle/>
                    <a:p>
                      <a:pPr algn="l"/>
                      <a:r>
                        <a:rPr lang="en-US" sz="1150" b="0">
                          <a:solidFill>
                            <a:srgbClr val="2A2A2A"/>
                          </a:solidFill>
                        </a:rPr>
                        <a:t>Expiration timestamp for active OTP</a:t>
                      </a:r>
                    </a:p>
                  </a:txBody>
                  <a:tcPr marL="57150" marR="57150" marT="38100" marB="38100"/>
                </a:tc>
                <a:extLst>
                  <a:ext uri="{0D108BD9-81ED-4DB2-BD59-A6C34878D82A}">
                    <a16:rowId xmlns:a16="http://schemas.microsoft.com/office/drawing/2014/main" val="10008"/>
                  </a:ext>
                </a:extLst>
              </a:tr>
              <a:tr h="320000">
                <a:tc>
                  <a:txBody>
                    <a:bodyPr/>
                    <a:lstStyle/>
                    <a:p>
                      <a:pPr algn="l"/>
                      <a:r>
                        <a:rPr lang="en-US" sz="1150" b="0">
                          <a:solidFill>
                            <a:srgbClr val="2A2A2A"/>
                          </a:solidFill>
                        </a:rPr>
                        <a:t>is_verified</a:t>
                      </a:r>
                    </a:p>
                  </a:txBody>
                  <a:tcPr marL="57150" marR="57150" marT="38100" marB="38100"/>
                </a:tc>
                <a:tc>
                  <a:txBody>
                    <a:bodyPr/>
                    <a:lstStyle/>
                    <a:p>
                      <a:pPr algn="ctr"/>
                      <a:r>
                        <a:rPr lang="en-US" sz="1150" b="0">
                          <a:solidFill>
                            <a:srgbClr val="2A2A2A"/>
                          </a:solidFill>
                        </a:rPr>
                        <a:t>TINYINT</a:t>
                      </a:r>
                    </a:p>
                  </a:txBody>
                  <a:tcPr marL="57150" marR="57150" marT="38100" marB="38100"/>
                </a:tc>
                <a:tc>
                  <a:txBody>
                    <a:bodyPr/>
                    <a:lstStyle/>
                    <a:p>
                      <a:pPr algn="ctr"/>
                      <a:r>
                        <a:rPr lang="en-US" sz="1150" b="0">
                          <a:solidFill>
                            <a:srgbClr val="2A2A2A"/>
                          </a:solidFill>
                        </a:rPr>
                        <a:t>1</a:t>
                      </a:r>
                    </a:p>
                  </a:txBody>
                  <a:tcPr marL="57150" marR="57150" marT="38100" marB="38100"/>
                </a:tc>
                <a:tc>
                  <a:txBody>
                    <a:bodyPr/>
                    <a:lstStyle/>
                    <a:p>
                      <a:pPr algn="l"/>
                      <a:r>
                        <a:rPr lang="en-US" sz="1150" b="0">
                          <a:solidFill>
                            <a:srgbClr val="2A2A2A"/>
                          </a:solidFill>
                        </a:rPr>
                        <a:t>Default 0</a:t>
                      </a:r>
                    </a:p>
                  </a:txBody>
                  <a:tcPr marL="57150" marR="57150" marT="38100" marB="38100"/>
                </a:tc>
                <a:tc>
                  <a:txBody>
                    <a:bodyPr/>
                    <a:lstStyle/>
                    <a:p>
                      <a:pPr algn="l"/>
                      <a:r>
                        <a:rPr lang="en-US" sz="1150" b="0">
                          <a:solidFill>
                            <a:srgbClr val="2A2A2A"/>
                          </a:solidFill>
                        </a:rPr>
                        <a:t>Email verification status flag (1 = verified)</a:t>
                      </a:r>
                    </a:p>
                  </a:txBody>
                  <a:tcPr marL="57150" marR="57150" marT="38100" marB="38100"/>
                </a:tc>
                <a:extLst>
                  <a:ext uri="{0D108BD9-81ED-4DB2-BD59-A6C34878D82A}">
                    <a16:rowId xmlns:a16="http://schemas.microsoft.com/office/drawing/2014/main" val="10009"/>
                  </a:ext>
                </a:extLst>
              </a:tr>
              <a:tr h="320000">
                <a:tc>
                  <a:txBody>
                    <a:bodyPr/>
                    <a:lstStyle/>
                    <a:p>
                      <a:pPr algn="l"/>
                      <a:r>
                        <a:rPr lang="en-US" sz="1150" b="0">
                          <a:solidFill>
                            <a:srgbClr val="2A2A2A"/>
                          </a:solidFill>
                        </a:rPr>
                        <a:t>last_activity</a:t>
                      </a:r>
                    </a:p>
                  </a:txBody>
                  <a:tcPr marL="57150" marR="57150" marT="38100" marB="38100"/>
                </a:tc>
                <a:tc>
                  <a:txBody>
                    <a:bodyPr/>
                    <a:lstStyle/>
                    <a:p>
                      <a:pPr algn="ctr"/>
                      <a:r>
                        <a:rPr lang="en-US" sz="1150" b="0">
                          <a:solidFill>
                            <a:srgbClr val="2A2A2A"/>
                          </a:solidFill>
                        </a:rPr>
                        <a:t>TIMESTAMP</a:t>
                      </a:r>
                    </a:p>
                  </a:txBody>
                  <a:tcPr marL="57150" marR="57150" marT="38100" marB="38100"/>
                </a:tc>
                <a:tc>
                  <a:txBody>
                    <a:bodyPr/>
                    <a:lstStyle/>
                    <a:p>
                      <a:pPr algn="ctr"/>
                      <a:r>
                        <a:rPr lang="en-US" sz="1150" b="0">
                          <a:solidFill>
                            <a:srgbClr val="2A2A2A"/>
                          </a:solidFill>
                        </a:rPr>
                        <a:t>-</a:t>
                      </a:r>
                    </a:p>
                  </a:txBody>
                  <a:tcPr marL="57150" marR="57150" marT="38100" marB="38100"/>
                </a:tc>
                <a:tc>
                  <a:txBody>
                    <a:bodyPr/>
                    <a:lstStyle/>
                    <a:p>
                      <a:pPr algn="l"/>
                      <a:r>
                        <a:rPr lang="en-US" sz="1150" b="0">
                          <a:solidFill>
                            <a:srgbClr val="2A2A2A"/>
                          </a:solidFill>
                        </a:rPr>
                        <a:t>NULL</a:t>
                      </a:r>
                    </a:p>
                  </a:txBody>
                  <a:tcPr marL="57150" marR="57150" marT="38100" marB="38100"/>
                </a:tc>
                <a:tc>
                  <a:txBody>
                    <a:bodyPr/>
                    <a:lstStyle/>
                    <a:p>
                      <a:pPr algn="l"/>
                      <a:r>
                        <a:rPr lang="en-US" sz="1150" b="0">
                          <a:solidFill>
                            <a:srgbClr val="2A2A2A"/>
                          </a:solidFill>
                        </a:rPr>
                        <a:t>Timestamp of user's most recent activity</a:t>
                      </a:r>
                    </a:p>
                  </a:txBody>
                  <a:tcPr marL="57150" marR="57150" marT="38100" marB="38100"/>
                </a:tc>
                <a:extLst>
                  <a:ext uri="{0D108BD9-81ED-4DB2-BD59-A6C34878D82A}">
                    <a16:rowId xmlns:a16="http://schemas.microsoft.com/office/drawing/2014/main" val="10010"/>
                  </a:ext>
                </a:extLst>
              </a:tr>
            </a:tbl>
          </a:graphicData>
        </a:graphic>
      </p:graphicFrame>
      <p:sp>
        <p:nvSpPr>
          <p:cNvPr id="4" name="TextBox 3">
            <a:extLst>
              <a:ext uri="{FF2B5EF4-FFF2-40B4-BE49-F238E27FC236}">
                <a16:creationId xmlns:a16="http://schemas.microsoft.com/office/drawing/2014/main" id="{20C0193E-0CBB-0D86-1EB3-9DE49E10DE1B}"/>
              </a:ext>
            </a:extLst>
          </p:cNvPr>
          <p:cNvSpPr txBox="1"/>
          <p:nvPr/>
        </p:nvSpPr>
        <p:spPr>
          <a:xfrm>
            <a:off x="2481580" y="604689"/>
            <a:ext cx="6263640" cy="584775"/>
          </a:xfrm>
          <a:prstGeom prst="rect">
            <a:avLst/>
          </a:prstGeom>
          <a:noFill/>
        </p:spPr>
        <p:txBody>
          <a:bodyPr wrap="square">
            <a:spAutoFit/>
          </a:bodyPr>
          <a:lstStyle/>
          <a:p>
            <a:pPr algn="ctr"/>
            <a:r>
              <a:rPr lang="en-US" sz="3200" b="1" dirty="0" err="1">
                <a:latin typeface="Google Sans Text"/>
              </a:rPr>
              <a:t>Table: users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3878603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0A3C3-5476-CA72-FF81-1134F2FADBC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494FCC28-4133-8E02-EAE0-DC73B4D919E8}"/>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1090EF7A-6DD2-0636-DC12-B1F0EC9A6FCD}"/>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929A3CB9-5B26-F7B4-E490-F556478D2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5177733B-6F7C-CA6F-5CF3-7E227C7BF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3" name="Table 2">
            <a:extLst>
              <a:ext uri="{FF2B5EF4-FFF2-40B4-BE49-F238E27FC236}">
                <a16:creationId xmlns:a16="http://schemas.microsoft.com/office/drawing/2014/main" id="{F9CDD0EE-14BA-B34B-0093-7E3A03092D23}"/>
              </a:ext>
            </a:extLst>
          </p:cNvPr>
          <p:cNvGraphicFramePr>
            <a:graphicFrameLocks noGrp="1"/>
          </p:cNvGraphicFramePr>
          <p:nvPr>
            <p:extLst>
              <p:ext uri="{D42A27DB-BD31-4B8C-83A1-F6EECF244321}">
                <p14:modId xmlns:p14="http://schemas.microsoft.com/office/powerpoint/2010/main" val="1191682984"/>
              </p:ext>
            </p:extLst>
          </p:nvPr>
        </p:nvGraphicFramePr>
        <p:xfrm>
          <a:off x="838200" y="1825625"/>
          <a:ext cx="10256520" cy="1719160"/>
        </p:xfrm>
        <a:graphic>
          <a:graphicData uri="http://schemas.openxmlformats.org/drawingml/2006/table">
            <a:tbl>
              <a:tblPr firstRow="1" bandRow="1">
                <a:tableStyleId>{D03447BB-5D67-496B-8E87-E561075AD55C}</a:tableStyleId>
              </a:tblPr>
              <a:tblGrid>
                <a:gridCol w="2051304">
                  <a:extLst>
                    <a:ext uri="{9D8B030D-6E8A-4147-A177-3AD203B41FA5}">
                      <a16:colId xmlns:a16="http://schemas.microsoft.com/office/drawing/2014/main" val="2863584880"/>
                    </a:ext>
                  </a:extLst>
                </a:gridCol>
                <a:gridCol w="2051304">
                  <a:extLst>
                    <a:ext uri="{9D8B030D-6E8A-4147-A177-3AD203B41FA5}">
                      <a16:colId xmlns:a16="http://schemas.microsoft.com/office/drawing/2014/main" val="1471495674"/>
                    </a:ext>
                  </a:extLst>
                </a:gridCol>
                <a:gridCol w="2051304">
                  <a:extLst>
                    <a:ext uri="{9D8B030D-6E8A-4147-A177-3AD203B41FA5}">
                      <a16:colId xmlns:a16="http://schemas.microsoft.com/office/drawing/2014/main" val="2128362663"/>
                    </a:ext>
                  </a:extLst>
                </a:gridCol>
                <a:gridCol w="2051304">
                  <a:extLst>
                    <a:ext uri="{9D8B030D-6E8A-4147-A177-3AD203B41FA5}">
                      <a16:colId xmlns:a16="http://schemas.microsoft.com/office/drawing/2014/main" val="2079010782"/>
                    </a:ext>
                  </a:extLst>
                </a:gridCol>
                <a:gridCol w="2051304">
                  <a:extLst>
                    <a:ext uri="{9D8B030D-6E8A-4147-A177-3AD203B41FA5}">
                      <a16:colId xmlns:a16="http://schemas.microsoft.com/office/drawing/2014/main" val="4045856243"/>
                    </a:ext>
                  </a:extLst>
                </a:gridCol>
              </a:tblGrid>
              <a:tr h="320000">
                <a:tc>
                  <a:txBody>
                    <a:bodyPr/>
                    <a:lstStyle/>
                    <a:p>
                      <a:pPr algn="ctr"/>
                      <a:r>
                        <a:rPr lang="en-US" sz="1450" b="1">
                          <a:solidFill>
                            <a:srgbClr val="E3E3E3"/>
                          </a:solidFill>
                        </a:rPr>
                        <a:t>Field Name</a:t>
                      </a:r>
                    </a:p>
                  </a:txBody>
                  <a:tcPr marL="57150" marR="57150" marT="38100" marB="38100"/>
                </a:tc>
                <a:tc>
                  <a:txBody>
                    <a:bodyPr/>
                    <a:lstStyle/>
                    <a:p>
                      <a:pPr algn="ctr"/>
                      <a:r>
                        <a:rPr lang="en-US" sz="1450" b="1">
                          <a:solidFill>
                            <a:srgbClr val="E3E3E3"/>
                          </a:solidFill>
                        </a:rPr>
                        <a:t>Data Type</a:t>
                      </a:r>
                    </a:p>
                  </a:txBody>
                  <a:tcPr marL="57150" marR="57150" marT="38100" marB="38100"/>
                </a:tc>
                <a:tc>
                  <a:txBody>
                    <a:bodyPr/>
                    <a:lstStyle/>
                    <a:p>
                      <a:pPr algn="ctr"/>
                      <a:r>
                        <a:rPr lang="en-US" sz="1450" b="1">
                          <a:solidFill>
                            <a:srgbClr val="E3E3E3"/>
                          </a:solidFill>
                        </a:rPr>
                        <a:t>Size</a:t>
                      </a:r>
                    </a:p>
                  </a:txBody>
                  <a:tcPr marL="57150" marR="57150" marT="38100" marB="38100"/>
                </a:tc>
                <a:tc>
                  <a:txBody>
                    <a:bodyPr/>
                    <a:lstStyle/>
                    <a:p>
                      <a:pPr algn="ctr"/>
                      <a:r>
                        <a:rPr lang="en-US" sz="1450" b="1">
                          <a:solidFill>
                            <a:srgbClr val="E3E3E3"/>
                          </a:solidFill>
                        </a:rPr>
                        <a:t>Constraints</a:t>
                      </a:r>
                    </a:p>
                  </a:txBody>
                  <a:tcPr marL="57150" marR="57150" marT="38100" marB="38100"/>
                </a:tc>
                <a:tc>
                  <a:txBody>
                    <a:bodyPr/>
                    <a:lstStyle/>
                    <a:p>
                      <a:pPr algn="ctr"/>
                      <a:r>
                        <a:rPr lang="en-US" sz="1450" b="1">
                          <a:solidFill>
                            <a:srgbClr val="E3E3E3"/>
                          </a:solidFill>
                        </a:rPr>
                        <a:t>Description</a:t>
                      </a:r>
                    </a:p>
                  </a:txBody>
                  <a:tcPr marL="57150" marR="57150" marT="38100" marB="38100"/>
                </a:tc>
                <a:extLst>
                  <a:ext uri="{0D108BD9-81ED-4DB2-BD59-A6C34878D82A}">
                    <a16:rowId xmlns:a16="http://schemas.microsoft.com/office/drawing/2014/main" val="10000"/>
                  </a:ext>
                </a:extLst>
              </a:tr>
              <a:tr h="500000">
                <a:tc>
                  <a:txBody>
                    <a:bodyPr/>
                    <a:lstStyle/>
                    <a:p>
                      <a:pPr algn="l"/>
                      <a:r>
                        <a:rPr lang="en-US" sz="1350" b="0">
                          <a:solidFill>
                            <a:srgbClr val="2A2A2A"/>
                          </a:solidFill>
                        </a:rPr>
                        <a:t>id</a:t>
                      </a:r>
                    </a:p>
                  </a:txBody>
                  <a:tcPr marL="57150" marR="57150" marT="38100" marB="38100"/>
                </a:tc>
                <a:tc>
                  <a:txBody>
                    <a:bodyPr/>
                    <a:lstStyle/>
                    <a:p>
                      <a:pPr algn="ctr"/>
                      <a:r>
                        <a:rPr lang="en-US" sz="1350" b="0">
                          <a:solidFill>
                            <a:srgbClr val="2A2A2A"/>
                          </a:solidFill>
                        </a:rPr>
                        <a:t>INT</a:t>
                      </a:r>
                    </a:p>
                  </a:txBody>
                  <a:tcPr marL="57150" marR="57150" marT="38100" marB="38100"/>
                </a:tc>
                <a:tc>
                  <a:txBody>
                    <a:bodyPr/>
                    <a:lstStyle/>
                    <a:p>
                      <a:pPr algn="ctr"/>
                      <a:r>
                        <a:rPr lang="en-US" sz="1350" b="0">
                          <a:solidFill>
                            <a:srgbClr val="2A2A2A"/>
                          </a:solidFill>
                        </a:rPr>
                        <a:t>11</a:t>
                      </a:r>
                    </a:p>
                  </a:txBody>
                  <a:tcPr marL="57150" marR="57150" marT="38100" marB="38100"/>
                </a:tc>
                <a:tc>
                  <a:txBody>
                    <a:bodyPr/>
                    <a:lstStyle/>
                    <a:p>
                      <a:pPr algn="l"/>
                      <a:r>
                        <a:rPr lang="en-US" sz="1350" b="0">
                          <a:solidFill>
                            <a:srgbClr val="2A2A2A"/>
                          </a:solidFill>
                        </a:rPr>
                        <a:t>Primary Key, Auto Increment</a:t>
                      </a:r>
                    </a:p>
                  </a:txBody>
                  <a:tcPr marL="57150" marR="57150" marT="38100" marB="38100"/>
                </a:tc>
                <a:tc>
                  <a:txBody>
                    <a:bodyPr/>
                    <a:lstStyle/>
                    <a:p>
                      <a:pPr algn="l"/>
                      <a:r>
                        <a:rPr lang="en-US" sz="1350" b="0">
                          <a:solidFill>
                            <a:srgbClr val="2A2A2A"/>
                          </a:solidFill>
                        </a:rPr>
                        <a:t>Unique identifier for gadget category</a:t>
                      </a:r>
                    </a:p>
                  </a:txBody>
                  <a:tcPr marL="57150" marR="57150" marT="38100" marB="38100"/>
                </a:tc>
                <a:extLst>
                  <a:ext uri="{0D108BD9-81ED-4DB2-BD59-A6C34878D82A}">
                    <a16:rowId xmlns:a16="http://schemas.microsoft.com/office/drawing/2014/main" val="10001"/>
                  </a:ext>
                </a:extLst>
              </a:tr>
              <a:tr h="500000">
                <a:tc>
                  <a:txBody>
                    <a:bodyPr/>
                    <a:lstStyle/>
                    <a:p>
                      <a:pPr algn="l"/>
                      <a:r>
                        <a:rPr lang="en-US" sz="1350" b="0">
                          <a:solidFill>
                            <a:srgbClr val="2A2A2A"/>
                          </a:solidFill>
                        </a:rPr>
                        <a:t>name</a:t>
                      </a:r>
                    </a:p>
                  </a:txBody>
                  <a:tcPr marL="57150" marR="57150" marT="38100" marB="38100"/>
                </a:tc>
                <a:tc>
                  <a:txBody>
                    <a:bodyPr/>
                    <a:lstStyle/>
                    <a:p>
                      <a:pPr algn="ctr"/>
                      <a:r>
                        <a:rPr lang="en-US" sz="1350" b="0">
                          <a:solidFill>
                            <a:srgbClr val="2A2A2A"/>
                          </a:solidFill>
                        </a:rPr>
                        <a:t>VARCHAR</a:t>
                      </a:r>
                    </a:p>
                  </a:txBody>
                  <a:tcPr marL="57150" marR="57150" marT="38100" marB="38100"/>
                </a:tc>
                <a:tc>
                  <a:txBody>
                    <a:bodyPr/>
                    <a:lstStyle/>
                    <a:p>
                      <a:pPr algn="ctr"/>
                      <a:r>
                        <a:rPr lang="en-US" sz="1350" b="0">
                          <a:solidFill>
                            <a:srgbClr val="2A2A2A"/>
                          </a:solidFill>
                        </a:rPr>
                        <a:t>100</a:t>
                      </a:r>
                    </a:p>
                  </a:txBody>
                  <a:tcPr marL="57150" marR="57150" marT="38100" marB="38100"/>
                </a:tc>
                <a:tc>
                  <a:txBody>
                    <a:bodyPr/>
                    <a:lstStyle/>
                    <a:p>
                      <a:pPr algn="l"/>
                      <a:r>
                        <a:rPr lang="en-US" sz="1350" b="0">
                          <a:solidFill>
                            <a:srgbClr val="2A2A2A"/>
                          </a:solidFill>
                        </a:rPr>
                        <a:t>NOT NULL</a:t>
                      </a:r>
                    </a:p>
                  </a:txBody>
                  <a:tcPr marL="57150" marR="57150" marT="38100" marB="38100"/>
                </a:tc>
                <a:tc>
                  <a:txBody>
                    <a:bodyPr/>
                    <a:lstStyle/>
                    <a:p>
                      <a:pPr algn="l"/>
                      <a:r>
                        <a:rPr lang="en-US" sz="1350" b="0">
                          <a:solidFill>
                            <a:srgbClr val="2A2A2A"/>
                          </a:solidFill>
                        </a:rPr>
                        <a:t>Category name (e.g., console, game, VR Headsets, Racing Wheels, etc.)</a:t>
                      </a:r>
                    </a:p>
                  </a:txBody>
                  <a:tcPr marL="57150" marR="57150" marT="38100" marB="38100"/>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5AFD9FE2-A03A-E814-2063-33EA76126680}"/>
              </a:ext>
            </a:extLst>
          </p:cNvPr>
          <p:cNvSpPr txBox="1"/>
          <p:nvPr/>
        </p:nvSpPr>
        <p:spPr>
          <a:xfrm>
            <a:off x="2644140" y="705961"/>
            <a:ext cx="6263640" cy="584775"/>
          </a:xfrm>
          <a:prstGeom prst="rect">
            <a:avLst/>
          </a:prstGeom>
          <a:noFill/>
        </p:spPr>
        <p:txBody>
          <a:bodyPr wrap="square">
            <a:spAutoFit/>
          </a:bodyPr>
          <a:lstStyle/>
          <a:p>
            <a:pPr algn="ctr"/>
            <a:r>
              <a:rPr lang="en-US" sz="3200" b="1" dirty="0" err="1">
                <a:latin typeface="Google Sans Text"/>
              </a:rPr>
              <a:t>Table: categories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2655748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58D71-3A59-82B8-65AA-2FFB0AA12B5A}"/>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C599E0D-529F-7635-BAB8-D33E46555D35}"/>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BB973588-8A0B-A5E1-135E-F8A1628DF501}"/>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906B0477-EF24-5079-C613-B4A21D3EB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8EF733A5-EE23-8A1C-B905-9C1DAE987D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4" name="Table 3">
            <a:extLst>
              <a:ext uri="{FF2B5EF4-FFF2-40B4-BE49-F238E27FC236}">
                <a16:creationId xmlns:a16="http://schemas.microsoft.com/office/drawing/2014/main" id="{14C977B7-D992-9301-8A41-5CDADF1E9D7A}"/>
              </a:ext>
            </a:extLst>
          </p:cNvPr>
          <p:cNvGraphicFramePr>
            <a:graphicFrameLocks noGrp="1"/>
          </p:cNvGraphicFramePr>
          <p:nvPr>
            <p:extLst>
              <p:ext uri="{D42A27DB-BD31-4B8C-83A1-F6EECF244321}">
                <p14:modId xmlns:p14="http://schemas.microsoft.com/office/powerpoint/2010/main" val="627186927"/>
              </p:ext>
            </p:extLst>
          </p:nvPr>
        </p:nvGraphicFramePr>
        <p:xfrm>
          <a:off x="983850" y="1498497"/>
          <a:ext cx="10224298" cy="2909800"/>
        </p:xfrm>
        <a:graphic>
          <a:graphicData uri="http://schemas.openxmlformats.org/drawingml/2006/table">
            <a:tbl>
              <a:tblPr firstRow="1" bandRow="1">
                <a:tableStyleId>{D03447BB-5D67-496B-8E87-E561075AD55C}</a:tableStyleId>
              </a:tblPr>
              <a:tblGrid>
                <a:gridCol w="1905498">
                  <a:extLst>
                    <a:ext uri="{9D8B030D-6E8A-4147-A177-3AD203B41FA5}">
                      <a16:colId xmlns:a16="http://schemas.microsoft.com/office/drawing/2014/main" val="593500642"/>
                    </a:ext>
                  </a:extLst>
                </a:gridCol>
                <a:gridCol w="2079700">
                  <a:extLst>
                    <a:ext uri="{9D8B030D-6E8A-4147-A177-3AD203B41FA5}">
                      <a16:colId xmlns:a16="http://schemas.microsoft.com/office/drawing/2014/main" val="515459594"/>
                    </a:ext>
                  </a:extLst>
                </a:gridCol>
                <a:gridCol w="2079700">
                  <a:extLst>
                    <a:ext uri="{9D8B030D-6E8A-4147-A177-3AD203B41FA5}">
                      <a16:colId xmlns:a16="http://schemas.microsoft.com/office/drawing/2014/main" val="2310310324"/>
                    </a:ext>
                  </a:extLst>
                </a:gridCol>
                <a:gridCol w="2079700">
                  <a:extLst>
                    <a:ext uri="{9D8B030D-6E8A-4147-A177-3AD203B41FA5}">
                      <a16:colId xmlns:a16="http://schemas.microsoft.com/office/drawing/2014/main" val="4104459226"/>
                    </a:ext>
                  </a:extLst>
                </a:gridCol>
                <a:gridCol w="2079700">
                  <a:extLst>
                    <a:ext uri="{9D8B030D-6E8A-4147-A177-3AD203B41FA5}">
                      <a16:colId xmlns:a16="http://schemas.microsoft.com/office/drawing/2014/main" val="3862887717"/>
                    </a:ext>
                  </a:extLst>
                </a:gridCol>
              </a:tblGrid>
              <a:tr h="320000">
                <a:tc>
                  <a:txBody>
                    <a:bodyPr/>
                    <a:lstStyle/>
                    <a:p>
                      <a:pPr algn="ctr"/>
                      <a:r>
                        <a:rPr lang="en-US" sz="1300" b="1">
                          <a:solidFill>
                            <a:srgbClr val="E3E3E3"/>
                          </a:solidFill>
                        </a:rPr>
                        <a:t>Field Name</a:t>
                      </a:r>
                    </a:p>
                  </a:txBody>
                  <a:tcPr marL="57150" marR="57150" marT="38100" marB="38100"/>
                </a:tc>
                <a:tc>
                  <a:txBody>
                    <a:bodyPr/>
                    <a:lstStyle/>
                    <a:p>
                      <a:pPr algn="ctr"/>
                      <a:r>
                        <a:rPr lang="en-US" sz="1300" b="1">
                          <a:solidFill>
                            <a:srgbClr val="E3E3E3"/>
                          </a:solidFill>
                        </a:rPr>
                        <a:t>Data Type</a:t>
                      </a:r>
                    </a:p>
                  </a:txBody>
                  <a:tcPr marL="57150" marR="57150" marT="38100" marB="38100"/>
                </a:tc>
                <a:tc>
                  <a:txBody>
                    <a:bodyPr/>
                    <a:lstStyle/>
                    <a:p>
                      <a:pPr algn="ctr"/>
                      <a:r>
                        <a:rPr lang="en-US" sz="1300" b="1">
                          <a:solidFill>
                            <a:srgbClr val="E3E3E3"/>
                          </a:solidFill>
                        </a:rPr>
                        <a:t>Size</a:t>
                      </a:r>
                    </a:p>
                  </a:txBody>
                  <a:tcPr marL="57150" marR="57150" marT="38100" marB="38100"/>
                </a:tc>
                <a:tc>
                  <a:txBody>
                    <a:bodyPr/>
                    <a:lstStyle/>
                    <a:p>
                      <a:pPr algn="ctr"/>
                      <a:r>
                        <a:rPr lang="en-US" sz="1300" b="1">
                          <a:solidFill>
                            <a:srgbClr val="E3E3E3"/>
                          </a:solidFill>
                        </a:rPr>
                        <a:t>Constraints</a:t>
                      </a:r>
                    </a:p>
                  </a:txBody>
                  <a:tcPr marL="57150" marR="57150" marT="38100" marB="38100"/>
                </a:tc>
                <a:tc>
                  <a:txBody>
                    <a:bodyPr/>
                    <a:lstStyle/>
                    <a:p>
                      <a:pPr algn="ctr"/>
                      <a:r>
                        <a:rPr lang="en-US" sz="1300" b="1">
                          <a:solidFill>
                            <a:srgbClr val="E3E3E3"/>
                          </a:solidFill>
                        </a:rPr>
                        <a:t>Description</a:t>
                      </a:r>
                    </a:p>
                  </a:txBody>
                  <a:tcPr marL="57150" marR="57150" marT="38100" marB="38100"/>
                </a:tc>
                <a:extLst>
                  <a:ext uri="{0D108BD9-81ED-4DB2-BD59-A6C34878D82A}">
                    <a16:rowId xmlns:a16="http://schemas.microsoft.com/office/drawing/2014/main" val="10000"/>
                  </a:ext>
                </a:extLst>
              </a:tr>
              <a:tr h="380000">
                <a:tc>
                  <a:txBody>
                    <a:bodyPr/>
                    <a:lstStyle/>
                    <a:p>
                      <a:pPr algn="l"/>
                      <a:r>
                        <a:rPr lang="en-US" sz="1200" b="0">
                          <a:solidFill>
                            <a:srgbClr val="2A2A2A"/>
                          </a:solidFill>
                        </a:rPr>
                        <a:t>id</a:t>
                      </a:r>
                    </a:p>
                  </a:txBody>
                  <a:tcPr marL="57150" marR="57150" marT="38100" marB="38100"/>
                </a:tc>
                <a:tc>
                  <a:txBody>
                    <a:bodyPr/>
                    <a:lstStyle/>
                    <a:p>
                      <a:pPr algn="ctr"/>
                      <a:r>
                        <a:rPr lang="en-US" sz="1200" b="0">
                          <a:solidFill>
                            <a:srgbClr val="2A2A2A"/>
                          </a:solidFill>
                        </a:rPr>
                        <a:t>INT</a:t>
                      </a:r>
                    </a:p>
                  </a:txBody>
                  <a:tcPr marL="57150" marR="57150" marT="38100" marB="38100"/>
                </a:tc>
                <a:tc>
                  <a:txBody>
                    <a:bodyPr/>
                    <a:lstStyle/>
                    <a:p>
                      <a:pPr algn="ctr"/>
                      <a:r>
                        <a:rPr lang="en-US" sz="1200" b="0">
                          <a:solidFill>
                            <a:srgbClr val="2A2A2A"/>
                          </a:solidFill>
                        </a:rPr>
                        <a:t>11</a:t>
                      </a:r>
                    </a:p>
                  </a:txBody>
                  <a:tcPr marL="57150" marR="57150" marT="38100" marB="38100"/>
                </a:tc>
                <a:tc>
                  <a:txBody>
                    <a:bodyPr/>
                    <a:lstStyle/>
                    <a:p>
                      <a:pPr algn="l"/>
                      <a:r>
                        <a:rPr lang="en-US" sz="1200" b="0">
                          <a:solidFill>
                            <a:srgbClr val="2A2A2A"/>
                          </a:solidFill>
                        </a:rPr>
                        <a:t>Primary Key, Auto Increment</a:t>
                      </a:r>
                    </a:p>
                  </a:txBody>
                  <a:tcPr marL="57150" marR="57150" marT="38100" marB="38100"/>
                </a:tc>
                <a:tc>
                  <a:txBody>
                    <a:bodyPr/>
                    <a:lstStyle/>
                    <a:p>
                      <a:pPr algn="l"/>
                      <a:r>
                        <a:rPr lang="en-US" sz="1200" b="0">
                          <a:solidFill>
                            <a:srgbClr val="2A2A2A"/>
                          </a:solidFill>
                        </a:rPr>
                        <a:t>Unique identifier for gaming gear model</a:t>
                      </a:r>
                    </a:p>
                  </a:txBody>
                  <a:tcPr marL="57150" marR="57150" marT="38100" marB="38100"/>
                </a:tc>
                <a:extLst>
                  <a:ext uri="{0D108BD9-81ED-4DB2-BD59-A6C34878D82A}">
                    <a16:rowId xmlns:a16="http://schemas.microsoft.com/office/drawing/2014/main" val="10001"/>
                  </a:ext>
                </a:extLst>
              </a:tr>
              <a:tr h="380000">
                <a:tc>
                  <a:txBody>
                    <a:bodyPr/>
                    <a:lstStyle/>
                    <a:p>
                      <a:pPr algn="l"/>
                      <a:r>
                        <a:rPr lang="en-US" sz="1200" b="0">
                          <a:solidFill>
                            <a:srgbClr val="2A2A2A"/>
                          </a:solidFill>
                        </a:rPr>
                        <a:t>title</a:t>
                      </a:r>
                    </a:p>
                  </a:txBody>
                  <a:tcPr marL="57150" marR="57150" marT="38100" marB="38100"/>
                </a:tc>
                <a:tc>
                  <a:txBody>
                    <a:bodyPr/>
                    <a:lstStyle/>
                    <a:p>
                      <a:pPr algn="ctr"/>
                      <a:r>
                        <a:rPr lang="en-US" sz="1200" b="0">
                          <a:solidFill>
                            <a:srgbClr val="2A2A2A"/>
                          </a:solidFill>
                        </a:rPr>
                        <a:t>VARCHAR</a:t>
                      </a:r>
                    </a:p>
                  </a:txBody>
                  <a:tcPr marL="57150" marR="57150" marT="38100" marB="38100"/>
                </a:tc>
                <a:tc>
                  <a:txBody>
                    <a:bodyPr/>
                    <a:lstStyle/>
                    <a:p>
                      <a:pPr algn="ctr"/>
                      <a:r>
                        <a:rPr lang="en-US" sz="1200" b="0">
                          <a:solidFill>
                            <a:srgbClr val="2A2A2A"/>
                          </a:solidFill>
                        </a:rPr>
                        <a:t>255</a:t>
                      </a:r>
                    </a:p>
                  </a:txBody>
                  <a:tcPr marL="57150" marR="57150" marT="38100" marB="38100"/>
                </a:tc>
                <a:tc>
                  <a:txBody>
                    <a:bodyPr/>
                    <a:lstStyle/>
                    <a:p>
                      <a:pPr algn="l"/>
                      <a:r>
                        <a:rPr lang="en-US" sz="1200" b="0">
                          <a:solidFill>
                            <a:srgbClr val="2A2A2A"/>
                          </a:solidFill>
                        </a:rPr>
                        <a:t>NOT NULL</a:t>
                      </a:r>
                    </a:p>
                  </a:txBody>
                  <a:tcPr marL="57150" marR="57150" marT="38100" marB="38100"/>
                </a:tc>
                <a:tc>
                  <a:txBody>
                    <a:bodyPr/>
                    <a:lstStyle/>
                    <a:p>
                      <a:pPr algn="l"/>
                      <a:r>
                        <a:rPr lang="en-US" sz="1200" b="0">
                          <a:solidFill>
                            <a:srgbClr val="2A2A2A"/>
                          </a:solidFill>
                        </a:rPr>
                        <a:t>Title / Model name of the gaming gadget</a:t>
                      </a:r>
                    </a:p>
                  </a:txBody>
                  <a:tcPr marL="57150" marR="57150" marT="38100" marB="38100"/>
                </a:tc>
                <a:extLst>
                  <a:ext uri="{0D108BD9-81ED-4DB2-BD59-A6C34878D82A}">
                    <a16:rowId xmlns:a16="http://schemas.microsoft.com/office/drawing/2014/main" val="10002"/>
                  </a:ext>
                </a:extLst>
              </a:tr>
              <a:tr h="380000">
                <a:tc>
                  <a:txBody>
                    <a:bodyPr/>
                    <a:lstStyle/>
                    <a:p>
                      <a:pPr algn="l"/>
                      <a:r>
                        <a:rPr lang="en-US" sz="1200" b="0">
                          <a:solidFill>
                            <a:srgbClr val="2A2A2A"/>
                          </a:solidFill>
                        </a:rPr>
                        <a:t>description</a:t>
                      </a:r>
                    </a:p>
                  </a:txBody>
                  <a:tcPr marL="57150" marR="57150" marT="38100" marB="38100"/>
                </a:tc>
                <a:tc>
                  <a:txBody>
                    <a:bodyPr/>
                    <a:lstStyle/>
                    <a:p>
                      <a:pPr algn="l"/>
                      <a:r>
                        <a:rPr lang="en-US" sz="1200" b="0">
                          <a:solidFill>
                            <a:srgbClr val="2A2A2A"/>
                          </a:solidFill>
                        </a:rPr>
                        <a:t>TEXT</a:t>
                      </a:r>
                    </a:p>
                  </a:txBody>
                  <a:tcPr marL="57150" marR="57150" marT="38100" marB="38100"/>
                </a:tc>
                <a:tc>
                  <a:txBody>
                    <a:bodyPr/>
                    <a:lstStyle/>
                    <a:p>
                      <a:pPr algn="ctr"/>
                      <a:r>
                        <a:rPr lang="en-US" sz="1200" b="0">
                          <a:solidFill>
                            <a:srgbClr val="2A2A2A"/>
                          </a:solidFill>
                        </a:rPr>
                        <a:t>-</a:t>
                      </a:r>
                    </a:p>
                  </a:txBody>
                  <a:tcPr marL="57150" marR="57150" marT="38100" marB="38100"/>
                </a:tc>
                <a:tc>
                  <a:txBody>
                    <a:bodyPr/>
                    <a:lstStyle/>
                    <a:p>
                      <a:pPr algn="l"/>
                      <a:r>
                        <a:rPr lang="en-US" sz="1200" b="0">
                          <a:solidFill>
                            <a:srgbClr val="2A2A2A"/>
                          </a:solidFill>
                        </a:rPr>
                        <a:t>NULL</a:t>
                      </a:r>
                    </a:p>
                  </a:txBody>
                  <a:tcPr marL="57150" marR="57150" marT="38100" marB="38100"/>
                </a:tc>
                <a:tc>
                  <a:txBody>
                    <a:bodyPr/>
                    <a:lstStyle/>
                    <a:p>
                      <a:pPr algn="l"/>
                      <a:r>
                        <a:rPr lang="en-US" sz="1200" b="0">
                          <a:solidFill>
                            <a:srgbClr val="2A2A2A"/>
                          </a:solidFill>
                        </a:rPr>
                        <a:t>Detailed specifications &amp; features</a:t>
                      </a:r>
                    </a:p>
                  </a:txBody>
                  <a:tcPr marL="57150" marR="57150" marT="38100" marB="38100"/>
                </a:tc>
                <a:extLst>
                  <a:ext uri="{0D108BD9-81ED-4DB2-BD59-A6C34878D82A}">
                    <a16:rowId xmlns:a16="http://schemas.microsoft.com/office/drawing/2014/main" val="10003"/>
                  </a:ext>
                </a:extLst>
              </a:tr>
              <a:tr h="380000">
                <a:tc>
                  <a:txBody>
                    <a:bodyPr/>
                    <a:lstStyle/>
                    <a:p>
                      <a:pPr algn="l"/>
                      <a:r>
                        <a:rPr lang="en-US" sz="1200" b="0">
                          <a:solidFill>
                            <a:srgbClr val="2A2A2A"/>
                          </a:solidFill>
                        </a:rPr>
                        <a:t>daily_price</a:t>
                      </a:r>
                    </a:p>
                  </a:txBody>
                  <a:tcPr marL="57150" marR="57150" marT="38100" marB="38100"/>
                </a:tc>
                <a:tc>
                  <a:txBody>
                    <a:bodyPr/>
                    <a:lstStyle/>
                    <a:p>
                      <a:pPr algn="ctr"/>
                      <a:r>
                        <a:rPr lang="en-US" sz="1200" b="0">
                          <a:solidFill>
                            <a:srgbClr val="2A2A2A"/>
                          </a:solidFill>
                        </a:rPr>
                        <a:t>DECIMAL</a:t>
                      </a:r>
                    </a:p>
                  </a:txBody>
                  <a:tcPr marL="57150" marR="57150" marT="38100" marB="38100"/>
                </a:tc>
                <a:tc>
                  <a:txBody>
                    <a:bodyPr/>
                    <a:lstStyle/>
                    <a:p>
                      <a:pPr algn="l"/>
                      <a:r>
                        <a:rPr lang="en-US" sz="1200" b="0">
                          <a:solidFill>
                            <a:srgbClr val="2A2A2A"/>
                          </a:solidFill>
                        </a:rPr>
                        <a:t>10,2</a:t>
                      </a:r>
                    </a:p>
                  </a:txBody>
                  <a:tcPr marL="57150" marR="57150" marT="38100" marB="38100"/>
                </a:tc>
                <a:tc>
                  <a:txBody>
                    <a:bodyPr/>
                    <a:lstStyle/>
                    <a:p>
                      <a:pPr algn="l"/>
                      <a:r>
                        <a:rPr lang="en-US" sz="1200" b="0">
                          <a:solidFill>
                            <a:srgbClr val="2A2A2A"/>
                          </a:solidFill>
                        </a:rPr>
                        <a:t>NOT NULL</a:t>
                      </a:r>
                    </a:p>
                  </a:txBody>
                  <a:tcPr marL="57150" marR="57150" marT="38100" marB="38100"/>
                </a:tc>
                <a:tc>
                  <a:txBody>
                    <a:bodyPr/>
                    <a:lstStyle/>
                    <a:p>
                      <a:pPr algn="l"/>
                      <a:r>
                        <a:rPr lang="en-US" sz="1200" b="0">
                          <a:solidFill>
                            <a:srgbClr val="2A2A2A"/>
                          </a:solidFill>
                        </a:rPr>
                        <a:t>Daily rental fee in currency (â‚¹/day)</a:t>
                      </a:r>
                    </a:p>
                  </a:txBody>
                  <a:tcPr marL="57150" marR="57150" marT="38100" marB="38100"/>
                </a:tc>
                <a:extLst>
                  <a:ext uri="{0D108BD9-81ED-4DB2-BD59-A6C34878D82A}">
                    <a16:rowId xmlns:a16="http://schemas.microsoft.com/office/drawing/2014/main" val="10004"/>
                  </a:ext>
                </a:extLst>
              </a:tr>
              <a:tr h="380000">
                <a:tc>
                  <a:txBody>
                    <a:bodyPr/>
                    <a:lstStyle/>
                    <a:p>
                      <a:pPr algn="l"/>
                      <a:r>
                        <a:rPr lang="en-US" sz="1200" b="0">
                          <a:solidFill>
                            <a:srgbClr val="2A2A2A"/>
                          </a:solidFill>
                        </a:rPr>
                        <a:t>category_id</a:t>
                      </a:r>
                    </a:p>
                  </a:txBody>
                  <a:tcPr marL="57150" marR="57150" marT="38100" marB="38100"/>
                </a:tc>
                <a:tc>
                  <a:txBody>
                    <a:bodyPr/>
                    <a:lstStyle/>
                    <a:p>
                      <a:pPr algn="ctr"/>
                      <a:r>
                        <a:rPr lang="en-US" sz="1200" b="0">
                          <a:solidFill>
                            <a:srgbClr val="2A2A2A"/>
                          </a:solidFill>
                        </a:rPr>
                        <a:t>INT</a:t>
                      </a:r>
                    </a:p>
                  </a:txBody>
                  <a:tcPr marL="57150" marR="57150" marT="38100" marB="38100"/>
                </a:tc>
                <a:tc>
                  <a:txBody>
                    <a:bodyPr/>
                    <a:lstStyle/>
                    <a:p>
                      <a:pPr algn="ctr"/>
                      <a:r>
                        <a:rPr lang="en-US" sz="1200" b="0">
                          <a:solidFill>
                            <a:srgbClr val="2A2A2A"/>
                          </a:solidFill>
                        </a:rPr>
                        <a:t>11</a:t>
                      </a:r>
                    </a:p>
                  </a:txBody>
                  <a:tcPr marL="57150" marR="57150" marT="38100" marB="38100"/>
                </a:tc>
                <a:tc>
                  <a:txBody>
                    <a:bodyPr/>
                    <a:lstStyle/>
                    <a:p>
                      <a:pPr algn="l"/>
                      <a:r>
                        <a:rPr lang="en-US" sz="1200" b="0">
                          <a:solidFill>
                            <a:srgbClr val="2A2A2A"/>
                          </a:solidFill>
                        </a:rPr>
                        <a:t>Foreign Key, NOT NULL</a:t>
                      </a:r>
                    </a:p>
                  </a:txBody>
                  <a:tcPr marL="57150" marR="57150" marT="38100" marB="38100"/>
                </a:tc>
                <a:tc>
                  <a:txBody>
                    <a:bodyPr/>
                    <a:lstStyle/>
                    <a:p>
                      <a:pPr algn="l"/>
                      <a:r>
                        <a:rPr lang="en-US" sz="1200" b="0">
                          <a:solidFill>
                            <a:srgbClr val="2A2A2A"/>
                          </a:solidFill>
                        </a:rPr>
                        <a:t>Links gadget to categories.id</a:t>
                      </a:r>
                    </a:p>
                  </a:txBody>
                  <a:tcPr marL="57150" marR="57150" marT="38100" marB="38100"/>
                </a:tc>
                <a:extLst>
                  <a:ext uri="{0D108BD9-81ED-4DB2-BD59-A6C34878D82A}">
                    <a16:rowId xmlns:a16="http://schemas.microsoft.com/office/drawing/2014/main" val="10005"/>
                  </a:ext>
                </a:extLst>
              </a:tr>
              <a:tr h="380000">
                <a:tc>
                  <a:txBody>
                    <a:bodyPr/>
                    <a:lstStyle/>
                    <a:p>
                      <a:pPr algn="l"/>
                      <a:r>
                        <a:rPr lang="en-US" sz="1200" b="0">
                          <a:solidFill>
                            <a:srgbClr val="2A2A2A"/>
                          </a:solidFill>
                        </a:rPr>
                        <a:t>image</a:t>
                      </a:r>
                    </a:p>
                  </a:txBody>
                  <a:tcPr marL="57150" marR="57150" marT="38100" marB="38100"/>
                </a:tc>
                <a:tc>
                  <a:txBody>
                    <a:bodyPr/>
                    <a:lstStyle/>
                    <a:p>
                      <a:pPr algn="ctr"/>
                      <a:r>
                        <a:rPr lang="en-US" sz="1200" b="0">
                          <a:solidFill>
                            <a:srgbClr val="2A2A2A"/>
                          </a:solidFill>
                        </a:rPr>
                        <a:t>VARCHAR</a:t>
                      </a:r>
                    </a:p>
                  </a:txBody>
                  <a:tcPr marL="57150" marR="57150" marT="38100" marB="38100"/>
                </a:tc>
                <a:tc>
                  <a:txBody>
                    <a:bodyPr/>
                    <a:lstStyle/>
                    <a:p>
                      <a:pPr algn="ctr"/>
                      <a:r>
                        <a:rPr lang="en-US" sz="1200" b="0">
                          <a:solidFill>
                            <a:srgbClr val="2A2A2A"/>
                          </a:solidFill>
                        </a:rPr>
                        <a:t>255</a:t>
                      </a:r>
                    </a:p>
                  </a:txBody>
                  <a:tcPr marL="57150" marR="57150" marT="38100" marB="38100"/>
                </a:tc>
                <a:tc>
                  <a:txBody>
                    <a:bodyPr/>
                    <a:lstStyle/>
                    <a:p>
                      <a:pPr algn="l"/>
                      <a:r>
                        <a:rPr lang="en-US" sz="1200" b="0">
                          <a:solidFill>
                            <a:srgbClr val="2A2A2A"/>
                          </a:solidFill>
                        </a:rPr>
                        <a:t>NULL</a:t>
                      </a:r>
                    </a:p>
                  </a:txBody>
                  <a:tcPr marL="57150" marR="57150" marT="38100" marB="38100"/>
                </a:tc>
                <a:tc>
                  <a:txBody>
                    <a:bodyPr/>
                    <a:lstStyle/>
                    <a:p>
                      <a:pPr algn="l"/>
                      <a:r>
                        <a:rPr lang="en-US" sz="1200" b="0">
                          <a:solidFill>
                            <a:srgbClr val="2A2A2A"/>
                          </a:solidFill>
                        </a:rPr>
                        <a:t>Primary product display image filename/path</a:t>
                      </a:r>
                    </a:p>
                  </a:txBody>
                  <a:tcPr marL="57150" marR="57150" marT="38100" marB="38100"/>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818478-8C4A-6297-0B36-FFD4650556F4}"/>
              </a:ext>
            </a:extLst>
          </p:cNvPr>
          <p:cNvSpPr txBox="1"/>
          <p:nvPr/>
        </p:nvSpPr>
        <p:spPr>
          <a:xfrm>
            <a:off x="2735580" y="578647"/>
            <a:ext cx="6263640" cy="584775"/>
          </a:xfrm>
          <a:prstGeom prst="rect">
            <a:avLst/>
          </a:prstGeom>
          <a:noFill/>
        </p:spPr>
        <p:txBody>
          <a:bodyPr wrap="square">
            <a:spAutoFit/>
          </a:bodyPr>
          <a:lstStyle/>
          <a:p>
            <a:pPr algn="ctr"/>
            <a:r>
              <a:rPr lang="en-US" sz="3200" b="1" dirty="0" err="1">
                <a:latin typeface="Google Sans Text"/>
              </a:rPr>
              <a:t>Table: gadgets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1618002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B206C-F21C-8655-62E7-A92C9D01F260}"/>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E3CCB0FF-1CCF-86D3-7DC0-76F121B5DEA5}"/>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7C484273-81DF-34D9-00CD-2CC8F4149140}"/>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FC3CEF9C-93A2-152A-51CA-DACE912CA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343B69F0-EF5A-0BD8-E44A-09D9A5187E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2" name="Table 1">
            <a:extLst>
              <a:ext uri="{FF2B5EF4-FFF2-40B4-BE49-F238E27FC236}">
                <a16:creationId xmlns:a16="http://schemas.microsoft.com/office/drawing/2014/main" id="{D61A4648-1611-1DAB-5DCB-477513A157F4}"/>
              </a:ext>
            </a:extLst>
          </p:cNvPr>
          <p:cNvGraphicFramePr>
            <a:graphicFrameLocks noGrp="1"/>
          </p:cNvGraphicFramePr>
          <p:nvPr>
            <p:extLst>
              <p:ext uri="{D42A27DB-BD31-4B8C-83A1-F6EECF244321}">
                <p14:modId xmlns:p14="http://schemas.microsoft.com/office/powerpoint/2010/main" val="4021142475"/>
              </p:ext>
            </p:extLst>
          </p:nvPr>
        </p:nvGraphicFramePr>
        <p:xfrm>
          <a:off x="1152656" y="1600200"/>
          <a:ext cx="9886685" cy="1935440"/>
        </p:xfrm>
        <a:graphic>
          <a:graphicData uri="http://schemas.openxmlformats.org/drawingml/2006/table">
            <a:tbl>
              <a:tblPr firstRow="1" bandRow="1">
                <a:tableStyleId>{D03447BB-5D67-496B-8E87-E561075AD55C}</a:tableStyleId>
              </a:tblPr>
              <a:tblGrid>
                <a:gridCol w="1977337">
                  <a:extLst>
                    <a:ext uri="{9D8B030D-6E8A-4147-A177-3AD203B41FA5}">
                      <a16:colId xmlns:a16="http://schemas.microsoft.com/office/drawing/2014/main" val="3545493271"/>
                    </a:ext>
                  </a:extLst>
                </a:gridCol>
                <a:gridCol w="1977337">
                  <a:extLst>
                    <a:ext uri="{9D8B030D-6E8A-4147-A177-3AD203B41FA5}">
                      <a16:colId xmlns:a16="http://schemas.microsoft.com/office/drawing/2014/main" val="4059581611"/>
                    </a:ext>
                  </a:extLst>
                </a:gridCol>
                <a:gridCol w="1977337">
                  <a:extLst>
                    <a:ext uri="{9D8B030D-6E8A-4147-A177-3AD203B41FA5}">
                      <a16:colId xmlns:a16="http://schemas.microsoft.com/office/drawing/2014/main" val="3484463265"/>
                    </a:ext>
                  </a:extLst>
                </a:gridCol>
                <a:gridCol w="1977337">
                  <a:extLst>
                    <a:ext uri="{9D8B030D-6E8A-4147-A177-3AD203B41FA5}">
                      <a16:colId xmlns:a16="http://schemas.microsoft.com/office/drawing/2014/main" val="815964259"/>
                    </a:ext>
                  </a:extLst>
                </a:gridCol>
                <a:gridCol w="1977337">
                  <a:extLst>
                    <a:ext uri="{9D8B030D-6E8A-4147-A177-3AD203B41FA5}">
                      <a16:colId xmlns:a16="http://schemas.microsoft.com/office/drawing/2014/main" val="1389782091"/>
                    </a:ext>
                  </a:extLst>
                </a:gridCol>
              </a:tblGrid>
              <a:tr h="320000">
                <a:tc>
                  <a:txBody>
                    <a:bodyPr/>
                    <a:lstStyle/>
                    <a:p>
                      <a:pPr algn="ctr"/>
                      <a:r>
                        <a:rPr lang="en-US" sz="1400" b="1">
                          <a:solidFill>
                            <a:srgbClr val="E3E3E3"/>
                          </a:solidFill>
                        </a:rPr>
                        <a:t>Field Name</a:t>
                      </a:r>
                    </a:p>
                  </a:txBody>
                  <a:tcPr marL="57150" marR="57150" marT="38100" marB="38100"/>
                </a:tc>
                <a:tc>
                  <a:txBody>
                    <a:bodyPr/>
                    <a:lstStyle/>
                    <a:p>
                      <a:pPr algn="ctr"/>
                      <a:r>
                        <a:rPr lang="en-US" sz="1400" b="1">
                          <a:solidFill>
                            <a:srgbClr val="E3E3E3"/>
                          </a:solidFill>
                        </a:rPr>
                        <a:t>Data Type</a:t>
                      </a:r>
                    </a:p>
                  </a:txBody>
                  <a:tcPr marL="57150" marR="57150" marT="38100" marB="38100"/>
                </a:tc>
                <a:tc>
                  <a:txBody>
                    <a:bodyPr/>
                    <a:lstStyle/>
                    <a:p>
                      <a:pPr algn="ctr"/>
                      <a:r>
                        <a:rPr lang="en-US" sz="1400" b="1">
                          <a:solidFill>
                            <a:srgbClr val="E3E3E3"/>
                          </a:solidFill>
                        </a:rPr>
                        <a:t>Size</a:t>
                      </a:r>
                    </a:p>
                  </a:txBody>
                  <a:tcPr marL="57150" marR="57150" marT="38100" marB="38100"/>
                </a:tc>
                <a:tc>
                  <a:txBody>
                    <a:bodyPr/>
                    <a:lstStyle/>
                    <a:p>
                      <a:pPr algn="ctr"/>
                      <a:r>
                        <a:rPr lang="en-US" sz="1400" b="1">
                          <a:solidFill>
                            <a:srgbClr val="E3E3E3"/>
                          </a:solidFill>
                        </a:rPr>
                        <a:t>Constraints</a:t>
                      </a:r>
                    </a:p>
                  </a:txBody>
                  <a:tcPr marL="57150" marR="57150" marT="38100" marB="38100"/>
                </a:tc>
                <a:tc>
                  <a:txBody>
                    <a:bodyPr/>
                    <a:lstStyle/>
                    <a:p>
                      <a:pPr algn="ctr"/>
                      <a:r>
                        <a:rPr lang="en-US" sz="1400" b="1">
                          <a:solidFill>
                            <a:srgbClr val="E3E3E3"/>
                          </a:solidFill>
                        </a:rPr>
                        <a:t>Description</a:t>
                      </a:r>
                    </a:p>
                  </a:txBody>
                  <a:tcPr marL="57150" marR="57150" marT="38100" marB="38100"/>
                </a:tc>
                <a:extLst>
                  <a:ext uri="{0D108BD9-81ED-4DB2-BD59-A6C34878D82A}">
                    <a16:rowId xmlns:a16="http://schemas.microsoft.com/office/drawing/2014/main" val="10000"/>
                  </a:ext>
                </a:extLst>
              </a:tr>
              <a:tr h="450000">
                <a:tc>
                  <a:txBody>
                    <a:bodyPr/>
                    <a:lstStyle/>
                    <a:p>
                      <a:pPr algn="l"/>
                      <a:r>
                        <a:rPr lang="en-US" sz="1300" b="0">
                          <a:solidFill>
                            <a:srgbClr val="2A2A2A"/>
                          </a:solidFill>
                        </a:rPr>
                        <a:t>id</a:t>
                      </a:r>
                    </a:p>
                  </a:txBody>
                  <a:tcPr marL="57150" marR="57150" marT="38100" marB="38100"/>
                </a:tc>
                <a:tc>
                  <a:txBody>
                    <a:bodyPr/>
                    <a:lstStyle/>
                    <a:p>
                      <a:pPr algn="ctr"/>
                      <a:r>
                        <a:rPr lang="en-US" sz="1300" b="0">
                          <a:solidFill>
                            <a:srgbClr val="2A2A2A"/>
                          </a:solidFill>
                        </a:rPr>
                        <a:t>INT</a:t>
                      </a:r>
                    </a:p>
                  </a:txBody>
                  <a:tcPr marL="57150" marR="57150" marT="38100" marB="38100"/>
                </a:tc>
                <a:tc>
                  <a:txBody>
                    <a:bodyPr/>
                    <a:lstStyle/>
                    <a:p>
                      <a:pPr algn="ctr"/>
                      <a:r>
                        <a:rPr lang="en-US" sz="1300" b="0">
                          <a:solidFill>
                            <a:srgbClr val="2A2A2A"/>
                          </a:solidFill>
                        </a:rPr>
                        <a:t>11</a:t>
                      </a:r>
                    </a:p>
                  </a:txBody>
                  <a:tcPr marL="57150" marR="57150" marT="38100" marB="38100"/>
                </a:tc>
                <a:tc>
                  <a:txBody>
                    <a:bodyPr/>
                    <a:lstStyle/>
                    <a:p>
                      <a:pPr algn="l"/>
                      <a:r>
                        <a:rPr lang="en-US" sz="1300" b="0">
                          <a:solidFill>
                            <a:srgbClr val="2A2A2A"/>
                          </a:solidFill>
                        </a:rPr>
                        <a:t>Primary Key, Auto Increment</a:t>
                      </a:r>
                    </a:p>
                  </a:txBody>
                  <a:tcPr marL="57150" marR="57150" marT="38100" marB="38100"/>
                </a:tc>
                <a:tc>
                  <a:txBody>
                    <a:bodyPr/>
                    <a:lstStyle/>
                    <a:p>
                      <a:pPr algn="l"/>
                      <a:r>
                        <a:rPr lang="en-US" sz="1300" b="0">
                          <a:solidFill>
                            <a:srgbClr val="2A2A2A"/>
                          </a:solidFill>
                        </a:rPr>
                        <a:t>Unique gallery image record ID</a:t>
                      </a:r>
                    </a:p>
                  </a:txBody>
                  <a:tcPr marL="57150" marR="57150" marT="38100" marB="38100"/>
                </a:tc>
                <a:extLst>
                  <a:ext uri="{0D108BD9-81ED-4DB2-BD59-A6C34878D82A}">
                    <a16:rowId xmlns:a16="http://schemas.microsoft.com/office/drawing/2014/main" val="10001"/>
                  </a:ext>
                </a:extLst>
              </a:tr>
              <a:tr h="450000">
                <a:tc>
                  <a:txBody>
                    <a:bodyPr/>
                    <a:lstStyle/>
                    <a:p>
                      <a:pPr algn="l"/>
                      <a:r>
                        <a:rPr lang="en-US" sz="1300" b="0">
                          <a:solidFill>
                            <a:srgbClr val="2A2A2A"/>
                          </a:solidFill>
                        </a:rPr>
                        <a:t>gadget_id</a:t>
                      </a:r>
                    </a:p>
                  </a:txBody>
                  <a:tcPr marL="57150" marR="57150" marT="38100" marB="38100"/>
                </a:tc>
                <a:tc>
                  <a:txBody>
                    <a:bodyPr/>
                    <a:lstStyle/>
                    <a:p>
                      <a:pPr algn="ctr"/>
                      <a:r>
                        <a:rPr lang="en-US" sz="1300" b="0">
                          <a:solidFill>
                            <a:srgbClr val="2A2A2A"/>
                          </a:solidFill>
                        </a:rPr>
                        <a:t>INT</a:t>
                      </a:r>
                    </a:p>
                  </a:txBody>
                  <a:tcPr marL="57150" marR="57150" marT="38100" marB="38100"/>
                </a:tc>
                <a:tc>
                  <a:txBody>
                    <a:bodyPr/>
                    <a:lstStyle/>
                    <a:p>
                      <a:pPr algn="ctr"/>
                      <a:r>
                        <a:rPr lang="en-US" sz="1300" b="0">
                          <a:solidFill>
                            <a:srgbClr val="2A2A2A"/>
                          </a:solidFill>
                        </a:rPr>
                        <a:t>11</a:t>
                      </a:r>
                    </a:p>
                  </a:txBody>
                  <a:tcPr marL="57150" marR="57150" marT="38100" marB="38100"/>
                </a:tc>
                <a:tc>
                  <a:txBody>
                    <a:bodyPr/>
                    <a:lstStyle/>
                    <a:p>
                      <a:pPr algn="l"/>
                      <a:r>
                        <a:rPr lang="en-US" sz="1300" b="0">
                          <a:solidFill>
                            <a:srgbClr val="2A2A2A"/>
                          </a:solidFill>
                        </a:rPr>
                        <a:t>Foreign Key, ON DELETE CASCADE</a:t>
                      </a:r>
                    </a:p>
                  </a:txBody>
                  <a:tcPr marL="57150" marR="57150" marT="38100" marB="38100"/>
                </a:tc>
                <a:tc>
                  <a:txBody>
                    <a:bodyPr/>
                    <a:lstStyle/>
                    <a:p>
                      <a:pPr algn="l"/>
                      <a:r>
                        <a:rPr lang="en-US" sz="1300" b="0">
                          <a:solidFill>
                            <a:srgbClr val="2A2A2A"/>
                          </a:solidFill>
                        </a:rPr>
                        <a:t>Links image to gadgets.id</a:t>
                      </a:r>
                    </a:p>
                  </a:txBody>
                  <a:tcPr marL="57150" marR="57150" marT="38100" marB="38100"/>
                </a:tc>
                <a:extLst>
                  <a:ext uri="{0D108BD9-81ED-4DB2-BD59-A6C34878D82A}">
                    <a16:rowId xmlns:a16="http://schemas.microsoft.com/office/drawing/2014/main" val="10002"/>
                  </a:ext>
                </a:extLst>
              </a:tr>
              <a:tr h="450000">
                <a:tc>
                  <a:txBody>
                    <a:bodyPr/>
                    <a:lstStyle/>
                    <a:p>
                      <a:pPr algn="l"/>
                      <a:r>
                        <a:rPr lang="en-US" sz="1300" b="0">
                          <a:solidFill>
                            <a:srgbClr val="2A2A2A"/>
                          </a:solidFill>
                        </a:rPr>
                        <a:t>image</a:t>
                      </a:r>
                    </a:p>
                  </a:txBody>
                  <a:tcPr marL="57150" marR="57150" marT="38100" marB="38100"/>
                </a:tc>
                <a:tc>
                  <a:txBody>
                    <a:bodyPr/>
                    <a:lstStyle/>
                    <a:p>
                      <a:pPr algn="ctr"/>
                      <a:r>
                        <a:rPr lang="en-US" sz="1300" b="0">
                          <a:solidFill>
                            <a:srgbClr val="2A2A2A"/>
                          </a:solidFill>
                        </a:rPr>
                        <a:t>VARCHAR</a:t>
                      </a:r>
                    </a:p>
                  </a:txBody>
                  <a:tcPr marL="57150" marR="57150" marT="38100" marB="38100"/>
                </a:tc>
                <a:tc>
                  <a:txBody>
                    <a:bodyPr/>
                    <a:lstStyle/>
                    <a:p>
                      <a:pPr algn="ctr"/>
                      <a:r>
                        <a:rPr lang="en-US" sz="1300" b="0">
                          <a:solidFill>
                            <a:srgbClr val="2A2A2A"/>
                          </a:solidFill>
                        </a:rPr>
                        <a:t>255</a:t>
                      </a:r>
                    </a:p>
                  </a:txBody>
                  <a:tcPr marL="57150" marR="57150" marT="38100" marB="38100"/>
                </a:tc>
                <a:tc>
                  <a:txBody>
                    <a:bodyPr/>
                    <a:lstStyle/>
                    <a:p>
                      <a:pPr algn="l"/>
                      <a:r>
                        <a:rPr lang="en-US" sz="1300" b="0">
                          <a:solidFill>
                            <a:srgbClr val="2A2A2A"/>
                          </a:solidFill>
                        </a:rPr>
                        <a:t>NOT NULL</a:t>
                      </a:r>
                    </a:p>
                  </a:txBody>
                  <a:tcPr marL="57150" marR="57150" marT="38100" marB="38100"/>
                </a:tc>
                <a:tc>
                  <a:txBody>
                    <a:bodyPr/>
                    <a:lstStyle/>
                    <a:p>
                      <a:pPr algn="l"/>
                      <a:r>
                        <a:rPr lang="en-US" sz="1300" b="0">
                          <a:solidFill>
                            <a:srgbClr val="2A2A2A"/>
                          </a:solidFill>
                        </a:rPr>
                        <a:t>Filename/path of additional gallery preview image</a:t>
                      </a:r>
                    </a:p>
                  </a:txBody>
                  <a:tcPr marL="57150" marR="57150" marT="38100" marB="38100"/>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8BDD1811-466D-554B-8463-552709AC0AA1}"/>
              </a:ext>
            </a:extLst>
          </p:cNvPr>
          <p:cNvSpPr txBox="1"/>
          <p:nvPr/>
        </p:nvSpPr>
        <p:spPr>
          <a:xfrm>
            <a:off x="2867890" y="723582"/>
            <a:ext cx="6263640" cy="584775"/>
          </a:xfrm>
          <a:prstGeom prst="rect">
            <a:avLst/>
          </a:prstGeom>
          <a:noFill/>
        </p:spPr>
        <p:txBody>
          <a:bodyPr wrap="square">
            <a:spAutoFit/>
          </a:bodyPr>
          <a:lstStyle/>
          <a:p>
            <a:pPr algn="ctr"/>
            <a:r>
              <a:rPr lang="en-US" sz="3200" b="1" dirty="0">
                <a:latin typeface="Google Sans Text"/>
              </a:rPr>
              <a:t>Table: gadget_images :</a:t>
            </a:r>
            <a:endParaRPr lang="en-IN" sz="3200" b="1" dirty="0">
              <a:latin typeface="Google Sans Text"/>
            </a:endParaRPr>
          </a:p>
        </p:txBody>
      </p:sp>
    </p:spTree>
    <p:extLst>
      <p:ext uri="{BB962C8B-B14F-4D97-AF65-F5344CB8AC3E}">
        <p14:creationId xmlns:p14="http://schemas.microsoft.com/office/powerpoint/2010/main" val="376254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0FF7-6E74-DC8C-B7B1-30A9D8A7EC3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339BF47-D927-FEE1-2B8F-0F1B8F11E8E9}"/>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019A6570-02FD-567C-C66B-F8B29C5D0CB1}"/>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32962C9F-C197-D7DB-E1B1-CC9DEE91E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38568170-9FC6-CF3E-77B2-8DCF5FA206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2" name="Table 1">
            <a:extLst>
              <a:ext uri="{FF2B5EF4-FFF2-40B4-BE49-F238E27FC236}">
                <a16:creationId xmlns:a16="http://schemas.microsoft.com/office/drawing/2014/main" id="{1AD37729-F976-A04F-306C-0C14E13FE301}"/>
              </a:ext>
            </a:extLst>
          </p:cNvPr>
          <p:cNvGraphicFramePr>
            <a:graphicFrameLocks noGrp="1"/>
          </p:cNvGraphicFramePr>
          <p:nvPr>
            <p:extLst>
              <p:ext uri="{D42A27DB-BD31-4B8C-83A1-F6EECF244321}">
                <p14:modId xmlns:p14="http://schemas.microsoft.com/office/powerpoint/2010/main" val="3263754392"/>
              </p:ext>
            </p:extLst>
          </p:nvPr>
        </p:nvGraphicFramePr>
        <p:xfrm>
          <a:off x="304799" y="1783080"/>
          <a:ext cx="11582400" cy="2111600"/>
        </p:xfrm>
        <a:graphic>
          <a:graphicData uri="http://schemas.openxmlformats.org/drawingml/2006/table">
            <a:tbl>
              <a:tblPr firstRow="1" bandRow="1">
                <a:tableStyleId>{D03447BB-5D67-496B-8E87-E561075AD55C}</a:tableStyleId>
              </a:tblPr>
              <a:tblGrid>
                <a:gridCol w="2316480">
                  <a:extLst>
                    <a:ext uri="{9D8B030D-6E8A-4147-A177-3AD203B41FA5}">
                      <a16:colId xmlns:a16="http://schemas.microsoft.com/office/drawing/2014/main" val="3643681093"/>
                    </a:ext>
                  </a:extLst>
                </a:gridCol>
                <a:gridCol w="2316480">
                  <a:extLst>
                    <a:ext uri="{9D8B030D-6E8A-4147-A177-3AD203B41FA5}">
                      <a16:colId xmlns:a16="http://schemas.microsoft.com/office/drawing/2014/main" val="3598971234"/>
                    </a:ext>
                  </a:extLst>
                </a:gridCol>
                <a:gridCol w="2316480">
                  <a:extLst>
                    <a:ext uri="{9D8B030D-6E8A-4147-A177-3AD203B41FA5}">
                      <a16:colId xmlns:a16="http://schemas.microsoft.com/office/drawing/2014/main" val="1691211854"/>
                    </a:ext>
                  </a:extLst>
                </a:gridCol>
                <a:gridCol w="2316480">
                  <a:extLst>
                    <a:ext uri="{9D8B030D-6E8A-4147-A177-3AD203B41FA5}">
                      <a16:colId xmlns:a16="http://schemas.microsoft.com/office/drawing/2014/main" val="1637855415"/>
                    </a:ext>
                  </a:extLst>
                </a:gridCol>
                <a:gridCol w="2316480">
                  <a:extLst>
                    <a:ext uri="{9D8B030D-6E8A-4147-A177-3AD203B41FA5}">
                      <a16:colId xmlns:a16="http://schemas.microsoft.com/office/drawing/2014/main" val="3542410616"/>
                    </a:ext>
                  </a:extLst>
                </a:gridCol>
              </a:tblGrid>
              <a:tr h="320000">
                <a:tc>
                  <a:txBody>
                    <a:bodyPr/>
                    <a:lstStyle/>
                    <a:p>
                      <a:pPr algn="ctr"/>
                      <a:r>
                        <a:rPr lang="en-US" sz="1350" b="1">
                          <a:solidFill>
                            <a:srgbClr val="E3E3E3"/>
                          </a:solidFill>
                        </a:rPr>
                        <a:t>Field Name</a:t>
                      </a:r>
                    </a:p>
                  </a:txBody>
                  <a:tcPr marL="57150" marR="57150" marT="38100" marB="38100"/>
                </a:tc>
                <a:tc>
                  <a:txBody>
                    <a:bodyPr/>
                    <a:lstStyle/>
                    <a:p>
                      <a:pPr algn="ctr"/>
                      <a:r>
                        <a:rPr lang="en-US" sz="1350" b="1">
                          <a:solidFill>
                            <a:srgbClr val="E3E3E3"/>
                          </a:solidFill>
                        </a:rPr>
                        <a:t>Data Type</a:t>
                      </a:r>
                    </a:p>
                  </a:txBody>
                  <a:tcPr marL="57150" marR="57150" marT="38100" marB="38100"/>
                </a:tc>
                <a:tc>
                  <a:txBody>
                    <a:bodyPr/>
                    <a:lstStyle/>
                    <a:p>
                      <a:pPr algn="ctr"/>
                      <a:r>
                        <a:rPr lang="en-US" sz="1350" b="1">
                          <a:solidFill>
                            <a:srgbClr val="E3E3E3"/>
                          </a:solidFill>
                        </a:rPr>
                        <a:t>Size</a:t>
                      </a:r>
                    </a:p>
                  </a:txBody>
                  <a:tcPr marL="57150" marR="57150" marT="38100" marB="38100"/>
                </a:tc>
                <a:tc>
                  <a:txBody>
                    <a:bodyPr/>
                    <a:lstStyle/>
                    <a:p>
                      <a:pPr algn="ctr"/>
                      <a:r>
                        <a:rPr lang="en-US" sz="1350" b="1">
                          <a:solidFill>
                            <a:srgbClr val="E3E3E3"/>
                          </a:solidFill>
                        </a:rPr>
                        <a:t>Constraints</a:t>
                      </a:r>
                    </a:p>
                  </a:txBody>
                  <a:tcPr marL="57150" marR="57150" marT="38100" marB="38100"/>
                </a:tc>
                <a:tc>
                  <a:txBody>
                    <a:bodyPr/>
                    <a:lstStyle/>
                    <a:p>
                      <a:pPr algn="ctr"/>
                      <a:r>
                        <a:rPr lang="en-US" sz="1350" b="1">
                          <a:solidFill>
                            <a:srgbClr val="E3E3E3"/>
                          </a:solidFill>
                        </a:rPr>
                        <a:t>Description</a:t>
                      </a:r>
                    </a:p>
                  </a:txBody>
                  <a:tcPr marL="57150" marR="57150" marT="38100" marB="38100"/>
                </a:tc>
                <a:extLst>
                  <a:ext uri="{0D108BD9-81ED-4DB2-BD59-A6C34878D82A}">
                    <a16:rowId xmlns:a16="http://schemas.microsoft.com/office/drawing/2014/main" val="10000"/>
                  </a:ext>
                </a:extLst>
              </a:tr>
              <a:tr h="420000">
                <a:tc>
                  <a:txBody>
                    <a:bodyPr/>
                    <a:lstStyle/>
                    <a:p>
                      <a:pPr algn="l"/>
                      <a:r>
                        <a:rPr lang="en-US" sz="1250" b="0">
                          <a:solidFill>
                            <a:srgbClr val="2A2A2A"/>
                          </a:solidFill>
                        </a:rPr>
                        <a:t>id</a:t>
                      </a:r>
                    </a:p>
                  </a:txBody>
                  <a:tcPr marL="57150" marR="57150" marT="38100" marB="38100"/>
                </a:tc>
                <a:tc>
                  <a:txBody>
                    <a:bodyPr/>
                    <a:lstStyle/>
                    <a:p>
                      <a:pPr algn="ctr"/>
                      <a:r>
                        <a:rPr lang="en-US" sz="1250" b="0">
                          <a:solidFill>
                            <a:srgbClr val="2A2A2A"/>
                          </a:solidFill>
                        </a:rPr>
                        <a:t>INT</a:t>
                      </a:r>
                    </a:p>
                  </a:txBody>
                  <a:tcPr marL="57150" marR="57150" marT="38100" marB="38100"/>
                </a:tc>
                <a:tc>
                  <a:txBody>
                    <a:bodyPr/>
                    <a:lstStyle/>
                    <a:p>
                      <a:pPr algn="ctr"/>
                      <a:r>
                        <a:rPr lang="en-US" sz="1250" b="0">
                          <a:solidFill>
                            <a:srgbClr val="2A2A2A"/>
                          </a:solidFill>
                        </a:rPr>
                        <a:t>11</a:t>
                      </a:r>
                    </a:p>
                  </a:txBody>
                  <a:tcPr marL="57150" marR="57150" marT="38100" marB="38100"/>
                </a:tc>
                <a:tc>
                  <a:txBody>
                    <a:bodyPr/>
                    <a:lstStyle/>
                    <a:p>
                      <a:pPr algn="l"/>
                      <a:r>
                        <a:rPr lang="en-US" sz="1250" b="0">
                          <a:solidFill>
                            <a:srgbClr val="2A2A2A"/>
                          </a:solidFill>
                        </a:rPr>
                        <a:t>Primary Key, Auto Increment</a:t>
                      </a:r>
                    </a:p>
                  </a:txBody>
                  <a:tcPr marL="57150" marR="57150" marT="38100" marB="38100"/>
                </a:tc>
                <a:tc>
                  <a:txBody>
                    <a:bodyPr/>
                    <a:lstStyle/>
                    <a:p>
                      <a:pPr algn="l"/>
                      <a:r>
                        <a:rPr lang="en-US" sz="1250" b="0">
                          <a:solidFill>
                            <a:srgbClr val="2A2A2A"/>
                          </a:solidFill>
                        </a:rPr>
                        <a:t>Unique ID for individual physical hardware item</a:t>
                      </a:r>
                    </a:p>
                  </a:txBody>
                  <a:tcPr marL="57150" marR="57150" marT="38100" marB="38100"/>
                </a:tc>
                <a:extLst>
                  <a:ext uri="{0D108BD9-81ED-4DB2-BD59-A6C34878D82A}">
                    <a16:rowId xmlns:a16="http://schemas.microsoft.com/office/drawing/2014/main" val="10001"/>
                  </a:ext>
                </a:extLst>
              </a:tr>
              <a:tr h="420000">
                <a:tc>
                  <a:txBody>
                    <a:bodyPr/>
                    <a:lstStyle/>
                    <a:p>
                      <a:pPr algn="l"/>
                      <a:r>
                        <a:rPr lang="en-US" sz="1250" b="0">
                          <a:solidFill>
                            <a:srgbClr val="2A2A2A"/>
                          </a:solidFill>
                        </a:rPr>
                        <a:t>gadget_id</a:t>
                      </a:r>
                    </a:p>
                  </a:txBody>
                  <a:tcPr marL="57150" marR="57150" marT="38100" marB="38100"/>
                </a:tc>
                <a:tc>
                  <a:txBody>
                    <a:bodyPr/>
                    <a:lstStyle/>
                    <a:p>
                      <a:pPr algn="ctr"/>
                      <a:r>
                        <a:rPr lang="en-US" sz="1250" b="0">
                          <a:solidFill>
                            <a:srgbClr val="2A2A2A"/>
                          </a:solidFill>
                        </a:rPr>
                        <a:t>INT</a:t>
                      </a:r>
                    </a:p>
                  </a:txBody>
                  <a:tcPr marL="57150" marR="57150" marT="38100" marB="38100"/>
                </a:tc>
                <a:tc>
                  <a:txBody>
                    <a:bodyPr/>
                    <a:lstStyle/>
                    <a:p>
                      <a:pPr algn="ctr"/>
                      <a:r>
                        <a:rPr lang="en-US" sz="1250" b="0">
                          <a:solidFill>
                            <a:srgbClr val="2A2A2A"/>
                          </a:solidFill>
                        </a:rPr>
                        <a:t>11</a:t>
                      </a:r>
                    </a:p>
                  </a:txBody>
                  <a:tcPr marL="57150" marR="57150" marT="38100" marB="38100"/>
                </a:tc>
                <a:tc>
                  <a:txBody>
                    <a:bodyPr/>
                    <a:lstStyle/>
                    <a:p>
                      <a:pPr algn="l"/>
                      <a:r>
                        <a:rPr lang="en-US" sz="1250" b="0">
                          <a:solidFill>
                            <a:srgbClr val="2A2A2A"/>
                          </a:solidFill>
                        </a:rPr>
                        <a:t>Foreign Key, ON DELETE CASCADE</a:t>
                      </a:r>
                    </a:p>
                  </a:txBody>
                  <a:tcPr marL="57150" marR="57150" marT="38100" marB="38100"/>
                </a:tc>
                <a:tc>
                  <a:txBody>
                    <a:bodyPr/>
                    <a:lstStyle/>
                    <a:p>
                      <a:pPr algn="l"/>
                      <a:r>
                        <a:rPr lang="en-US" sz="1250" b="0">
                          <a:solidFill>
                            <a:srgbClr val="2A2A2A"/>
                          </a:solidFill>
                        </a:rPr>
                        <a:t>Links unit to gadgets.id</a:t>
                      </a:r>
                    </a:p>
                  </a:txBody>
                  <a:tcPr marL="57150" marR="57150" marT="38100" marB="38100"/>
                </a:tc>
                <a:extLst>
                  <a:ext uri="{0D108BD9-81ED-4DB2-BD59-A6C34878D82A}">
                    <a16:rowId xmlns:a16="http://schemas.microsoft.com/office/drawing/2014/main" val="10002"/>
                  </a:ext>
                </a:extLst>
              </a:tr>
              <a:tr h="420000">
                <a:tc>
                  <a:txBody>
                    <a:bodyPr/>
                    <a:lstStyle/>
                    <a:p>
                      <a:pPr algn="l"/>
                      <a:r>
                        <a:rPr lang="en-US" sz="1250" b="0">
                          <a:solidFill>
                            <a:srgbClr val="2A2A2A"/>
                          </a:solidFill>
                        </a:rPr>
                        <a:t>serial_number</a:t>
                      </a:r>
                    </a:p>
                  </a:txBody>
                  <a:tcPr marL="57150" marR="57150" marT="38100" marB="38100"/>
                </a:tc>
                <a:tc>
                  <a:txBody>
                    <a:bodyPr/>
                    <a:lstStyle/>
                    <a:p>
                      <a:pPr algn="ctr"/>
                      <a:r>
                        <a:rPr lang="en-US" sz="1250" b="0">
                          <a:solidFill>
                            <a:srgbClr val="2A2A2A"/>
                          </a:solidFill>
                        </a:rPr>
                        <a:t>VARCHAR</a:t>
                      </a:r>
                    </a:p>
                  </a:txBody>
                  <a:tcPr marL="57150" marR="57150" marT="38100" marB="38100"/>
                </a:tc>
                <a:tc>
                  <a:txBody>
                    <a:bodyPr/>
                    <a:lstStyle/>
                    <a:p>
                      <a:pPr algn="ctr"/>
                      <a:r>
                        <a:rPr lang="en-US" sz="1250" b="0">
                          <a:solidFill>
                            <a:srgbClr val="2A2A2A"/>
                          </a:solidFill>
                        </a:rPr>
                        <a:t>100</a:t>
                      </a:r>
                    </a:p>
                  </a:txBody>
                  <a:tcPr marL="57150" marR="57150" marT="38100" marB="38100"/>
                </a:tc>
                <a:tc>
                  <a:txBody>
                    <a:bodyPr/>
                    <a:lstStyle/>
                    <a:p>
                      <a:pPr algn="l"/>
                      <a:r>
                        <a:rPr lang="en-US" sz="1250" b="0">
                          <a:solidFill>
                            <a:srgbClr val="2A2A2A"/>
                          </a:solidFill>
                        </a:rPr>
                        <a:t>UNIQUE, NOT NULL</a:t>
                      </a:r>
                    </a:p>
                  </a:txBody>
                  <a:tcPr marL="57150" marR="57150" marT="38100" marB="38100"/>
                </a:tc>
                <a:tc>
                  <a:txBody>
                    <a:bodyPr/>
                    <a:lstStyle/>
                    <a:p>
                      <a:pPr algn="l"/>
                      <a:r>
                        <a:rPr lang="en-US" sz="1250" b="0">
                          <a:solidFill>
                            <a:srgbClr val="2A2A2A"/>
                          </a:solidFill>
                        </a:rPr>
                        <a:t>Physical hardware serial number / asset tag</a:t>
                      </a:r>
                    </a:p>
                  </a:txBody>
                  <a:tcPr marL="57150" marR="57150" marT="38100" marB="38100"/>
                </a:tc>
                <a:extLst>
                  <a:ext uri="{0D108BD9-81ED-4DB2-BD59-A6C34878D82A}">
                    <a16:rowId xmlns:a16="http://schemas.microsoft.com/office/drawing/2014/main" val="10003"/>
                  </a:ext>
                </a:extLst>
              </a:tr>
              <a:tr h="420000">
                <a:tc>
                  <a:txBody>
                    <a:bodyPr/>
                    <a:lstStyle/>
                    <a:p>
                      <a:pPr algn="l"/>
                      <a:r>
                        <a:rPr lang="en-US" sz="1250" b="0">
                          <a:solidFill>
                            <a:srgbClr val="2A2A2A"/>
                          </a:solidFill>
                        </a:rPr>
                        <a:t>status</a:t>
                      </a:r>
                    </a:p>
                  </a:txBody>
                  <a:tcPr marL="57150" marR="57150" marT="38100" marB="38100"/>
                </a:tc>
                <a:tc>
                  <a:txBody>
                    <a:bodyPr/>
                    <a:lstStyle/>
                    <a:p>
                      <a:pPr algn="ctr"/>
                      <a:r>
                        <a:rPr lang="en-US" sz="1250" b="0">
                          <a:solidFill>
                            <a:srgbClr val="2A2A2A"/>
                          </a:solidFill>
                        </a:rPr>
                        <a:t>ENUM</a:t>
                      </a:r>
                    </a:p>
                  </a:txBody>
                  <a:tcPr marL="57150" marR="57150" marT="38100" marB="38100"/>
                </a:tc>
                <a:tc>
                  <a:txBody>
                    <a:bodyPr/>
                    <a:lstStyle/>
                    <a:p>
                      <a:pPr algn="ctr"/>
                      <a:r>
                        <a:rPr lang="en-US" sz="1250" b="0">
                          <a:solidFill>
                            <a:srgbClr val="2A2A2A"/>
                          </a:solidFill>
                        </a:rPr>
                        <a:t>-</a:t>
                      </a:r>
                    </a:p>
                  </a:txBody>
                  <a:tcPr marL="57150" marR="57150" marT="38100" marB="38100"/>
                </a:tc>
                <a:tc>
                  <a:txBody>
                    <a:bodyPr/>
                    <a:lstStyle/>
                    <a:p>
                      <a:pPr algn="l"/>
                      <a:r>
                        <a:rPr lang="en-US" sz="1250" b="0">
                          <a:solidFill>
                            <a:srgbClr val="2A2A2A"/>
                          </a:solidFill>
                        </a:rPr>
                        <a:t>Default 'Available'</a:t>
                      </a:r>
                    </a:p>
                  </a:txBody>
                  <a:tcPr marL="57150" marR="57150" marT="38100" marB="38100"/>
                </a:tc>
                <a:tc>
                  <a:txBody>
                    <a:bodyPr/>
                    <a:lstStyle/>
                    <a:p>
                      <a:pPr algn="l"/>
                      <a:r>
                        <a:rPr lang="en-US" sz="1250" b="0">
                          <a:solidFill>
                            <a:srgbClr val="2A2A2A"/>
                          </a:solidFill>
                        </a:rPr>
                        <a:t>Operational status: 'Available', 'Rented', 'Under Maintenance'</a:t>
                      </a:r>
                    </a:p>
                  </a:txBody>
                  <a:tcPr marL="57150" marR="57150" marT="38100" marB="38100"/>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3BAE257A-D988-D1DD-C227-22100A0628D9}"/>
              </a:ext>
            </a:extLst>
          </p:cNvPr>
          <p:cNvSpPr txBox="1"/>
          <p:nvPr/>
        </p:nvSpPr>
        <p:spPr>
          <a:xfrm>
            <a:off x="3045459" y="920190"/>
            <a:ext cx="6263640" cy="584775"/>
          </a:xfrm>
          <a:prstGeom prst="rect">
            <a:avLst/>
          </a:prstGeom>
          <a:noFill/>
        </p:spPr>
        <p:txBody>
          <a:bodyPr wrap="square">
            <a:spAutoFit/>
          </a:bodyPr>
          <a:lstStyle/>
          <a:p>
            <a:pPr algn="ctr"/>
            <a:r>
              <a:rPr lang="en-US" sz="3200" b="1" dirty="0" err="1">
                <a:latin typeface="Google Sans Text"/>
              </a:rPr>
              <a:t>Table: hardware_units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3589857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58943-6383-14D7-0F97-D4013E143E6C}"/>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D0B0CDC-1F62-4335-6939-A4ECC7390778}"/>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57F5E4DD-CC35-7A86-3783-342B1DC34639}"/>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A074997B-5FCB-F335-7FB8-156E8D68A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1338CD37-02D9-3BEF-EFE5-3F290C957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2" name="Table 1">
            <a:extLst>
              <a:ext uri="{FF2B5EF4-FFF2-40B4-BE49-F238E27FC236}">
                <a16:creationId xmlns:a16="http://schemas.microsoft.com/office/drawing/2014/main" id="{1DC7FD36-9CAC-7455-F0D9-FA7FAD942875}"/>
              </a:ext>
            </a:extLst>
          </p:cNvPr>
          <p:cNvGraphicFramePr>
            <a:graphicFrameLocks noGrp="1"/>
          </p:cNvGraphicFramePr>
          <p:nvPr>
            <p:extLst>
              <p:ext uri="{D42A27DB-BD31-4B8C-83A1-F6EECF244321}">
                <p14:modId xmlns:p14="http://schemas.microsoft.com/office/powerpoint/2010/main" val="3972901363"/>
              </p:ext>
            </p:extLst>
          </p:nvPr>
        </p:nvGraphicFramePr>
        <p:xfrm>
          <a:off x="838200" y="1825624"/>
          <a:ext cx="10337800" cy="4756160"/>
        </p:xfrm>
        <a:graphic>
          <a:graphicData uri="http://schemas.openxmlformats.org/drawingml/2006/table">
            <a:tbl>
              <a:tblPr firstRow="1" bandRow="1">
                <a:tableStyleId>{D03447BB-5D67-496B-8E87-E561075AD55C}</a:tableStyleId>
              </a:tblPr>
              <a:tblGrid>
                <a:gridCol w="2067560">
                  <a:extLst>
                    <a:ext uri="{9D8B030D-6E8A-4147-A177-3AD203B41FA5}">
                      <a16:colId xmlns:a16="http://schemas.microsoft.com/office/drawing/2014/main" val="3996791727"/>
                    </a:ext>
                  </a:extLst>
                </a:gridCol>
                <a:gridCol w="2067560">
                  <a:extLst>
                    <a:ext uri="{9D8B030D-6E8A-4147-A177-3AD203B41FA5}">
                      <a16:colId xmlns:a16="http://schemas.microsoft.com/office/drawing/2014/main" val="489829992"/>
                    </a:ext>
                  </a:extLst>
                </a:gridCol>
                <a:gridCol w="2067560">
                  <a:extLst>
                    <a:ext uri="{9D8B030D-6E8A-4147-A177-3AD203B41FA5}">
                      <a16:colId xmlns:a16="http://schemas.microsoft.com/office/drawing/2014/main" val="3036669907"/>
                    </a:ext>
                  </a:extLst>
                </a:gridCol>
                <a:gridCol w="2067560">
                  <a:extLst>
                    <a:ext uri="{9D8B030D-6E8A-4147-A177-3AD203B41FA5}">
                      <a16:colId xmlns:a16="http://schemas.microsoft.com/office/drawing/2014/main" val="1162919687"/>
                    </a:ext>
                  </a:extLst>
                </a:gridCol>
                <a:gridCol w="2067560">
                  <a:extLst>
                    <a:ext uri="{9D8B030D-6E8A-4147-A177-3AD203B41FA5}">
                      <a16:colId xmlns:a16="http://schemas.microsoft.com/office/drawing/2014/main" val="600444652"/>
                    </a:ext>
                  </a:extLst>
                </a:gridCol>
              </a:tblGrid>
              <a:tr h="320000">
                <a:tc>
                  <a:txBody>
                    <a:bodyPr/>
                    <a:lstStyle/>
                    <a:p>
                      <a:pPr algn="ctr"/>
                      <a:r>
                        <a:rPr lang="en-US" sz="1150" b="1">
                          <a:solidFill>
                            <a:srgbClr val="E3E3E3"/>
                          </a:solidFill>
                        </a:rPr>
                        <a:t>Field Name</a:t>
                      </a:r>
                    </a:p>
                  </a:txBody>
                  <a:tcPr marL="57150" marR="57150" marT="38100" marB="38100"/>
                </a:tc>
                <a:tc>
                  <a:txBody>
                    <a:bodyPr/>
                    <a:lstStyle/>
                    <a:p>
                      <a:pPr algn="ctr"/>
                      <a:r>
                        <a:rPr lang="en-US" sz="1150" b="1">
                          <a:solidFill>
                            <a:srgbClr val="E3E3E3"/>
                          </a:solidFill>
                        </a:rPr>
                        <a:t>Data Type</a:t>
                      </a:r>
                    </a:p>
                  </a:txBody>
                  <a:tcPr marL="57150" marR="57150" marT="38100" marB="38100"/>
                </a:tc>
                <a:tc>
                  <a:txBody>
                    <a:bodyPr/>
                    <a:lstStyle/>
                    <a:p>
                      <a:pPr algn="ctr"/>
                      <a:r>
                        <a:rPr lang="en-US" sz="1150" b="1">
                          <a:solidFill>
                            <a:srgbClr val="E3E3E3"/>
                          </a:solidFill>
                        </a:rPr>
                        <a:t>Size</a:t>
                      </a:r>
                    </a:p>
                  </a:txBody>
                  <a:tcPr marL="57150" marR="57150" marT="38100" marB="38100"/>
                </a:tc>
                <a:tc>
                  <a:txBody>
                    <a:bodyPr/>
                    <a:lstStyle/>
                    <a:p>
                      <a:pPr algn="ctr"/>
                      <a:r>
                        <a:rPr lang="en-US" sz="1150" b="1">
                          <a:solidFill>
                            <a:srgbClr val="E3E3E3"/>
                          </a:solidFill>
                        </a:rPr>
                        <a:t>Constraints</a:t>
                      </a:r>
                    </a:p>
                  </a:txBody>
                  <a:tcPr marL="57150" marR="57150" marT="38100" marB="38100"/>
                </a:tc>
                <a:tc>
                  <a:txBody>
                    <a:bodyPr/>
                    <a:lstStyle/>
                    <a:p>
                      <a:pPr algn="ctr"/>
                      <a:r>
                        <a:rPr lang="en-US" sz="1150" b="1">
                          <a:solidFill>
                            <a:srgbClr val="E3E3E3"/>
                          </a:solidFill>
                        </a:rPr>
                        <a:t>Description</a:t>
                      </a:r>
                    </a:p>
                  </a:txBody>
                  <a:tcPr marL="57150" marR="57150" marT="38100" marB="38100"/>
                </a:tc>
                <a:extLst>
                  <a:ext uri="{0D108BD9-81ED-4DB2-BD59-A6C34878D82A}">
                    <a16:rowId xmlns:a16="http://schemas.microsoft.com/office/drawing/2014/main" val="10000"/>
                  </a:ext>
                </a:extLst>
              </a:tr>
              <a:tr h="290000">
                <a:tc>
                  <a:txBody>
                    <a:bodyPr/>
                    <a:lstStyle/>
                    <a:p>
                      <a:pPr algn="l"/>
                      <a:r>
                        <a:rPr lang="en-US" sz="1050" b="0">
                          <a:solidFill>
                            <a:srgbClr val="2A2A2A"/>
                          </a:solidFill>
                        </a:rPr>
                        <a:t>id</a:t>
                      </a:r>
                    </a:p>
                  </a:txBody>
                  <a:tcPr marL="57150" marR="57150" marT="38100" marB="38100"/>
                </a:tc>
                <a:tc>
                  <a:txBody>
                    <a:bodyPr/>
                    <a:lstStyle/>
                    <a:p>
                      <a:pPr algn="ctr"/>
                      <a:r>
                        <a:rPr lang="en-US" sz="1050" b="0">
                          <a:solidFill>
                            <a:srgbClr val="2A2A2A"/>
                          </a:solidFill>
                        </a:rPr>
                        <a:t>INT</a:t>
                      </a:r>
                    </a:p>
                  </a:txBody>
                  <a:tcPr marL="57150" marR="57150" marT="38100" marB="38100"/>
                </a:tc>
                <a:tc>
                  <a:txBody>
                    <a:bodyPr/>
                    <a:lstStyle/>
                    <a:p>
                      <a:pPr algn="ctr"/>
                      <a:r>
                        <a:rPr lang="en-US" sz="1050" b="0">
                          <a:solidFill>
                            <a:srgbClr val="2A2A2A"/>
                          </a:solidFill>
                        </a:rPr>
                        <a:t>11</a:t>
                      </a:r>
                    </a:p>
                  </a:txBody>
                  <a:tcPr marL="57150" marR="57150" marT="38100" marB="38100"/>
                </a:tc>
                <a:tc>
                  <a:txBody>
                    <a:bodyPr/>
                    <a:lstStyle/>
                    <a:p>
                      <a:pPr algn="l"/>
                      <a:r>
                        <a:rPr lang="en-US" sz="1050" b="0">
                          <a:solidFill>
                            <a:srgbClr val="2A2A2A"/>
                          </a:solidFill>
                        </a:rPr>
                        <a:t>Primary Key, Auto Increment</a:t>
                      </a:r>
                    </a:p>
                  </a:txBody>
                  <a:tcPr marL="57150" marR="57150" marT="38100" marB="38100"/>
                </a:tc>
                <a:tc>
                  <a:txBody>
                    <a:bodyPr/>
                    <a:lstStyle/>
                    <a:p>
                      <a:pPr algn="l"/>
                      <a:r>
                        <a:rPr lang="en-US" sz="1050" b="0">
                          <a:solidFill>
                            <a:srgbClr val="2A2A2A"/>
                          </a:solidFill>
                        </a:rPr>
                        <a:t>Internal booking sequence record ID</a:t>
                      </a:r>
                    </a:p>
                  </a:txBody>
                  <a:tcPr marL="57150" marR="57150" marT="38100" marB="38100"/>
                </a:tc>
                <a:extLst>
                  <a:ext uri="{0D108BD9-81ED-4DB2-BD59-A6C34878D82A}">
                    <a16:rowId xmlns:a16="http://schemas.microsoft.com/office/drawing/2014/main" val="10001"/>
                  </a:ext>
                </a:extLst>
              </a:tr>
              <a:tr h="290000">
                <a:tc>
                  <a:txBody>
                    <a:bodyPr/>
                    <a:lstStyle/>
                    <a:p>
                      <a:pPr algn="l"/>
                      <a:r>
                        <a:rPr lang="en-US" sz="1050" b="0">
                          <a:solidFill>
                            <a:srgbClr val="2A2A2A"/>
                          </a:solidFill>
                        </a:rPr>
                        <a:t>booking_id</a:t>
                      </a:r>
                    </a:p>
                  </a:txBody>
                  <a:tcPr marL="57150" marR="57150" marT="38100" marB="38100"/>
                </a:tc>
                <a:tc>
                  <a:txBody>
                    <a:bodyPr/>
                    <a:lstStyle/>
                    <a:p>
                      <a:pPr algn="ctr"/>
                      <a:r>
                        <a:rPr lang="en-US" sz="1050" b="0">
                          <a:solidFill>
                            <a:srgbClr val="2A2A2A"/>
                          </a:solidFill>
                        </a:rPr>
                        <a:t>VARCHAR</a:t>
                      </a:r>
                    </a:p>
                  </a:txBody>
                  <a:tcPr marL="57150" marR="57150" marT="38100" marB="38100"/>
                </a:tc>
                <a:tc>
                  <a:txBody>
                    <a:bodyPr/>
                    <a:lstStyle/>
                    <a:p>
                      <a:pPr algn="ctr"/>
                      <a:r>
                        <a:rPr lang="en-US" sz="1050" b="0">
                          <a:solidFill>
                            <a:srgbClr val="2A2A2A"/>
                          </a:solidFill>
                        </a:rPr>
                        <a:t>50</a:t>
                      </a:r>
                    </a:p>
                  </a:txBody>
                  <a:tcPr marL="57150" marR="57150" marT="38100" marB="38100"/>
                </a:tc>
                <a:tc>
                  <a:txBody>
                    <a:bodyPr/>
                    <a:lstStyle/>
                    <a:p>
                      <a:pPr algn="l"/>
                      <a:r>
                        <a:rPr lang="en-US" sz="1050" b="0">
                          <a:solidFill>
                            <a:srgbClr val="2A2A2A"/>
                          </a:solidFill>
                        </a:rPr>
                        <a:t>UNIQUE, NOT NULL</a:t>
                      </a:r>
                    </a:p>
                  </a:txBody>
                  <a:tcPr marL="57150" marR="57150" marT="38100" marB="38100"/>
                </a:tc>
                <a:tc>
                  <a:txBody>
                    <a:bodyPr/>
                    <a:lstStyle/>
                    <a:p>
                      <a:pPr algn="l"/>
                      <a:r>
                        <a:rPr lang="en-US" sz="1050" b="0">
                          <a:solidFill>
                            <a:srgbClr val="2A2A2A"/>
                          </a:solidFill>
                        </a:rPr>
                        <a:t>Alphanumeric tracking code (e.g. BKG-XXXXX)</a:t>
                      </a:r>
                    </a:p>
                  </a:txBody>
                  <a:tcPr marL="57150" marR="57150" marT="38100" marB="38100"/>
                </a:tc>
                <a:extLst>
                  <a:ext uri="{0D108BD9-81ED-4DB2-BD59-A6C34878D82A}">
                    <a16:rowId xmlns:a16="http://schemas.microsoft.com/office/drawing/2014/main" val="10002"/>
                  </a:ext>
                </a:extLst>
              </a:tr>
              <a:tr h="290000">
                <a:tc>
                  <a:txBody>
                    <a:bodyPr/>
                    <a:lstStyle/>
                    <a:p>
                      <a:pPr algn="l"/>
                      <a:r>
                        <a:rPr lang="en-US" sz="1050" b="0">
                          <a:solidFill>
                            <a:srgbClr val="2A2A2A"/>
                          </a:solidFill>
                        </a:rPr>
                        <a:t>user_id</a:t>
                      </a:r>
                    </a:p>
                  </a:txBody>
                  <a:tcPr marL="57150" marR="57150" marT="38100" marB="38100"/>
                </a:tc>
                <a:tc>
                  <a:txBody>
                    <a:bodyPr/>
                    <a:lstStyle/>
                    <a:p>
                      <a:pPr algn="ctr"/>
                      <a:r>
                        <a:rPr lang="en-US" sz="1050" b="0">
                          <a:solidFill>
                            <a:srgbClr val="2A2A2A"/>
                          </a:solidFill>
                        </a:rPr>
                        <a:t>INT</a:t>
                      </a:r>
                    </a:p>
                  </a:txBody>
                  <a:tcPr marL="57150" marR="57150" marT="38100" marB="38100"/>
                </a:tc>
                <a:tc>
                  <a:txBody>
                    <a:bodyPr/>
                    <a:lstStyle/>
                    <a:p>
                      <a:pPr algn="ctr"/>
                      <a:r>
                        <a:rPr lang="en-US" sz="1050" b="0">
                          <a:solidFill>
                            <a:srgbClr val="2A2A2A"/>
                          </a:solidFill>
                        </a:rPr>
                        <a:t>11</a:t>
                      </a:r>
                    </a:p>
                  </a:txBody>
                  <a:tcPr marL="57150" marR="57150" marT="38100" marB="38100"/>
                </a:tc>
                <a:tc>
                  <a:txBody>
                    <a:bodyPr/>
                    <a:lstStyle/>
                    <a:p>
                      <a:pPr algn="l"/>
                      <a:r>
                        <a:rPr lang="en-US" sz="1050" b="0">
                          <a:solidFill>
                            <a:srgbClr val="2A2A2A"/>
                          </a:solidFill>
                        </a:rPr>
                        <a:t>Foreign Key, NOT NULL</a:t>
                      </a:r>
                    </a:p>
                  </a:txBody>
                  <a:tcPr marL="57150" marR="57150" marT="38100" marB="38100"/>
                </a:tc>
                <a:tc>
                  <a:txBody>
                    <a:bodyPr/>
                    <a:lstStyle/>
                    <a:p>
                      <a:pPr algn="l"/>
                      <a:r>
                        <a:rPr lang="en-US" sz="1050" b="0">
                          <a:solidFill>
                            <a:srgbClr val="2A2A2A"/>
                          </a:solidFill>
                        </a:rPr>
                        <a:t>Links order to users.id</a:t>
                      </a:r>
                    </a:p>
                  </a:txBody>
                  <a:tcPr marL="57150" marR="57150" marT="38100" marB="38100"/>
                </a:tc>
                <a:extLst>
                  <a:ext uri="{0D108BD9-81ED-4DB2-BD59-A6C34878D82A}">
                    <a16:rowId xmlns:a16="http://schemas.microsoft.com/office/drawing/2014/main" val="10003"/>
                  </a:ext>
                </a:extLst>
              </a:tr>
              <a:tr h="290000">
                <a:tc>
                  <a:txBody>
                    <a:bodyPr/>
                    <a:lstStyle/>
                    <a:p>
                      <a:pPr algn="l"/>
                      <a:r>
                        <a:rPr lang="en-US" sz="1050" b="0">
                          <a:solidFill>
                            <a:srgbClr val="2A2A2A"/>
                          </a:solidFill>
                        </a:rPr>
                        <a:t>delivery_date</a:t>
                      </a:r>
                    </a:p>
                  </a:txBody>
                  <a:tcPr marL="57150" marR="57150" marT="38100" marB="38100"/>
                </a:tc>
                <a:tc>
                  <a:txBody>
                    <a:bodyPr/>
                    <a:lstStyle/>
                    <a:p>
                      <a:pPr algn="ctr"/>
                      <a:r>
                        <a:rPr lang="en-US" sz="1050" b="0">
                          <a:solidFill>
                            <a:srgbClr val="2A2A2A"/>
                          </a:solidFill>
                        </a:rPr>
                        <a:t>DATE</a:t>
                      </a:r>
                    </a:p>
                  </a:txBody>
                  <a:tcPr marL="57150" marR="57150" marT="38100" marB="38100"/>
                </a:tc>
                <a:tc>
                  <a:txBody>
                    <a:bodyPr/>
                    <a:lstStyle/>
                    <a:p>
                      <a:pPr algn="ctr"/>
                      <a:r>
                        <a:rPr lang="en-US" sz="1050" b="0">
                          <a:solidFill>
                            <a:srgbClr val="2A2A2A"/>
                          </a:solidFill>
                        </a:rPr>
                        <a:t>-</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Scheduled rental start / delivery date</a:t>
                      </a:r>
                    </a:p>
                  </a:txBody>
                  <a:tcPr marL="57150" marR="57150" marT="38100" marB="38100"/>
                </a:tc>
                <a:extLst>
                  <a:ext uri="{0D108BD9-81ED-4DB2-BD59-A6C34878D82A}">
                    <a16:rowId xmlns:a16="http://schemas.microsoft.com/office/drawing/2014/main" val="10004"/>
                  </a:ext>
                </a:extLst>
              </a:tr>
              <a:tr h="290000">
                <a:tc>
                  <a:txBody>
                    <a:bodyPr/>
                    <a:lstStyle/>
                    <a:p>
                      <a:pPr algn="l"/>
                      <a:r>
                        <a:rPr lang="en-US" sz="1050" b="0">
                          <a:solidFill>
                            <a:srgbClr val="2A2A2A"/>
                          </a:solidFill>
                        </a:rPr>
                        <a:t>return_date</a:t>
                      </a:r>
                    </a:p>
                  </a:txBody>
                  <a:tcPr marL="57150" marR="57150" marT="38100" marB="38100"/>
                </a:tc>
                <a:tc>
                  <a:txBody>
                    <a:bodyPr/>
                    <a:lstStyle/>
                    <a:p>
                      <a:pPr algn="ctr"/>
                      <a:r>
                        <a:rPr lang="en-US" sz="1050" b="0">
                          <a:solidFill>
                            <a:srgbClr val="2A2A2A"/>
                          </a:solidFill>
                        </a:rPr>
                        <a:t>DATE</a:t>
                      </a:r>
                    </a:p>
                  </a:txBody>
                  <a:tcPr marL="57150" marR="57150" marT="38100" marB="38100"/>
                </a:tc>
                <a:tc>
                  <a:txBody>
                    <a:bodyPr/>
                    <a:lstStyle/>
                    <a:p>
                      <a:pPr algn="ctr"/>
                      <a:r>
                        <a:rPr lang="en-US" sz="1050" b="0">
                          <a:solidFill>
                            <a:srgbClr val="2A2A2A"/>
                          </a:solidFill>
                        </a:rPr>
                        <a:t>-</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Scheduled rental return / pickup date</a:t>
                      </a:r>
                    </a:p>
                  </a:txBody>
                  <a:tcPr marL="57150" marR="57150" marT="38100" marB="38100"/>
                </a:tc>
                <a:extLst>
                  <a:ext uri="{0D108BD9-81ED-4DB2-BD59-A6C34878D82A}">
                    <a16:rowId xmlns:a16="http://schemas.microsoft.com/office/drawing/2014/main" val="10005"/>
                  </a:ext>
                </a:extLst>
              </a:tr>
              <a:tr h="290000">
                <a:tc>
                  <a:txBody>
                    <a:bodyPr/>
                    <a:lstStyle/>
                    <a:p>
                      <a:pPr algn="l"/>
                      <a:r>
                        <a:rPr lang="en-US" sz="1050" b="0">
                          <a:solidFill>
                            <a:srgbClr val="2A2A2A"/>
                          </a:solidFill>
                        </a:rPr>
                        <a:t>total_days</a:t>
                      </a:r>
                    </a:p>
                  </a:txBody>
                  <a:tcPr marL="57150" marR="57150" marT="38100" marB="38100"/>
                </a:tc>
                <a:tc>
                  <a:txBody>
                    <a:bodyPr/>
                    <a:lstStyle/>
                    <a:p>
                      <a:pPr algn="ctr"/>
                      <a:r>
                        <a:rPr lang="en-US" sz="1050" b="0">
                          <a:solidFill>
                            <a:srgbClr val="2A2A2A"/>
                          </a:solidFill>
                        </a:rPr>
                        <a:t>INT</a:t>
                      </a:r>
                    </a:p>
                  </a:txBody>
                  <a:tcPr marL="57150" marR="57150" marT="38100" marB="38100"/>
                </a:tc>
                <a:tc>
                  <a:txBody>
                    <a:bodyPr/>
                    <a:lstStyle/>
                    <a:p>
                      <a:pPr algn="ctr"/>
                      <a:r>
                        <a:rPr lang="en-US" sz="1050" b="0">
                          <a:solidFill>
                            <a:srgbClr val="2A2A2A"/>
                          </a:solidFill>
                        </a:rPr>
                        <a:t>11</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Computed rental duration in days</a:t>
                      </a:r>
                    </a:p>
                  </a:txBody>
                  <a:tcPr marL="57150" marR="57150" marT="38100" marB="38100"/>
                </a:tc>
                <a:extLst>
                  <a:ext uri="{0D108BD9-81ED-4DB2-BD59-A6C34878D82A}">
                    <a16:rowId xmlns:a16="http://schemas.microsoft.com/office/drawing/2014/main" val="10006"/>
                  </a:ext>
                </a:extLst>
              </a:tr>
              <a:tr h="290000">
                <a:tc>
                  <a:txBody>
                    <a:bodyPr/>
                    <a:lstStyle/>
                    <a:p>
                      <a:pPr algn="l"/>
                      <a:r>
                        <a:rPr lang="en-US" sz="1050" b="0">
                          <a:solidFill>
                            <a:srgbClr val="2A2A2A"/>
                          </a:solidFill>
                        </a:rPr>
                        <a:t>total_amount</a:t>
                      </a:r>
                    </a:p>
                  </a:txBody>
                  <a:tcPr marL="57150" marR="57150" marT="38100" marB="38100"/>
                </a:tc>
                <a:tc>
                  <a:txBody>
                    <a:bodyPr/>
                    <a:lstStyle/>
                    <a:p>
                      <a:pPr algn="ctr"/>
                      <a:r>
                        <a:rPr lang="en-US" sz="1050" b="0">
                          <a:solidFill>
                            <a:srgbClr val="2A2A2A"/>
                          </a:solidFill>
                        </a:rPr>
                        <a:t>DECIMAL</a:t>
                      </a:r>
                    </a:p>
                  </a:txBody>
                  <a:tcPr marL="57150" marR="57150" marT="38100" marB="38100"/>
                </a:tc>
                <a:tc>
                  <a:txBody>
                    <a:bodyPr/>
                    <a:lstStyle/>
                    <a:p>
                      <a:pPr algn="l"/>
                      <a:r>
                        <a:rPr lang="en-US" sz="1050" b="0">
                          <a:solidFill>
                            <a:srgbClr val="2A2A2A"/>
                          </a:solidFill>
                        </a:rPr>
                        <a:t>10,2</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Total rental fee amount (days Ã— rate)</a:t>
                      </a:r>
                    </a:p>
                  </a:txBody>
                  <a:tcPr marL="57150" marR="57150" marT="38100" marB="38100"/>
                </a:tc>
                <a:extLst>
                  <a:ext uri="{0D108BD9-81ED-4DB2-BD59-A6C34878D82A}">
                    <a16:rowId xmlns:a16="http://schemas.microsoft.com/office/drawing/2014/main" val="10007"/>
                  </a:ext>
                </a:extLst>
              </a:tr>
              <a:tr h="290000">
                <a:tc>
                  <a:txBody>
                    <a:bodyPr/>
                    <a:lstStyle/>
                    <a:p>
                      <a:pPr algn="l"/>
                      <a:r>
                        <a:rPr lang="en-US" sz="1050" b="0">
                          <a:solidFill>
                            <a:srgbClr val="2A2A2A"/>
                          </a:solidFill>
                        </a:rPr>
                        <a:t>delivery_address</a:t>
                      </a:r>
                    </a:p>
                  </a:txBody>
                  <a:tcPr marL="57150" marR="57150" marT="38100" marB="38100"/>
                </a:tc>
                <a:tc>
                  <a:txBody>
                    <a:bodyPr/>
                    <a:lstStyle/>
                    <a:p>
                      <a:pPr algn="l"/>
                      <a:r>
                        <a:rPr lang="en-US" sz="1050" b="0">
                          <a:solidFill>
                            <a:srgbClr val="2A2A2A"/>
                          </a:solidFill>
                        </a:rPr>
                        <a:t>TEXT</a:t>
                      </a:r>
                    </a:p>
                  </a:txBody>
                  <a:tcPr marL="57150" marR="57150" marT="38100" marB="38100"/>
                </a:tc>
                <a:tc>
                  <a:txBody>
                    <a:bodyPr/>
                    <a:lstStyle/>
                    <a:p>
                      <a:pPr algn="ctr"/>
                      <a:r>
                        <a:rPr lang="en-US" sz="1050" b="0">
                          <a:solidFill>
                            <a:srgbClr val="2A2A2A"/>
                          </a:solidFill>
                        </a:rPr>
                        <a:t>-</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Complete shipping address and delivery notes</a:t>
                      </a:r>
                    </a:p>
                  </a:txBody>
                  <a:tcPr marL="57150" marR="57150" marT="38100" marB="38100"/>
                </a:tc>
                <a:extLst>
                  <a:ext uri="{0D108BD9-81ED-4DB2-BD59-A6C34878D82A}">
                    <a16:rowId xmlns:a16="http://schemas.microsoft.com/office/drawing/2014/main" val="10008"/>
                  </a:ext>
                </a:extLst>
              </a:tr>
              <a:tr h="290000">
                <a:tc>
                  <a:txBody>
                    <a:bodyPr/>
                    <a:lstStyle/>
                    <a:p>
                      <a:pPr algn="l"/>
                      <a:r>
                        <a:rPr lang="en-US" sz="1050" b="0">
                          <a:solidFill>
                            <a:srgbClr val="2A2A2A"/>
                          </a:solidFill>
                        </a:rPr>
                        <a:t>city</a:t>
                      </a:r>
                    </a:p>
                  </a:txBody>
                  <a:tcPr marL="57150" marR="57150" marT="38100" marB="38100"/>
                </a:tc>
                <a:tc>
                  <a:txBody>
                    <a:bodyPr/>
                    <a:lstStyle/>
                    <a:p>
                      <a:pPr algn="ctr"/>
                      <a:r>
                        <a:rPr lang="en-US" sz="1050" b="0">
                          <a:solidFill>
                            <a:srgbClr val="2A2A2A"/>
                          </a:solidFill>
                        </a:rPr>
                        <a:t>VARCHAR</a:t>
                      </a:r>
                    </a:p>
                  </a:txBody>
                  <a:tcPr marL="57150" marR="57150" marT="38100" marB="38100"/>
                </a:tc>
                <a:tc>
                  <a:txBody>
                    <a:bodyPr/>
                    <a:lstStyle/>
                    <a:p>
                      <a:pPr algn="ctr"/>
                      <a:r>
                        <a:rPr lang="en-US" sz="1050" b="0">
                          <a:solidFill>
                            <a:srgbClr val="2A2A2A"/>
                          </a:solidFill>
                        </a:rPr>
                        <a:t>100</a:t>
                      </a:r>
                    </a:p>
                  </a:txBody>
                  <a:tcPr marL="57150" marR="57150" marT="38100" marB="38100"/>
                </a:tc>
                <a:tc>
                  <a:txBody>
                    <a:bodyPr/>
                    <a:lstStyle/>
                    <a:p>
                      <a:pPr algn="l"/>
                      <a:r>
                        <a:rPr lang="en-US" sz="1050" b="0">
                          <a:solidFill>
                            <a:srgbClr val="2A2A2A"/>
                          </a:solidFill>
                        </a:rPr>
                        <a:t>NOT NULL</a:t>
                      </a:r>
                    </a:p>
                  </a:txBody>
                  <a:tcPr marL="57150" marR="57150" marT="38100" marB="38100"/>
                </a:tc>
                <a:tc>
                  <a:txBody>
                    <a:bodyPr/>
                    <a:lstStyle/>
                    <a:p>
                      <a:pPr algn="l"/>
                      <a:r>
                        <a:rPr lang="en-US" sz="1050" b="0">
                          <a:solidFill>
                            <a:srgbClr val="2A2A2A"/>
                          </a:solidFill>
                        </a:rPr>
                        <a:t>Selected delivery city</a:t>
                      </a:r>
                    </a:p>
                  </a:txBody>
                  <a:tcPr marL="57150" marR="57150" marT="38100" marB="38100"/>
                </a:tc>
                <a:extLst>
                  <a:ext uri="{0D108BD9-81ED-4DB2-BD59-A6C34878D82A}">
                    <a16:rowId xmlns:a16="http://schemas.microsoft.com/office/drawing/2014/main" val="10009"/>
                  </a:ext>
                </a:extLst>
              </a:tr>
              <a:tr h="290000">
                <a:tc>
                  <a:txBody>
                    <a:bodyPr/>
                    <a:lstStyle/>
                    <a:p>
                      <a:pPr algn="l"/>
                      <a:r>
                        <a:rPr lang="en-US" sz="1050" b="0">
                          <a:solidFill>
                            <a:srgbClr val="2A2A2A"/>
                          </a:solidFill>
                        </a:rPr>
                        <a:t>status</a:t>
                      </a:r>
                    </a:p>
                  </a:txBody>
                  <a:tcPr marL="57150" marR="57150" marT="38100" marB="38100"/>
                </a:tc>
                <a:tc>
                  <a:txBody>
                    <a:bodyPr/>
                    <a:lstStyle/>
                    <a:p>
                      <a:pPr algn="ctr"/>
                      <a:r>
                        <a:rPr lang="en-US" sz="1050" b="0">
                          <a:solidFill>
                            <a:srgbClr val="2A2A2A"/>
                          </a:solidFill>
                        </a:rPr>
                        <a:t>ENUM</a:t>
                      </a:r>
                    </a:p>
                  </a:txBody>
                  <a:tcPr marL="57150" marR="57150" marT="38100" marB="38100"/>
                </a:tc>
                <a:tc>
                  <a:txBody>
                    <a:bodyPr/>
                    <a:lstStyle/>
                    <a:p>
                      <a:pPr algn="ctr"/>
                      <a:r>
                        <a:rPr lang="en-US" sz="1050" b="0">
                          <a:solidFill>
                            <a:srgbClr val="2A2A2A"/>
                          </a:solidFill>
                        </a:rPr>
                        <a:t>-</a:t>
                      </a:r>
                    </a:p>
                  </a:txBody>
                  <a:tcPr marL="57150" marR="57150" marT="38100" marB="38100"/>
                </a:tc>
                <a:tc>
                  <a:txBody>
                    <a:bodyPr/>
                    <a:lstStyle/>
                    <a:p>
                      <a:pPr algn="l"/>
                      <a:r>
                        <a:rPr lang="en-US" sz="1050" b="0">
                          <a:solidFill>
                            <a:srgbClr val="2A2A2A"/>
                          </a:solidFill>
                        </a:rPr>
                        <a:t>Default 'Pending'</a:t>
                      </a:r>
                    </a:p>
                  </a:txBody>
                  <a:tcPr marL="57150" marR="57150" marT="38100" marB="38100"/>
                </a:tc>
                <a:tc>
                  <a:txBody>
                    <a:bodyPr/>
                    <a:lstStyle/>
                    <a:p>
                      <a:pPr algn="l"/>
                      <a:r>
                        <a:rPr lang="en-US" sz="1050" b="0">
                          <a:solidFill>
                            <a:srgbClr val="2A2A2A"/>
                          </a:solidFill>
                        </a:rPr>
                        <a:t>'Pending','Confirmed','Dispatched','Delivered','Returned','Cancelled'</a:t>
                      </a:r>
                    </a:p>
                  </a:txBody>
                  <a:tcPr marL="57150" marR="57150" marT="38100" marB="38100"/>
                </a:tc>
                <a:extLst>
                  <a:ext uri="{0D108BD9-81ED-4DB2-BD59-A6C34878D82A}">
                    <a16:rowId xmlns:a16="http://schemas.microsoft.com/office/drawing/2014/main" val="10010"/>
                  </a:ext>
                </a:extLst>
              </a:tr>
              <a:tr h="290000">
                <a:tc>
                  <a:txBody>
                    <a:bodyPr/>
                    <a:lstStyle/>
                    <a:p>
                      <a:pPr algn="l"/>
                      <a:r>
                        <a:rPr lang="en-US" sz="1050" b="0">
                          <a:solidFill>
                            <a:srgbClr val="2A2A2A"/>
                          </a:solidFill>
                        </a:rPr>
                        <a:t>created_at</a:t>
                      </a:r>
                    </a:p>
                  </a:txBody>
                  <a:tcPr marL="57150" marR="57150" marT="38100" marB="38100"/>
                </a:tc>
                <a:tc>
                  <a:txBody>
                    <a:bodyPr/>
                    <a:lstStyle/>
                    <a:p>
                      <a:pPr algn="ctr"/>
                      <a:r>
                        <a:rPr lang="en-US" sz="1050" b="0">
                          <a:solidFill>
                            <a:srgbClr val="2A2A2A"/>
                          </a:solidFill>
                        </a:rPr>
                        <a:t>TIMESTAMP</a:t>
                      </a:r>
                    </a:p>
                  </a:txBody>
                  <a:tcPr marL="57150" marR="57150" marT="38100" marB="38100"/>
                </a:tc>
                <a:tc>
                  <a:txBody>
                    <a:bodyPr/>
                    <a:lstStyle/>
                    <a:p>
                      <a:pPr algn="ctr"/>
                      <a:r>
                        <a:rPr lang="en-US" sz="1050" b="0">
                          <a:solidFill>
                            <a:srgbClr val="2A2A2A"/>
                          </a:solidFill>
                        </a:rPr>
                        <a:t>-</a:t>
                      </a:r>
                    </a:p>
                  </a:txBody>
                  <a:tcPr marL="57150" marR="57150" marT="38100" marB="38100"/>
                </a:tc>
                <a:tc>
                  <a:txBody>
                    <a:bodyPr/>
                    <a:lstStyle/>
                    <a:p>
                      <a:pPr algn="l"/>
                      <a:r>
                        <a:rPr lang="en-US" sz="1050" b="0">
                          <a:solidFill>
                            <a:srgbClr val="2A2A2A"/>
                          </a:solidFill>
                        </a:rPr>
                        <a:t>Default CURRENT_TIMESTAMP</a:t>
                      </a:r>
                    </a:p>
                  </a:txBody>
                  <a:tcPr marL="57150" marR="57150" marT="38100" marB="38100"/>
                </a:tc>
                <a:tc>
                  <a:txBody>
                    <a:bodyPr/>
                    <a:lstStyle/>
                    <a:p>
                      <a:pPr algn="l"/>
                      <a:r>
                        <a:rPr lang="en-US" sz="1050" b="0">
                          <a:solidFill>
                            <a:srgbClr val="2A2A2A"/>
                          </a:solidFill>
                        </a:rPr>
                        <a:t>Date and time when order was placed</a:t>
                      </a:r>
                    </a:p>
                  </a:txBody>
                  <a:tcPr marL="57150" marR="57150" marT="38100" marB="38100"/>
                </a:tc>
                <a:extLst>
                  <a:ext uri="{0D108BD9-81ED-4DB2-BD59-A6C34878D82A}">
                    <a16:rowId xmlns:a16="http://schemas.microsoft.com/office/drawing/2014/main" val="10011"/>
                  </a:ext>
                </a:extLst>
              </a:tr>
              <a:tr h="290000">
                <a:tc>
                  <a:txBody>
                    <a:bodyPr/>
                    <a:lstStyle/>
                    <a:p>
                      <a:pPr algn="l"/>
                      <a:r>
                        <a:rPr lang="en-US" sz="1050" b="0">
                          <a:solidFill>
                            <a:srgbClr val="2A2A2A"/>
                          </a:solidFill>
                        </a:rPr>
                        <a:t>payment_id</a:t>
                      </a:r>
                    </a:p>
                  </a:txBody>
                  <a:tcPr marL="57150" marR="57150" marT="38100" marB="38100"/>
                </a:tc>
                <a:tc>
                  <a:txBody>
                    <a:bodyPr/>
                    <a:lstStyle/>
                    <a:p>
                      <a:pPr algn="ctr"/>
                      <a:r>
                        <a:rPr lang="en-US" sz="1050" b="0">
                          <a:solidFill>
                            <a:srgbClr val="2A2A2A"/>
                          </a:solidFill>
                        </a:rPr>
                        <a:t>VARCHAR</a:t>
                      </a:r>
                    </a:p>
                  </a:txBody>
                  <a:tcPr marL="57150" marR="57150" marT="38100" marB="38100"/>
                </a:tc>
                <a:tc>
                  <a:txBody>
                    <a:bodyPr/>
                    <a:lstStyle/>
                    <a:p>
                      <a:pPr algn="ctr"/>
                      <a:r>
                        <a:rPr lang="en-US" sz="1050" b="0">
                          <a:solidFill>
                            <a:srgbClr val="2A2A2A"/>
                          </a:solidFill>
                        </a:rPr>
                        <a:t>100</a:t>
                      </a:r>
                    </a:p>
                  </a:txBody>
                  <a:tcPr marL="57150" marR="57150" marT="38100" marB="38100"/>
                </a:tc>
                <a:tc>
                  <a:txBody>
                    <a:bodyPr/>
                    <a:lstStyle/>
                    <a:p>
                      <a:pPr algn="l"/>
                      <a:r>
                        <a:rPr lang="en-US" sz="1050" b="0">
                          <a:solidFill>
                            <a:srgbClr val="2A2A2A"/>
                          </a:solidFill>
                        </a:rPr>
                        <a:t>NULL</a:t>
                      </a:r>
                    </a:p>
                  </a:txBody>
                  <a:tcPr marL="57150" marR="57150" marT="38100" marB="38100"/>
                </a:tc>
                <a:tc>
                  <a:txBody>
                    <a:bodyPr/>
                    <a:lstStyle/>
                    <a:p>
                      <a:pPr algn="l"/>
                      <a:r>
                        <a:rPr lang="en-US" sz="1050" b="0">
                          <a:solidFill>
                            <a:srgbClr val="2A2A2A"/>
                          </a:solidFill>
                        </a:rPr>
                        <a:t>Razorpay payment gateway transaction reference</a:t>
                      </a:r>
                    </a:p>
                  </a:txBody>
                  <a:tcPr marL="57150" marR="57150" marT="38100" marB="38100"/>
                </a:tc>
                <a:extLst>
                  <a:ext uri="{0D108BD9-81ED-4DB2-BD59-A6C34878D82A}">
                    <a16:rowId xmlns:a16="http://schemas.microsoft.com/office/drawing/2014/main" val="10012"/>
                  </a:ext>
                </a:extLst>
              </a:tr>
            </a:tbl>
          </a:graphicData>
        </a:graphic>
      </p:graphicFrame>
      <p:sp>
        <p:nvSpPr>
          <p:cNvPr id="5" name="TextBox 4">
            <a:extLst>
              <a:ext uri="{FF2B5EF4-FFF2-40B4-BE49-F238E27FC236}">
                <a16:creationId xmlns:a16="http://schemas.microsoft.com/office/drawing/2014/main" id="{D2C383F0-DE44-0E0E-147B-FAE37719891E}"/>
              </a:ext>
            </a:extLst>
          </p:cNvPr>
          <p:cNvSpPr txBox="1"/>
          <p:nvPr/>
        </p:nvSpPr>
        <p:spPr>
          <a:xfrm>
            <a:off x="3045459" y="920190"/>
            <a:ext cx="6263640" cy="584775"/>
          </a:xfrm>
          <a:prstGeom prst="rect">
            <a:avLst/>
          </a:prstGeom>
          <a:noFill/>
        </p:spPr>
        <p:txBody>
          <a:bodyPr wrap="square">
            <a:spAutoFit/>
          </a:bodyPr>
          <a:lstStyle/>
          <a:p>
            <a:pPr algn="ctr"/>
            <a:r>
              <a:rPr lang="en-US" sz="3200" b="1" dirty="0" err="1">
                <a:latin typeface="Google Sans Text"/>
              </a:rPr>
              <a:t>Table: bookings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545369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0F31-38BD-654D-AD13-26EA8D84356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11AC1432-FB91-77B4-0B25-CB070CAB9503}"/>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57D8A851-8CD3-1956-522D-8DFED3A37E26}"/>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C54892DB-CAF5-3E84-4BE4-F3C29316E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EA393C87-92C0-9022-8916-53886236C9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3" name="Table 2">
            <a:extLst>
              <a:ext uri="{FF2B5EF4-FFF2-40B4-BE49-F238E27FC236}">
                <a16:creationId xmlns:a16="http://schemas.microsoft.com/office/drawing/2014/main" id="{25BE4180-4C5D-95E7-A3C2-5CF49CA140BE}"/>
              </a:ext>
            </a:extLst>
          </p:cNvPr>
          <p:cNvGraphicFramePr>
            <a:graphicFrameLocks noGrp="1"/>
          </p:cNvGraphicFramePr>
          <p:nvPr>
            <p:extLst>
              <p:ext uri="{D42A27DB-BD31-4B8C-83A1-F6EECF244321}">
                <p14:modId xmlns:p14="http://schemas.microsoft.com/office/powerpoint/2010/main" val="1150479434"/>
              </p:ext>
            </p:extLst>
          </p:nvPr>
        </p:nvGraphicFramePr>
        <p:xfrm>
          <a:off x="838200" y="1825624"/>
          <a:ext cx="10297160" cy="2141600"/>
        </p:xfrm>
        <a:graphic>
          <a:graphicData uri="http://schemas.openxmlformats.org/drawingml/2006/table">
            <a:tbl>
              <a:tblPr firstRow="1" bandRow="1">
                <a:tableStyleId>{D03447BB-5D67-496B-8E87-E561075AD55C}</a:tableStyleId>
              </a:tblPr>
              <a:tblGrid>
                <a:gridCol w="2059432">
                  <a:extLst>
                    <a:ext uri="{9D8B030D-6E8A-4147-A177-3AD203B41FA5}">
                      <a16:colId xmlns:a16="http://schemas.microsoft.com/office/drawing/2014/main" val="2518135235"/>
                    </a:ext>
                  </a:extLst>
                </a:gridCol>
                <a:gridCol w="2059432">
                  <a:extLst>
                    <a:ext uri="{9D8B030D-6E8A-4147-A177-3AD203B41FA5}">
                      <a16:colId xmlns:a16="http://schemas.microsoft.com/office/drawing/2014/main" val="2436230168"/>
                    </a:ext>
                  </a:extLst>
                </a:gridCol>
                <a:gridCol w="2059432">
                  <a:extLst>
                    <a:ext uri="{9D8B030D-6E8A-4147-A177-3AD203B41FA5}">
                      <a16:colId xmlns:a16="http://schemas.microsoft.com/office/drawing/2014/main" val="1934065886"/>
                    </a:ext>
                  </a:extLst>
                </a:gridCol>
                <a:gridCol w="2059432">
                  <a:extLst>
                    <a:ext uri="{9D8B030D-6E8A-4147-A177-3AD203B41FA5}">
                      <a16:colId xmlns:a16="http://schemas.microsoft.com/office/drawing/2014/main" val="1209093758"/>
                    </a:ext>
                  </a:extLst>
                </a:gridCol>
                <a:gridCol w="2059432">
                  <a:extLst>
                    <a:ext uri="{9D8B030D-6E8A-4147-A177-3AD203B41FA5}">
                      <a16:colId xmlns:a16="http://schemas.microsoft.com/office/drawing/2014/main" val="430659958"/>
                    </a:ext>
                  </a:extLst>
                </a:gridCol>
              </a:tblGrid>
              <a:tr h="320000">
                <a:tc>
                  <a:txBody>
                    <a:bodyPr/>
                    <a:lstStyle/>
                    <a:p>
                      <a:pPr algn="ctr"/>
                      <a:r>
                        <a:rPr lang="en-US" sz="1350" b="1">
                          <a:solidFill>
                            <a:srgbClr val="E3E3E3"/>
                          </a:solidFill>
                        </a:rPr>
                        <a:t>Field Name</a:t>
                      </a:r>
                    </a:p>
                  </a:txBody>
                  <a:tcPr marL="57150" marR="57150" marT="38100" marB="38100"/>
                </a:tc>
                <a:tc>
                  <a:txBody>
                    <a:bodyPr/>
                    <a:lstStyle/>
                    <a:p>
                      <a:pPr algn="ctr"/>
                      <a:r>
                        <a:rPr lang="en-US" sz="1350" b="1">
                          <a:solidFill>
                            <a:srgbClr val="E3E3E3"/>
                          </a:solidFill>
                        </a:rPr>
                        <a:t>Data Type</a:t>
                      </a:r>
                    </a:p>
                  </a:txBody>
                  <a:tcPr marL="57150" marR="57150" marT="38100" marB="38100"/>
                </a:tc>
                <a:tc>
                  <a:txBody>
                    <a:bodyPr/>
                    <a:lstStyle/>
                    <a:p>
                      <a:pPr algn="ctr"/>
                      <a:r>
                        <a:rPr lang="en-US" sz="1350" b="1">
                          <a:solidFill>
                            <a:srgbClr val="E3E3E3"/>
                          </a:solidFill>
                        </a:rPr>
                        <a:t>Size</a:t>
                      </a:r>
                    </a:p>
                  </a:txBody>
                  <a:tcPr marL="57150" marR="57150" marT="38100" marB="38100"/>
                </a:tc>
                <a:tc>
                  <a:txBody>
                    <a:bodyPr/>
                    <a:lstStyle/>
                    <a:p>
                      <a:pPr algn="ctr"/>
                      <a:r>
                        <a:rPr lang="en-US" sz="1350" b="1">
                          <a:solidFill>
                            <a:srgbClr val="E3E3E3"/>
                          </a:solidFill>
                        </a:rPr>
                        <a:t>Constraints</a:t>
                      </a:r>
                    </a:p>
                  </a:txBody>
                  <a:tcPr marL="57150" marR="57150" marT="38100" marB="38100"/>
                </a:tc>
                <a:tc>
                  <a:txBody>
                    <a:bodyPr/>
                    <a:lstStyle/>
                    <a:p>
                      <a:pPr algn="ctr"/>
                      <a:r>
                        <a:rPr lang="en-US" sz="1350" b="1">
                          <a:solidFill>
                            <a:srgbClr val="E3E3E3"/>
                          </a:solidFill>
                        </a:rPr>
                        <a:t>Description</a:t>
                      </a:r>
                    </a:p>
                  </a:txBody>
                  <a:tcPr marL="57150" marR="57150" marT="38100" marB="38100"/>
                </a:tc>
                <a:extLst>
                  <a:ext uri="{0D108BD9-81ED-4DB2-BD59-A6C34878D82A}">
                    <a16:rowId xmlns:a16="http://schemas.microsoft.com/office/drawing/2014/main" val="10000"/>
                  </a:ext>
                </a:extLst>
              </a:tr>
              <a:tr h="450000">
                <a:tc>
                  <a:txBody>
                    <a:bodyPr/>
                    <a:lstStyle/>
                    <a:p>
                      <a:pPr algn="l"/>
                      <a:r>
                        <a:rPr lang="en-US" sz="1250" b="0">
                          <a:solidFill>
                            <a:srgbClr val="2A2A2A"/>
                          </a:solidFill>
                        </a:rPr>
                        <a:t>id</a:t>
                      </a:r>
                    </a:p>
                  </a:txBody>
                  <a:tcPr marL="57150" marR="57150" marT="38100" marB="38100"/>
                </a:tc>
                <a:tc>
                  <a:txBody>
                    <a:bodyPr/>
                    <a:lstStyle/>
                    <a:p>
                      <a:pPr algn="ctr"/>
                      <a:r>
                        <a:rPr lang="en-US" sz="1250" b="0">
                          <a:solidFill>
                            <a:srgbClr val="2A2A2A"/>
                          </a:solidFill>
                        </a:rPr>
                        <a:t>INT</a:t>
                      </a:r>
                    </a:p>
                  </a:txBody>
                  <a:tcPr marL="57150" marR="57150" marT="38100" marB="38100"/>
                </a:tc>
                <a:tc>
                  <a:txBody>
                    <a:bodyPr/>
                    <a:lstStyle/>
                    <a:p>
                      <a:pPr algn="ctr"/>
                      <a:r>
                        <a:rPr lang="en-US" sz="1250" b="0">
                          <a:solidFill>
                            <a:srgbClr val="2A2A2A"/>
                          </a:solidFill>
                        </a:rPr>
                        <a:t>11</a:t>
                      </a:r>
                    </a:p>
                  </a:txBody>
                  <a:tcPr marL="57150" marR="57150" marT="38100" marB="38100"/>
                </a:tc>
                <a:tc>
                  <a:txBody>
                    <a:bodyPr/>
                    <a:lstStyle/>
                    <a:p>
                      <a:pPr algn="l"/>
                      <a:r>
                        <a:rPr lang="en-US" sz="1250" b="0">
                          <a:solidFill>
                            <a:srgbClr val="2A2A2A"/>
                          </a:solidFill>
                        </a:rPr>
                        <a:t>Primary Key, Auto Increment</a:t>
                      </a:r>
                    </a:p>
                  </a:txBody>
                  <a:tcPr marL="57150" marR="57150" marT="38100" marB="38100"/>
                </a:tc>
                <a:tc>
                  <a:txBody>
                    <a:bodyPr/>
                    <a:lstStyle/>
                    <a:p>
                      <a:pPr algn="l"/>
                      <a:r>
                        <a:rPr lang="en-US" sz="1250" b="0">
                          <a:solidFill>
                            <a:srgbClr val="2A2A2A"/>
                          </a:solidFill>
                        </a:rPr>
                        <a:t>Unique booking line-item ID</a:t>
                      </a:r>
                    </a:p>
                  </a:txBody>
                  <a:tcPr marL="57150" marR="57150" marT="38100" marB="38100"/>
                </a:tc>
                <a:extLst>
                  <a:ext uri="{0D108BD9-81ED-4DB2-BD59-A6C34878D82A}">
                    <a16:rowId xmlns:a16="http://schemas.microsoft.com/office/drawing/2014/main" val="10001"/>
                  </a:ext>
                </a:extLst>
              </a:tr>
              <a:tr h="450000">
                <a:tc>
                  <a:txBody>
                    <a:bodyPr/>
                    <a:lstStyle/>
                    <a:p>
                      <a:pPr algn="l"/>
                      <a:r>
                        <a:rPr lang="en-US" sz="1250" b="0">
                          <a:solidFill>
                            <a:srgbClr val="2A2A2A"/>
                          </a:solidFill>
                        </a:rPr>
                        <a:t>booking_id</a:t>
                      </a:r>
                    </a:p>
                  </a:txBody>
                  <a:tcPr marL="57150" marR="57150" marT="38100" marB="38100"/>
                </a:tc>
                <a:tc>
                  <a:txBody>
                    <a:bodyPr/>
                    <a:lstStyle/>
                    <a:p>
                      <a:pPr algn="ctr"/>
                      <a:r>
                        <a:rPr lang="en-US" sz="1250" b="0">
                          <a:solidFill>
                            <a:srgbClr val="2A2A2A"/>
                          </a:solidFill>
                        </a:rPr>
                        <a:t>INT</a:t>
                      </a:r>
                    </a:p>
                  </a:txBody>
                  <a:tcPr marL="57150" marR="57150" marT="38100" marB="38100"/>
                </a:tc>
                <a:tc>
                  <a:txBody>
                    <a:bodyPr/>
                    <a:lstStyle/>
                    <a:p>
                      <a:pPr algn="ctr"/>
                      <a:r>
                        <a:rPr lang="en-US" sz="1250" b="0">
                          <a:solidFill>
                            <a:srgbClr val="2A2A2A"/>
                          </a:solidFill>
                        </a:rPr>
                        <a:t>11</a:t>
                      </a:r>
                    </a:p>
                  </a:txBody>
                  <a:tcPr marL="57150" marR="57150" marT="38100" marB="38100"/>
                </a:tc>
                <a:tc>
                  <a:txBody>
                    <a:bodyPr/>
                    <a:lstStyle/>
                    <a:p>
                      <a:pPr algn="l"/>
                      <a:r>
                        <a:rPr lang="en-US" sz="1250" b="0">
                          <a:solidFill>
                            <a:srgbClr val="2A2A2A"/>
                          </a:solidFill>
                        </a:rPr>
                        <a:t>Foreign Key, ON DELETE CASCADE</a:t>
                      </a:r>
                    </a:p>
                  </a:txBody>
                  <a:tcPr marL="57150" marR="57150" marT="38100" marB="38100"/>
                </a:tc>
                <a:tc>
                  <a:txBody>
                    <a:bodyPr/>
                    <a:lstStyle/>
                    <a:p>
                      <a:pPr algn="l"/>
                      <a:r>
                        <a:rPr lang="en-US" sz="1250" b="0">
                          <a:solidFill>
                            <a:srgbClr val="2A2A2A"/>
                          </a:solidFill>
                        </a:rPr>
                        <a:t>Links line-item to bookings.id</a:t>
                      </a:r>
                    </a:p>
                  </a:txBody>
                  <a:tcPr marL="57150" marR="57150" marT="38100" marB="38100"/>
                </a:tc>
                <a:extLst>
                  <a:ext uri="{0D108BD9-81ED-4DB2-BD59-A6C34878D82A}">
                    <a16:rowId xmlns:a16="http://schemas.microsoft.com/office/drawing/2014/main" val="10002"/>
                  </a:ext>
                </a:extLst>
              </a:tr>
              <a:tr h="450000">
                <a:tc>
                  <a:txBody>
                    <a:bodyPr/>
                    <a:lstStyle/>
                    <a:p>
                      <a:pPr algn="l"/>
                      <a:r>
                        <a:rPr lang="en-US" sz="1250" b="0">
                          <a:solidFill>
                            <a:srgbClr val="2A2A2A"/>
                          </a:solidFill>
                        </a:rPr>
                        <a:t>hardware_unit_id</a:t>
                      </a:r>
                    </a:p>
                  </a:txBody>
                  <a:tcPr marL="57150" marR="57150" marT="38100" marB="38100"/>
                </a:tc>
                <a:tc>
                  <a:txBody>
                    <a:bodyPr/>
                    <a:lstStyle/>
                    <a:p>
                      <a:pPr algn="ctr"/>
                      <a:r>
                        <a:rPr lang="en-US" sz="1250" b="0">
                          <a:solidFill>
                            <a:srgbClr val="2A2A2A"/>
                          </a:solidFill>
                        </a:rPr>
                        <a:t>INT</a:t>
                      </a:r>
                    </a:p>
                  </a:txBody>
                  <a:tcPr marL="57150" marR="57150" marT="38100" marB="38100"/>
                </a:tc>
                <a:tc>
                  <a:txBody>
                    <a:bodyPr/>
                    <a:lstStyle/>
                    <a:p>
                      <a:pPr algn="ctr"/>
                      <a:r>
                        <a:rPr lang="en-US" sz="1250" b="0">
                          <a:solidFill>
                            <a:srgbClr val="2A2A2A"/>
                          </a:solidFill>
                        </a:rPr>
                        <a:t>11</a:t>
                      </a:r>
                    </a:p>
                  </a:txBody>
                  <a:tcPr marL="57150" marR="57150" marT="38100" marB="38100"/>
                </a:tc>
                <a:tc>
                  <a:txBody>
                    <a:bodyPr/>
                    <a:lstStyle/>
                    <a:p>
                      <a:pPr algn="l"/>
                      <a:r>
                        <a:rPr lang="en-US" sz="1250" b="0">
                          <a:solidFill>
                            <a:srgbClr val="2A2A2A"/>
                          </a:solidFill>
                        </a:rPr>
                        <a:t>Foreign Key, NOT NULL</a:t>
                      </a:r>
                    </a:p>
                  </a:txBody>
                  <a:tcPr marL="57150" marR="57150" marT="38100" marB="38100"/>
                </a:tc>
                <a:tc>
                  <a:txBody>
                    <a:bodyPr/>
                    <a:lstStyle/>
                    <a:p>
                      <a:pPr algn="l"/>
                      <a:r>
                        <a:rPr lang="en-US" sz="1250" b="0">
                          <a:solidFill>
                            <a:srgbClr val="2A2A2A"/>
                          </a:solidFill>
                        </a:rPr>
                        <a:t>Assigned physical unit from hardware_units.id</a:t>
                      </a:r>
                    </a:p>
                  </a:txBody>
                  <a:tcPr marL="57150" marR="57150" marT="38100" marB="38100"/>
                </a:tc>
                <a:extLst>
                  <a:ext uri="{0D108BD9-81ED-4DB2-BD59-A6C34878D82A}">
                    <a16:rowId xmlns:a16="http://schemas.microsoft.com/office/drawing/2014/main" val="10003"/>
                  </a:ext>
                </a:extLst>
              </a:tr>
              <a:tr h="450000">
                <a:tc>
                  <a:txBody>
                    <a:bodyPr/>
                    <a:lstStyle/>
                    <a:p>
                      <a:pPr algn="l"/>
                      <a:r>
                        <a:rPr lang="en-US" sz="1250" b="0">
                          <a:solidFill>
                            <a:srgbClr val="2A2A2A"/>
                          </a:solidFill>
                        </a:rPr>
                        <a:t>price_per_day</a:t>
                      </a:r>
                    </a:p>
                  </a:txBody>
                  <a:tcPr marL="57150" marR="57150" marT="38100" marB="38100"/>
                </a:tc>
                <a:tc>
                  <a:txBody>
                    <a:bodyPr/>
                    <a:lstStyle/>
                    <a:p>
                      <a:pPr algn="ctr"/>
                      <a:r>
                        <a:rPr lang="en-US" sz="1250" b="0">
                          <a:solidFill>
                            <a:srgbClr val="2A2A2A"/>
                          </a:solidFill>
                        </a:rPr>
                        <a:t>DECIMAL</a:t>
                      </a:r>
                    </a:p>
                  </a:txBody>
                  <a:tcPr marL="57150" marR="57150" marT="38100" marB="38100"/>
                </a:tc>
                <a:tc>
                  <a:txBody>
                    <a:bodyPr/>
                    <a:lstStyle/>
                    <a:p>
                      <a:pPr algn="l"/>
                      <a:r>
                        <a:rPr lang="en-US" sz="1250" b="0">
                          <a:solidFill>
                            <a:srgbClr val="2A2A2A"/>
                          </a:solidFill>
                        </a:rPr>
                        <a:t>10,2</a:t>
                      </a:r>
                    </a:p>
                  </a:txBody>
                  <a:tcPr marL="57150" marR="57150" marT="38100" marB="38100"/>
                </a:tc>
                <a:tc>
                  <a:txBody>
                    <a:bodyPr/>
                    <a:lstStyle/>
                    <a:p>
                      <a:pPr algn="l"/>
                      <a:r>
                        <a:rPr lang="en-US" sz="1250" b="0">
                          <a:solidFill>
                            <a:srgbClr val="2A2A2A"/>
                          </a:solidFill>
                        </a:rPr>
                        <a:t>NOT NULL</a:t>
                      </a:r>
                    </a:p>
                  </a:txBody>
                  <a:tcPr marL="57150" marR="57150" marT="38100" marB="38100"/>
                </a:tc>
                <a:tc>
                  <a:txBody>
                    <a:bodyPr/>
                    <a:lstStyle/>
                    <a:p>
                      <a:pPr algn="l"/>
                      <a:r>
                        <a:rPr lang="en-US" sz="1250" b="0">
                          <a:solidFill>
                            <a:srgbClr val="2A2A2A"/>
                          </a:solidFill>
                        </a:rPr>
                        <a:t>Locked-in daily rental rate at time of booking</a:t>
                      </a:r>
                    </a:p>
                  </a:txBody>
                  <a:tcPr marL="57150" marR="57150" marT="38100" marB="38100"/>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A9F67386-1E58-EF83-34EE-CD9F49C56AF7}"/>
              </a:ext>
            </a:extLst>
          </p:cNvPr>
          <p:cNvSpPr txBox="1"/>
          <p:nvPr/>
        </p:nvSpPr>
        <p:spPr>
          <a:xfrm>
            <a:off x="3045459" y="920190"/>
            <a:ext cx="6263640" cy="584775"/>
          </a:xfrm>
          <a:prstGeom prst="rect">
            <a:avLst/>
          </a:prstGeom>
          <a:noFill/>
        </p:spPr>
        <p:txBody>
          <a:bodyPr wrap="square">
            <a:spAutoFit/>
          </a:bodyPr>
          <a:lstStyle/>
          <a:p>
            <a:pPr algn="ctr"/>
            <a:r>
              <a:rPr lang="en-US" sz="3200" b="1" dirty="0" err="1">
                <a:latin typeface="Google Sans Text"/>
              </a:rPr>
              <a:t>Table: booking_items</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3221792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6A4E-3952-895C-7B04-4F562DBBAF8F}"/>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EBCFC7A7-8971-870E-5DB7-BCC7D8288C93}"/>
              </a:ext>
            </a:extLst>
          </p:cNvPr>
          <p:cNvSpPr txBox="1">
            <a:spLocks/>
          </p:cNvSpPr>
          <p:nvPr/>
        </p:nvSpPr>
        <p:spPr>
          <a:xfrm>
            <a:off x="1881808" y="322580"/>
            <a:ext cx="8428383"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b="1" dirty="0">
              <a:latin typeface="Cambria" panose="02040503050406030204" pitchFamily="18" charset="0"/>
              <a:ea typeface="Cambria" panose="02040503050406030204" pitchFamily="18" charset="0"/>
            </a:endParaRPr>
          </a:p>
        </p:txBody>
      </p:sp>
      <p:sp>
        <p:nvSpPr>
          <p:cNvPr id="17" name="Content Placeholder 2">
            <a:extLst>
              <a:ext uri="{FF2B5EF4-FFF2-40B4-BE49-F238E27FC236}">
                <a16:creationId xmlns:a16="http://schemas.microsoft.com/office/drawing/2014/main" id="{9E3C19BD-5BA2-C6A1-8E97-BED5E2562E5B}"/>
              </a:ext>
            </a:extLst>
          </p:cNvPr>
          <p:cNvSpPr txBox="1">
            <a:spLocks/>
          </p:cNvSpPr>
          <p:nvPr/>
        </p:nvSpPr>
        <p:spPr>
          <a:xfrm>
            <a:off x="2402541" y="1783080"/>
            <a:ext cx="89288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6736ED14-024F-50E9-4901-D4E088F49A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10" y="-260032"/>
            <a:ext cx="3200400" cy="2133600"/>
          </a:xfrm>
          <a:prstGeom prst="rect">
            <a:avLst/>
          </a:prstGeom>
        </p:spPr>
      </p:pic>
      <p:pic>
        <p:nvPicPr>
          <p:cNvPr id="21" name="Picture 20">
            <a:extLst>
              <a:ext uri="{FF2B5EF4-FFF2-40B4-BE49-F238E27FC236}">
                <a16:creationId xmlns:a16="http://schemas.microsoft.com/office/drawing/2014/main" id="{B98F74FF-AF3C-E838-76AE-F0AC9ABC1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0"/>
            <a:ext cx="1600200" cy="1600200"/>
          </a:xfrm>
          <a:prstGeom prst="rect">
            <a:avLst/>
          </a:prstGeom>
        </p:spPr>
      </p:pic>
      <p:graphicFrame>
        <p:nvGraphicFramePr>
          <p:cNvPr id="3" name="Table 2">
            <a:extLst>
              <a:ext uri="{FF2B5EF4-FFF2-40B4-BE49-F238E27FC236}">
                <a16:creationId xmlns:a16="http://schemas.microsoft.com/office/drawing/2014/main" id="{10C7AC70-43C4-F456-5EB5-81E5ABAADEF0}"/>
              </a:ext>
            </a:extLst>
          </p:cNvPr>
          <p:cNvGraphicFramePr>
            <a:graphicFrameLocks noGrp="1"/>
          </p:cNvGraphicFramePr>
          <p:nvPr>
            <p:extLst>
              <p:ext uri="{D42A27DB-BD31-4B8C-83A1-F6EECF244321}">
                <p14:modId xmlns:p14="http://schemas.microsoft.com/office/powerpoint/2010/main" val="1938762391"/>
              </p:ext>
            </p:extLst>
          </p:nvPr>
        </p:nvGraphicFramePr>
        <p:xfrm>
          <a:off x="838200" y="1825624"/>
          <a:ext cx="10896600" cy="3337560"/>
        </p:xfrm>
        <a:graphic>
          <a:graphicData uri="http://schemas.openxmlformats.org/drawingml/2006/table">
            <a:tbl>
              <a:tblPr firstRow="1" bandRow="1">
                <a:tableStyleId>{D03447BB-5D67-496B-8E87-E561075AD55C}</a:tableStyleId>
              </a:tblPr>
              <a:tblGrid>
                <a:gridCol w="2179320">
                  <a:extLst>
                    <a:ext uri="{9D8B030D-6E8A-4147-A177-3AD203B41FA5}">
                      <a16:colId xmlns:a16="http://schemas.microsoft.com/office/drawing/2014/main" val="571595839"/>
                    </a:ext>
                  </a:extLst>
                </a:gridCol>
                <a:gridCol w="2179320">
                  <a:extLst>
                    <a:ext uri="{9D8B030D-6E8A-4147-A177-3AD203B41FA5}">
                      <a16:colId xmlns:a16="http://schemas.microsoft.com/office/drawing/2014/main" val="227779138"/>
                    </a:ext>
                  </a:extLst>
                </a:gridCol>
                <a:gridCol w="2179320">
                  <a:extLst>
                    <a:ext uri="{9D8B030D-6E8A-4147-A177-3AD203B41FA5}">
                      <a16:colId xmlns:a16="http://schemas.microsoft.com/office/drawing/2014/main" val="2318236679"/>
                    </a:ext>
                  </a:extLst>
                </a:gridCol>
                <a:gridCol w="2179320">
                  <a:extLst>
                    <a:ext uri="{9D8B030D-6E8A-4147-A177-3AD203B41FA5}">
                      <a16:colId xmlns:a16="http://schemas.microsoft.com/office/drawing/2014/main" val="2249392838"/>
                    </a:ext>
                  </a:extLst>
                </a:gridCol>
                <a:gridCol w="2179320">
                  <a:extLst>
                    <a:ext uri="{9D8B030D-6E8A-4147-A177-3AD203B41FA5}">
                      <a16:colId xmlns:a16="http://schemas.microsoft.com/office/drawing/2014/main" val="3531134384"/>
                    </a:ext>
                  </a:extLst>
                </a:gridCol>
              </a:tblGrid>
              <a:tr h="320000">
                <a:tc>
                  <a:txBody>
                    <a:bodyPr/>
                    <a:lstStyle/>
                    <a:p>
                      <a:pPr algn="ctr"/>
                      <a:r>
                        <a:rPr lang="en-US" sz="1200" b="1">
                          <a:solidFill>
                            <a:srgbClr val="E3E3E3"/>
                          </a:solidFill>
                        </a:rPr>
                        <a:t>Entity / Field</a:t>
                      </a:r>
                    </a:p>
                  </a:txBody>
                  <a:tcPr marL="57150" marR="57150" marT="38100" marB="38100"/>
                </a:tc>
                <a:tc>
                  <a:txBody>
                    <a:bodyPr/>
                    <a:lstStyle/>
                    <a:p>
                      <a:pPr algn="ctr"/>
                      <a:r>
                        <a:rPr lang="en-US" sz="1200" b="1">
                          <a:solidFill>
                            <a:srgbClr val="E3E3E3"/>
                          </a:solidFill>
                        </a:rPr>
                        <a:t>Technology</a:t>
                      </a:r>
                    </a:p>
                  </a:txBody>
                  <a:tcPr marL="57150" marR="57150" marT="38100" marB="38100"/>
                </a:tc>
                <a:tc>
                  <a:txBody>
                    <a:bodyPr/>
                    <a:lstStyle/>
                    <a:p>
                      <a:pPr algn="ctr"/>
                      <a:r>
                        <a:rPr lang="en-US" sz="1200" b="1">
                          <a:solidFill>
                            <a:srgbClr val="E3E3E3"/>
                          </a:solidFill>
                        </a:rPr>
                        <a:t>Constraints</a:t>
                      </a:r>
                    </a:p>
                  </a:txBody>
                  <a:tcPr marL="57150" marR="57150" marT="38100" marB="38100"/>
                </a:tc>
                <a:tc>
                  <a:txBody>
                    <a:bodyPr/>
                    <a:lstStyle/>
                    <a:p>
                      <a:pPr algn="ctr"/>
                      <a:r>
                        <a:rPr lang="en-US" sz="1200" b="1">
                          <a:solidFill>
                            <a:srgbClr val="E3E3E3"/>
                          </a:solidFill>
                        </a:rPr>
                        <a:t>Operational Role &amp; Flow Description</a:t>
                      </a:r>
                    </a:p>
                  </a:txBody>
                  <a:tcPr marL="57150" marR="57150" marT="38100" marB="38100"/>
                </a:tc>
                <a:tc>
                  <a:txBody>
                    <a:bodyPr/>
                    <a:lstStyle/>
                    <a:p>
                      <a:endParaRPr lang="en-IN"/>
                    </a:p>
                  </a:txBody>
                  <a:tcPr/>
                </a:tc>
                <a:extLst>
                  <a:ext uri="{0D108BD9-81ED-4DB2-BD59-A6C34878D82A}">
                    <a16:rowId xmlns:a16="http://schemas.microsoft.com/office/drawing/2014/main" val="10000"/>
                  </a:ext>
                </a:extLst>
              </a:tr>
              <a:tr h="340000">
                <a:tc>
                  <a:txBody>
                    <a:bodyPr/>
                    <a:lstStyle/>
                    <a:p>
                      <a:pPr algn="l"/>
                      <a:r>
                        <a:rPr lang="en-US" sz="1100" b="0">
                          <a:solidFill>
                            <a:srgbClr val="2A2A2A"/>
                          </a:solidFill>
                        </a:rPr>
                        <a:t>Razorpay Gateway</a:t>
                      </a:r>
                    </a:p>
                  </a:txBody>
                  <a:tcPr marL="57150" marR="57150" marT="38100" marB="38100"/>
                </a:tc>
                <a:tc>
                  <a:txBody>
                    <a:bodyPr/>
                    <a:lstStyle/>
                    <a:p>
                      <a:pPr algn="l"/>
                      <a:r>
                        <a:rPr lang="en-US" sz="1100" b="0">
                          <a:solidFill>
                            <a:srgbClr val="2A2A2A"/>
                          </a:solidFill>
                        </a:rPr>
                        <a:t>API / JS SDK</a:t>
                      </a:r>
                    </a:p>
                  </a:txBody>
                  <a:tcPr marL="57150" marR="57150" marT="38100" marB="38100"/>
                </a:tc>
                <a:tc>
                  <a:txBody>
                    <a:bodyPr/>
                    <a:lstStyle/>
                    <a:p>
                      <a:pPr algn="l"/>
                      <a:r>
                        <a:rPr lang="en-US" sz="1100" b="0">
                          <a:solidFill>
                            <a:srgbClr val="2A2A2A"/>
                          </a:solidFill>
                        </a:rPr>
                        <a:t>256-Bit SSL</a:t>
                      </a:r>
                    </a:p>
                  </a:txBody>
                  <a:tcPr marL="57150" marR="57150" marT="38100" marB="38100"/>
                </a:tc>
                <a:tc>
                  <a:txBody>
                    <a:bodyPr/>
                    <a:lstStyle/>
                    <a:p>
                      <a:pPr algn="l"/>
                      <a:r>
                        <a:rPr lang="en-US" sz="1100" b="0">
                          <a:solidFill>
                            <a:srgbClr val="2A2A2A"/>
                          </a:solidFill>
                        </a:rPr>
                        <a:t>Processes online customer checkout via UPI, Cards, NetBanking; verifies HMAC signature.</a:t>
                      </a:r>
                    </a:p>
                  </a:txBody>
                  <a:tcPr marL="57150" marR="57150" marT="38100" marB="38100"/>
                </a:tc>
                <a:tc>
                  <a:txBody>
                    <a:bodyPr/>
                    <a:lstStyle/>
                    <a:p>
                      <a:endParaRPr lang="en-IN"/>
                    </a:p>
                  </a:txBody>
                  <a:tcPr/>
                </a:tc>
                <a:extLst>
                  <a:ext uri="{0D108BD9-81ED-4DB2-BD59-A6C34878D82A}">
                    <a16:rowId xmlns:a16="http://schemas.microsoft.com/office/drawing/2014/main" val="10001"/>
                  </a:ext>
                </a:extLst>
              </a:tr>
              <a:tr h="340000">
                <a:tc>
                  <a:txBody>
                    <a:bodyPr/>
                    <a:lstStyle/>
                    <a:p>
                      <a:pPr algn="l"/>
                      <a:r>
                        <a:rPr lang="en-US" sz="1100" b="0">
                          <a:solidFill>
                            <a:srgbClr val="2A2A2A"/>
                          </a:solidFill>
                        </a:rPr>
                        <a:t>payment_id</a:t>
                      </a:r>
                    </a:p>
                  </a:txBody>
                  <a:tcPr marL="57150" marR="57150" marT="38100" marB="38100"/>
                </a:tc>
                <a:tc>
                  <a:txBody>
                    <a:bodyPr/>
                    <a:lstStyle/>
                    <a:p>
                      <a:pPr algn="l"/>
                      <a:r>
                        <a:rPr lang="en-US" sz="1100" b="0">
                          <a:solidFill>
                            <a:srgbClr val="2A2A2A"/>
                          </a:solidFill>
                        </a:rPr>
                        <a:t>VARCHAR(100)</a:t>
                      </a:r>
                    </a:p>
                  </a:txBody>
                  <a:tcPr marL="57150" marR="57150" marT="38100" marB="38100"/>
                </a:tc>
                <a:tc>
                  <a:txBody>
                    <a:bodyPr/>
                    <a:lstStyle/>
                    <a:p>
                      <a:pPr algn="l"/>
                      <a:r>
                        <a:rPr lang="en-US" sz="1100" b="0">
                          <a:solidFill>
                            <a:srgbClr val="2A2A2A"/>
                          </a:solidFill>
                        </a:rPr>
                        <a:t>Unique Code</a:t>
                      </a:r>
                    </a:p>
                  </a:txBody>
                  <a:tcPr marL="57150" marR="57150" marT="38100" marB="38100"/>
                </a:tc>
                <a:tc>
                  <a:txBody>
                    <a:bodyPr/>
                    <a:lstStyle/>
                    <a:p>
                      <a:pPr algn="l"/>
                      <a:r>
                        <a:rPr lang="en-US" sz="1100" b="0">
                          <a:solidFill>
                            <a:srgbClr val="2A2A2A"/>
                          </a:solidFill>
                        </a:rPr>
                        <a:t>Unique payment identifier returned from Razorpay and logged in bookings.payment_id.</a:t>
                      </a:r>
                    </a:p>
                  </a:txBody>
                  <a:tcPr marL="57150" marR="57150" marT="38100" marB="38100"/>
                </a:tc>
                <a:tc>
                  <a:txBody>
                    <a:bodyPr/>
                    <a:lstStyle/>
                    <a:p>
                      <a:endParaRPr lang="en-IN"/>
                    </a:p>
                  </a:txBody>
                  <a:tcPr/>
                </a:tc>
                <a:extLst>
                  <a:ext uri="{0D108BD9-81ED-4DB2-BD59-A6C34878D82A}">
                    <a16:rowId xmlns:a16="http://schemas.microsoft.com/office/drawing/2014/main" val="10002"/>
                  </a:ext>
                </a:extLst>
              </a:tr>
              <a:tr h="340000">
                <a:tc>
                  <a:txBody>
                    <a:bodyPr/>
                    <a:lstStyle/>
                    <a:p>
                      <a:pPr algn="l"/>
                      <a:r>
                        <a:rPr lang="en-US" sz="1100" b="0">
                          <a:solidFill>
                            <a:srgbClr val="2A2A2A"/>
                          </a:solidFill>
                        </a:rPr>
                        <a:t>payment_method</a:t>
                      </a:r>
                    </a:p>
                  </a:txBody>
                  <a:tcPr marL="57150" marR="57150" marT="38100" marB="38100"/>
                </a:tc>
                <a:tc>
                  <a:txBody>
                    <a:bodyPr/>
                    <a:lstStyle/>
                    <a:p>
                      <a:pPr algn="l"/>
                      <a:r>
                        <a:rPr lang="en-US" sz="1100" b="0">
                          <a:solidFill>
                            <a:srgbClr val="2A2A2A"/>
                          </a:solidFill>
                        </a:rPr>
                        <a:t>VARCHAR(50)</a:t>
                      </a:r>
                    </a:p>
                  </a:txBody>
                  <a:tcPr marL="57150" marR="57150" marT="38100" marB="38100"/>
                </a:tc>
                <a:tc>
                  <a:txBody>
                    <a:bodyPr/>
                    <a:lstStyle/>
                    <a:p>
                      <a:pPr algn="l"/>
                      <a:r>
                        <a:rPr lang="en-US" sz="1100" b="0">
                          <a:solidFill>
                            <a:srgbClr val="2A2A2A"/>
                          </a:solidFill>
                        </a:rPr>
                        <a:t>'razorpay' / 'test'</a:t>
                      </a:r>
                    </a:p>
                  </a:txBody>
                  <a:tcPr marL="57150" marR="57150" marT="38100" marB="38100"/>
                </a:tc>
                <a:tc>
                  <a:txBody>
                    <a:bodyPr/>
                    <a:lstStyle/>
                    <a:p>
                      <a:pPr algn="l"/>
                      <a:r>
                        <a:rPr lang="en-US" sz="1100" b="0">
                          <a:solidFill>
                            <a:srgbClr val="2A2A2A"/>
                          </a:solidFill>
                        </a:rPr>
                        <a:t>Payment mode recorded at checkout to drive immediate order confirmation.</a:t>
                      </a:r>
                    </a:p>
                  </a:txBody>
                  <a:tcPr marL="57150" marR="57150" marT="38100" marB="38100"/>
                </a:tc>
                <a:tc>
                  <a:txBody>
                    <a:bodyPr/>
                    <a:lstStyle/>
                    <a:p>
                      <a:endParaRPr lang="en-IN"/>
                    </a:p>
                  </a:txBody>
                  <a:tcPr/>
                </a:tc>
                <a:extLst>
                  <a:ext uri="{0D108BD9-81ED-4DB2-BD59-A6C34878D82A}">
                    <a16:rowId xmlns:a16="http://schemas.microsoft.com/office/drawing/2014/main" val="10003"/>
                  </a:ext>
                </a:extLst>
              </a:tr>
              <a:tr h="340000">
                <a:tc>
                  <a:txBody>
                    <a:bodyPr/>
                    <a:lstStyle/>
                    <a:p>
                      <a:pPr algn="l"/>
                      <a:r>
                        <a:rPr lang="en-US" sz="1100" b="0">
                          <a:solidFill>
                            <a:srgbClr val="2A2A2A"/>
                          </a:solidFill>
                        </a:rPr>
                        <a:t>PHPMailer SMTP</a:t>
                      </a:r>
                    </a:p>
                  </a:txBody>
                  <a:tcPr marL="57150" marR="57150" marT="38100" marB="38100"/>
                </a:tc>
                <a:tc>
                  <a:txBody>
                    <a:bodyPr/>
                    <a:lstStyle/>
                    <a:p>
                      <a:pPr algn="l"/>
                      <a:r>
                        <a:rPr lang="en-US" sz="1100" b="0">
                          <a:solidFill>
                            <a:srgbClr val="2A2A2A"/>
                          </a:solidFill>
                        </a:rPr>
                        <a:t>SMTP Service</a:t>
                      </a:r>
                    </a:p>
                  </a:txBody>
                  <a:tcPr marL="57150" marR="57150" marT="38100" marB="38100"/>
                </a:tc>
                <a:tc>
                  <a:txBody>
                    <a:bodyPr/>
                    <a:lstStyle/>
                    <a:p>
                      <a:pPr algn="l"/>
                      <a:r>
                        <a:rPr lang="en-US" sz="1100" b="0">
                          <a:solidFill>
                            <a:srgbClr val="2A2A2A"/>
                          </a:solidFill>
                        </a:rPr>
                        <a:t>Port 587 TLS</a:t>
                      </a:r>
                    </a:p>
                  </a:txBody>
                  <a:tcPr marL="57150" marR="57150" marT="38100" marB="38100"/>
                </a:tc>
                <a:tc>
                  <a:txBody>
                    <a:bodyPr/>
                    <a:lstStyle/>
                    <a:p>
                      <a:pPr algn="l"/>
                      <a:r>
                        <a:rPr lang="en-US" sz="1100" b="0">
                          <a:solidFill>
                            <a:srgbClr val="2A2A2A"/>
                          </a:solidFill>
                        </a:rPr>
                        <a:t>Automated email sender dispatching branded HTML booking invoices and order receipts.</a:t>
                      </a:r>
                    </a:p>
                  </a:txBody>
                  <a:tcPr marL="57150" marR="57150" marT="38100" marB="38100"/>
                </a:tc>
                <a:tc>
                  <a:txBody>
                    <a:bodyPr/>
                    <a:lstStyle/>
                    <a:p>
                      <a:endParaRPr lang="en-IN"/>
                    </a:p>
                  </a:txBody>
                  <a:tcPr/>
                </a:tc>
                <a:extLst>
                  <a:ext uri="{0D108BD9-81ED-4DB2-BD59-A6C34878D82A}">
                    <a16:rowId xmlns:a16="http://schemas.microsoft.com/office/drawing/2014/main" val="10004"/>
                  </a:ext>
                </a:extLst>
              </a:tr>
              <a:tr h="340000">
                <a:tc>
                  <a:txBody>
                    <a:bodyPr/>
                    <a:lstStyle/>
                    <a:p>
                      <a:pPr algn="l"/>
                      <a:r>
                        <a:rPr lang="en-US" sz="1100" b="0">
                          <a:solidFill>
                            <a:srgbClr val="2A2A2A"/>
                          </a:solidFill>
                        </a:rPr>
                        <a:t>order_email_log.txt</a:t>
                      </a:r>
                    </a:p>
                  </a:txBody>
                  <a:tcPr marL="57150" marR="57150" marT="38100" marB="38100"/>
                </a:tc>
                <a:tc>
                  <a:txBody>
                    <a:bodyPr/>
                    <a:lstStyle/>
                    <a:p>
                      <a:pPr algn="l"/>
                      <a:r>
                        <a:rPr lang="en-US" sz="1100" b="0">
                          <a:solidFill>
                            <a:srgbClr val="2A2A2A"/>
                          </a:solidFill>
                        </a:rPr>
                        <a:t>File Audit Log</a:t>
                      </a:r>
                    </a:p>
                  </a:txBody>
                  <a:tcPr marL="57150" marR="57150" marT="38100" marB="38100"/>
                </a:tc>
                <a:tc>
                  <a:txBody>
                    <a:bodyPr/>
                    <a:lstStyle/>
                    <a:p>
                      <a:pPr algn="l"/>
                      <a:r>
                        <a:rPr lang="en-US" sz="1100" b="0">
                          <a:solidFill>
                            <a:srgbClr val="2A2A2A"/>
                          </a:solidFill>
                        </a:rPr>
                        <a:t>Append-Only</a:t>
                      </a:r>
                    </a:p>
                  </a:txBody>
                  <a:tcPr marL="57150" marR="57150" marT="38100" marB="38100"/>
                </a:tc>
                <a:tc>
                  <a:txBody>
                    <a:bodyPr/>
                    <a:lstStyle/>
                    <a:p>
                      <a:pPr algn="l"/>
                      <a:r>
                        <a:rPr lang="en-US" sz="1100" b="0">
                          <a:solidFill>
                            <a:srgbClr val="2A2A2A"/>
                          </a:solidFill>
                        </a:rPr>
                        <a:t>Local fallback delivery log recording booking ID, recipient, timestamp &amp; dispatch status.</a:t>
                      </a:r>
                    </a:p>
                  </a:txBody>
                  <a:tcPr marL="57150" marR="57150" marT="38100" marB="38100"/>
                </a:tc>
                <a:tc>
                  <a:txBody>
                    <a:bodyPr/>
                    <a:lstStyle/>
                    <a:p>
                      <a:endParaRPr lang="en-IN"/>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E0F62224-F72F-3B54-B4EB-76253F1A1EAC}"/>
              </a:ext>
            </a:extLst>
          </p:cNvPr>
          <p:cNvSpPr txBox="1"/>
          <p:nvPr/>
        </p:nvSpPr>
        <p:spPr>
          <a:xfrm>
            <a:off x="3045459" y="920190"/>
            <a:ext cx="6263640" cy="584775"/>
          </a:xfrm>
          <a:prstGeom prst="rect">
            <a:avLst/>
          </a:prstGeom>
          <a:noFill/>
        </p:spPr>
        <p:txBody>
          <a:bodyPr wrap="square">
            <a:spAutoFit/>
          </a:bodyPr>
          <a:lstStyle/>
          <a:p>
            <a:pPr algn="ctr"/>
            <a:r>
              <a:rPr lang="en-US" sz="3200" b="1" dirty="0" err="1">
                <a:latin typeface="Google Sans Text"/>
              </a:rPr>
              <a:t>Payment Gateway &amp; Email Notification System</a:t>
            </a:r>
            <a:r>
              <a:rPr lang="en-US" sz="3200" b="1" dirty="0">
                <a:latin typeface="Google Sans Text"/>
              </a:rPr>
              <a:t> :</a:t>
            </a:r>
            <a:endParaRPr lang="en-IN" sz="3200" b="1" dirty="0">
              <a:latin typeface="Google Sans Text"/>
            </a:endParaRPr>
          </a:p>
        </p:txBody>
      </p:sp>
    </p:spTree>
    <p:extLst>
      <p:ext uri="{BB962C8B-B14F-4D97-AF65-F5344CB8AC3E}">
        <p14:creationId xmlns:p14="http://schemas.microsoft.com/office/powerpoint/2010/main" val="889736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2288</Words>
  <Application>Microsoft Office PowerPoint</Application>
  <PresentationFormat>Widescreen</PresentationFormat>
  <Paragraphs>438</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Calibri </vt:lpstr>
      <vt:lpstr>Calibri Light</vt:lpstr>
      <vt:lpstr>Cambria</vt:lpstr>
      <vt:lpstr>Google Sans Text</vt:lpstr>
      <vt:lpstr>Wingdings</vt:lpstr>
      <vt:lpstr>Office Theme</vt:lpstr>
      <vt:lpstr>5th Semester Project Presentation  On  Game Rental Management System (ONYXPLAY)</vt:lpstr>
      <vt:lpstr>Table of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KKP</dc:creator>
  <cp:lastModifiedBy>Panchal Dhruvin</cp:lastModifiedBy>
  <cp:revision>36</cp:revision>
  <dcterms:created xsi:type="dcterms:W3CDTF">2025-08-13T08:10:01Z</dcterms:created>
  <dcterms:modified xsi:type="dcterms:W3CDTF">2026-10-29T03:31:32Z</dcterms:modified>
</cp:coreProperties>
</file>